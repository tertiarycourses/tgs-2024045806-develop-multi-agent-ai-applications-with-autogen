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slides/slide119.xml" ContentType="application/vnd.openxmlformats-officedocument.presentationml.slide+xml"/>
  <Override PartName="/ppt/slides/slide12.xml" ContentType="application/vnd.openxmlformats-officedocument.presentationml.slide+xml"/>
  <Override PartName="/ppt/slides/slide120.xml" ContentType="application/vnd.openxmlformats-officedocument.presentationml.slide+xml"/>
  <Override PartName="/ppt/slides/slide121.xml" ContentType="application/vnd.openxmlformats-officedocument.presentationml.slide+xml"/>
  <Override PartName="/ppt/slides/slide122.xml" ContentType="application/vnd.openxmlformats-officedocument.presentationml.slide+xml"/>
  <Override PartName="/ppt/slides/slide123.xml" ContentType="application/vnd.openxmlformats-officedocument.presentationml.slide+xml"/>
  <Override PartName="/ppt/slides/slide124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  <p:sldId id="313" r:id="rId64"/>
    <p:sldId id="314" r:id="rId65"/>
    <p:sldId id="315" r:id="rId66"/>
    <p:sldId id="316" r:id="rId67"/>
    <p:sldId id="317" r:id="rId68"/>
    <p:sldId id="318" r:id="rId69"/>
    <p:sldId id="319" r:id="rId70"/>
    <p:sldId id="320" r:id="rId71"/>
    <p:sldId id="321" r:id="rId72"/>
    <p:sldId id="322" r:id="rId73"/>
    <p:sldId id="323" r:id="rId74"/>
    <p:sldId id="324" r:id="rId75"/>
    <p:sldId id="325" r:id="rId76"/>
    <p:sldId id="326" r:id="rId77"/>
    <p:sldId id="327" r:id="rId78"/>
    <p:sldId id="328" r:id="rId79"/>
    <p:sldId id="329" r:id="rId80"/>
    <p:sldId id="330" r:id="rId81"/>
    <p:sldId id="331" r:id="rId82"/>
    <p:sldId id="332" r:id="rId83"/>
    <p:sldId id="333" r:id="rId84"/>
    <p:sldId id="334" r:id="rId85"/>
    <p:sldId id="335" r:id="rId86"/>
    <p:sldId id="336" r:id="rId87"/>
    <p:sldId id="337" r:id="rId88"/>
    <p:sldId id="338" r:id="rId89"/>
    <p:sldId id="339" r:id="rId90"/>
    <p:sldId id="340" r:id="rId91"/>
    <p:sldId id="341" r:id="rId92"/>
    <p:sldId id="342" r:id="rId93"/>
    <p:sldId id="343" r:id="rId94"/>
    <p:sldId id="344" r:id="rId95"/>
    <p:sldId id="345" r:id="rId96"/>
    <p:sldId id="346" r:id="rId97"/>
    <p:sldId id="347" r:id="rId98"/>
    <p:sldId id="348" r:id="rId99"/>
    <p:sldId id="349" r:id="rId100"/>
    <p:sldId id="350" r:id="rId101"/>
    <p:sldId id="351" r:id="rId102"/>
    <p:sldId id="352" r:id="rId103"/>
    <p:sldId id="353" r:id="rId104"/>
    <p:sldId id="354" r:id="rId105"/>
    <p:sldId id="355" r:id="rId106"/>
    <p:sldId id="356" r:id="rId107"/>
    <p:sldId id="357" r:id="rId108"/>
    <p:sldId id="358" r:id="rId109"/>
    <p:sldId id="359" r:id="rId110"/>
    <p:sldId id="360" r:id="rId111"/>
    <p:sldId id="361" r:id="rId112"/>
    <p:sldId id="362" r:id="rId113"/>
    <p:sldId id="363" r:id="rId114"/>
    <p:sldId id="364" r:id="rId115"/>
    <p:sldId id="365" r:id="rId116"/>
    <p:sldId id="366" r:id="rId117"/>
    <p:sldId id="367" r:id="rId118"/>
    <p:sldId id="368" r:id="rId119"/>
    <p:sldId id="369" r:id="rId120"/>
    <p:sldId id="370" r:id="rId121"/>
    <p:sldId id="371" r:id="rId122"/>
    <p:sldId id="372" r:id="rId123"/>
    <p:sldId id="373" r:id="rId124"/>
    <p:sldId id="374" r:id="rId125"/>
    <p:sldId id="375" r:id="rId126"/>
    <p:sldId id="376" r:id="rId127"/>
    <p:sldId id="377" r:id="rId128"/>
    <p:sldId id="378" r:id="rId129"/>
    <p:sldId id="379" r:id="rId13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Relationship Id="rId63" Type="http://schemas.openxmlformats.org/officeDocument/2006/relationships/slide" Target="slides/slide57.xml"/><Relationship Id="rId64" Type="http://schemas.openxmlformats.org/officeDocument/2006/relationships/slide" Target="slides/slide58.xml"/><Relationship Id="rId65" Type="http://schemas.openxmlformats.org/officeDocument/2006/relationships/slide" Target="slides/slide59.xml"/><Relationship Id="rId66" Type="http://schemas.openxmlformats.org/officeDocument/2006/relationships/slide" Target="slides/slide60.xml"/><Relationship Id="rId67" Type="http://schemas.openxmlformats.org/officeDocument/2006/relationships/slide" Target="slides/slide61.xml"/><Relationship Id="rId68" Type="http://schemas.openxmlformats.org/officeDocument/2006/relationships/slide" Target="slides/slide62.xml"/><Relationship Id="rId69" Type="http://schemas.openxmlformats.org/officeDocument/2006/relationships/slide" Target="slides/slide63.xml"/><Relationship Id="rId70" Type="http://schemas.openxmlformats.org/officeDocument/2006/relationships/slide" Target="slides/slide64.xml"/><Relationship Id="rId71" Type="http://schemas.openxmlformats.org/officeDocument/2006/relationships/slide" Target="slides/slide65.xml"/><Relationship Id="rId72" Type="http://schemas.openxmlformats.org/officeDocument/2006/relationships/slide" Target="slides/slide66.xml"/><Relationship Id="rId73" Type="http://schemas.openxmlformats.org/officeDocument/2006/relationships/slide" Target="slides/slide67.xml"/><Relationship Id="rId74" Type="http://schemas.openxmlformats.org/officeDocument/2006/relationships/slide" Target="slides/slide68.xml"/><Relationship Id="rId75" Type="http://schemas.openxmlformats.org/officeDocument/2006/relationships/slide" Target="slides/slide69.xml"/><Relationship Id="rId76" Type="http://schemas.openxmlformats.org/officeDocument/2006/relationships/slide" Target="slides/slide70.xml"/><Relationship Id="rId77" Type="http://schemas.openxmlformats.org/officeDocument/2006/relationships/slide" Target="slides/slide71.xml"/><Relationship Id="rId78" Type="http://schemas.openxmlformats.org/officeDocument/2006/relationships/slide" Target="slides/slide72.xml"/><Relationship Id="rId79" Type="http://schemas.openxmlformats.org/officeDocument/2006/relationships/slide" Target="slides/slide73.xml"/><Relationship Id="rId80" Type="http://schemas.openxmlformats.org/officeDocument/2006/relationships/slide" Target="slides/slide74.xml"/><Relationship Id="rId81" Type="http://schemas.openxmlformats.org/officeDocument/2006/relationships/slide" Target="slides/slide75.xml"/><Relationship Id="rId82" Type="http://schemas.openxmlformats.org/officeDocument/2006/relationships/slide" Target="slides/slide76.xml"/><Relationship Id="rId83" Type="http://schemas.openxmlformats.org/officeDocument/2006/relationships/slide" Target="slides/slide77.xml"/><Relationship Id="rId84" Type="http://schemas.openxmlformats.org/officeDocument/2006/relationships/slide" Target="slides/slide78.xml"/><Relationship Id="rId85" Type="http://schemas.openxmlformats.org/officeDocument/2006/relationships/slide" Target="slides/slide79.xml"/><Relationship Id="rId86" Type="http://schemas.openxmlformats.org/officeDocument/2006/relationships/slide" Target="slides/slide80.xml"/><Relationship Id="rId87" Type="http://schemas.openxmlformats.org/officeDocument/2006/relationships/slide" Target="slides/slide81.xml"/><Relationship Id="rId88" Type="http://schemas.openxmlformats.org/officeDocument/2006/relationships/slide" Target="slides/slide82.xml"/><Relationship Id="rId89" Type="http://schemas.openxmlformats.org/officeDocument/2006/relationships/slide" Target="slides/slide83.xml"/><Relationship Id="rId90" Type="http://schemas.openxmlformats.org/officeDocument/2006/relationships/slide" Target="slides/slide84.xml"/><Relationship Id="rId91" Type="http://schemas.openxmlformats.org/officeDocument/2006/relationships/slide" Target="slides/slide85.xml"/><Relationship Id="rId92" Type="http://schemas.openxmlformats.org/officeDocument/2006/relationships/slide" Target="slides/slide86.xml"/><Relationship Id="rId93" Type="http://schemas.openxmlformats.org/officeDocument/2006/relationships/slide" Target="slides/slide87.xml"/><Relationship Id="rId94" Type="http://schemas.openxmlformats.org/officeDocument/2006/relationships/slide" Target="slides/slide88.xml"/><Relationship Id="rId95" Type="http://schemas.openxmlformats.org/officeDocument/2006/relationships/slide" Target="slides/slide89.xml"/><Relationship Id="rId96" Type="http://schemas.openxmlformats.org/officeDocument/2006/relationships/slide" Target="slides/slide90.xml"/><Relationship Id="rId97" Type="http://schemas.openxmlformats.org/officeDocument/2006/relationships/slide" Target="slides/slide91.xml"/><Relationship Id="rId98" Type="http://schemas.openxmlformats.org/officeDocument/2006/relationships/slide" Target="slides/slide92.xml"/><Relationship Id="rId99" Type="http://schemas.openxmlformats.org/officeDocument/2006/relationships/slide" Target="slides/slide93.xml"/><Relationship Id="rId100" Type="http://schemas.openxmlformats.org/officeDocument/2006/relationships/slide" Target="slides/slide94.xml"/><Relationship Id="rId101" Type="http://schemas.openxmlformats.org/officeDocument/2006/relationships/slide" Target="slides/slide95.xml"/><Relationship Id="rId102" Type="http://schemas.openxmlformats.org/officeDocument/2006/relationships/slide" Target="slides/slide96.xml"/><Relationship Id="rId103" Type="http://schemas.openxmlformats.org/officeDocument/2006/relationships/slide" Target="slides/slide97.xml"/><Relationship Id="rId104" Type="http://schemas.openxmlformats.org/officeDocument/2006/relationships/slide" Target="slides/slide98.xml"/><Relationship Id="rId105" Type="http://schemas.openxmlformats.org/officeDocument/2006/relationships/slide" Target="slides/slide99.xml"/><Relationship Id="rId106" Type="http://schemas.openxmlformats.org/officeDocument/2006/relationships/slide" Target="slides/slide100.xml"/><Relationship Id="rId107" Type="http://schemas.openxmlformats.org/officeDocument/2006/relationships/slide" Target="slides/slide101.xml"/><Relationship Id="rId108" Type="http://schemas.openxmlformats.org/officeDocument/2006/relationships/slide" Target="slides/slide102.xml"/><Relationship Id="rId109" Type="http://schemas.openxmlformats.org/officeDocument/2006/relationships/slide" Target="slides/slide103.xml"/><Relationship Id="rId110" Type="http://schemas.openxmlformats.org/officeDocument/2006/relationships/slide" Target="slides/slide104.xml"/><Relationship Id="rId111" Type="http://schemas.openxmlformats.org/officeDocument/2006/relationships/slide" Target="slides/slide105.xml"/><Relationship Id="rId112" Type="http://schemas.openxmlformats.org/officeDocument/2006/relationships/slide" Target="slides/slide106.xml"/><Relationship Id="rId113" Type="http://schemas.openxmlformats.org/officeDocument/2006/relationships/slide" Target="slides/slide107.xml"/><Relationship Id="rId114" Type="http://schemas.openxmlformats.org/officeDocument/2006/relationships/slide" Target="slides/slide108.xml"/><Relationship Id="rId115" Type="http://schemas.openxmlformats.org/officeDocument/2006/relationships/slide" Target="slides/slide109.xml"/><Relationship Id="rId116" Type="http://schemas.openxmlformats.org/officeDocument/2006/relationships/slide" Target="slides/slide110.xml"/><Relationship Id="rId117" Type="http://schemas.openxmlformats.org/officeDocument/2006/relationships/slide" Target="slides/slide111.xml"/><Relationship Id="rId118" Type="http://schemas.openxmlformats.org/officeDocument/2006/relationships/slide" Target="slides/slide112.xml"/><Relationship Id="rId119" Type="http://schemas.openxmlformats.org/officeDocument/2006/relationships/slide" Target="slides/slide113.xml"/><Relationship Id="rId120" Type="http://schemas.openxmlformats.org/officeDocument/2006/relationships/slide" Target="slides/slide114.xml"/><Relationship Id="rId121" Type="http://schemas.openxmlformats.org/officeDocument/2006/relationships/slide" Target="slides/slide115.xml"/><Relationship Id="rId122" Type="http://schemas.openxmlformats.org/officeDocument/2006/relationships/slide" Target="slides/slide116.xml"/><Relationship Id="rId123" Type="http://schemas.openxmlformats.org/officeDocument/2006/relationships/slide" Target="slides/slide117.xml"/><Relationship Id="rId124" Type="http://schemas.openxmlformats.org/officeDocument/2006/relationships/slide" Target="slides/slide118.xml"/><Relationship Id="rId125" Type="http://schemas.openxmlformats.org/officeDocument/2006/relationships/slide" Target="slides/slide119.xml"/><Relationship Id="rId126" Type="http://schemas.openxmlformats.org/officeDocument/2006/relationships/slide" Target="slides/slide120.xml"/><Relationship Id="rId127" Type="http://schemas.openxmlformats.org/officeDocument/2006/relationships/slide" Target="slides/slide121.xml"/><Relationship Id="rId128" Type="http://schemas.openxmlformats.org/officeDocument/2006/relationships/slide" Target="slides/slide122.xml"/><Relationship Id="rId129" Type="http://schemas.openxmlformats.org/officeDocument/2006/relationships/slide" Target="slides/slide123.xml"/><Relationship Id="rId130" Type="http://schemas.openxmlformats.org/officeDocument/2006/relationships/slide" Target="slides/slide124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GPT-4o-mini (cloud)</c:v>
                </c:pt>
              </c:strCache>
            </c:strRef>
          </c:tx>
          <c:spPr>
            <a:solidFill>
              <a:srgbClr val="1F6FEB"/>
            </a:solidFill>
          </c:spPr>
          <c:cat>
            <c:strRef>
              <c:f>Sheet1!$A$2:$A$5</c:f>
              <c:strCache>
                <c:ptCount val="4"/>
                <c:pt idx="0">
                  <c:v>Answer quality</c:v>
                </c:pt>
                <c:pt idx="1">
                  <c:v>Speed (tok/s)</c:v>
                </c:pt>
                <c:pt idx="2">
                  <c:v>Cost per 1M tokens</c:v>
                </c:pt>
                <c:pt idx="3">
                  <c:v>Data privacy</c:v>
                </c:pt>
              </c:strCache>
            </c:strRef>
          </c:cat>
          <c:val>
            <c:numRef>
              <c:f>Sheet1!$B$2:$B$5</c:f>
              <c:numCache>
                <c:formatCode>0</c:formatCode>
                <c:ptCount val="4"/>
                <c:pt idx="0">
                  <c:v>9</c:v>
                </c:pt>
                <c:pt idx="1">
                  <c:v>8</c:v>
                </c:pt>
                <c:pt idx="2">
                  <c:v>3</c:v>
                </c:pt>
                <c:pt idx="3">
                  <c:v>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Llama 3.2 3B (local)</c:v>
                </c:pt>
              </c:strCache>
            </c:strRef>
          </c:tx>
          <c:spPr>
            <a:solidFill>
              <a:srgbClr val="10B981"/>
            </a:solidFill>
          </c:spPr>
          <c:cat>
            <c:strRef>
              <c:f>Sheet1!$A$2:$A$5</c:f>
              <c:strCache>
                <c:ptCount val="4"/>
                <c:pt idx="0">
                  <c:v>Answer quality</c:v>
                </c:pt>
                <c:pt idx="1">
                  <c:v>Speed (tok/s)</c:v>
                </c:pt>
                <c:pt idx="2">
                  <c:v>Cost per 1M tokens</c:v>
                </c:pt>
                <c:pt idx="3">
                  <c:v>Data privacy</c:v>
                </c:pt>
              </c:strCache>
            </c:strRef>
          </c:cat>
          <c:val>
            <c:numRef>
              <c:f>Sheet1!$C$2:$C$5</c:f>
              <c:numCache>
                <c:formatCode>0</c:formatCode>
                <c:ptCount val="4"/>
                <c:pt idx="0">
                  <c:v>6</c:v>
                </c:pt>
                <c:pt idx="1">
                  <c:v>6</c:v>
                </c:pt>
                <c:pt idx="2">
                  <c:v>10</c:v>
                </c:pt>
                <c:pt idx="3">
                  <c:v>10</c:v>
                </c:pt>
              </c:numCache>
            </c:numRef>
          </c:val>
        </c:ser>
        <c:dLbls>
          <c:numFmt formatCode="0" sourceLinked="0"/>
          <c:txPr>
            <a:bodyPr/>
            <a:lstStyle/>
            <a:p>
              <a:pPr>
                <a:defRPr sz="1000">
                  <a:solidFill>
                    <a:srgbClr val="161B26"/>
                  </a:solidFill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1100"/>
          </a:pPr>
        </a:p>
      </c:txPr>
    </c:legend>
    <c:dispBlanksAs val="gap"/>
  </c:chart>
  <c:txPr>
    <a:bodyPr/>
    <a:lstStyle/>
    <a:p>
      <a:pPr>
        <a:defRPr sz="1200">
          <a:solidFill>
            <a:srgbClr val="161B26"/>
          </a:solidFill>
          <a:latin typeface="Arial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Share of course (%)</c:v>
                </c:pt>
              </c:strCache>
            </c:strRef>
          </c:tx>
          <c:spPr>
            <a:solidFill>
              <a:srgbClr val="1F6FEB"/>
            </a:solidFill>
          </c:spPr>
          <c:cat>
            <c:strRef>
              <c:f>Sheet1!$A$2:$A$4</c:f>
              <c:strCache>
                <c:ptCount val="3"/>
                <c:pt idx="0">
                  <c:v>Topic 1 — LLM AI Orchestration</c:v>
                </c:pt>
                <c:pt idx="1">
                  <c:v>Topic 2 — Retrieval-Augmented Generation (RAG)</c:v>
                </c:pt>
                <c:pt idx="2">
                  <c:v>Topic 3 — Multi-Agent AI Workflow</c:v>
                </c:pt>
              </c:strCache>
            </c:strRef>
          </c:cat>
          <c:val>
            <c:numRef>
              <c:f>Sheet1!$B$2:$B$4</c:f>
              <c:numCache>
                <c:formatCode>0"%"</c:formatCode>
                <c:ptCount val="3"/>
                <c:pt idx="0">
                  <c:v>36</c:v>
                </c:pt>
                <c:pt idx="1">
                  <c:v>36</c:v>
                </c:pt>
                <c:pt idx="2">
                  <c:v>28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sz="1000">
                  <a:solidFill>
                    <a:srgbClr val="161B26"/>
                  </a:solidFill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200">
          <a:solidFill>
            <a:srgbClr val="161B26"/>
          </a:solidFill>
          <a:latin typeface="Arial"/>
        </a:defRPr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Gold answer retrieved (%)</c:v>
                </c:pt>
              </c:strCache>
            </c:strRef>
          </c:tx>
          <c:spPr>
            <a:solidFill>
              <a:srgbClr val="1F6FEB"/>
            </a:solidFill>
          </c:spPr>
          <c:cat>
            <c:strRef>
              <c:f>Sheet1!$A$2:$A$5</c:f>
              <c:strCache>
                <c:ptCount val="4"/>
                <c:pt idx="0">
                  <c:v>k=1</c:v>
                </c:pt>
                <c:pt idx="1">
                  <c:v>k=3</c:v>
                </c:pt>
                <c:pt idx="2">
                  <c:v>k=5</c:v>
                </c:pt>
                <c:pt idx="3">
                  <c:v>k=10</c:v>
                </c:pt>
              </c:strCache>
            </c:strRef>
          </c:cat>
          <c:val>
            <c:numRef>
              <c:f>Sheet1!$B$2:$B$5</c:f>
              <c:numCache>
                <c:formatCode>0</c:formatCode>
                <c:ptCount val="4"/>
                <c:pt idx="0">
                  <c:v>83</c:v>
                </c:pt>
                <c:pt idx="1">
                  <c:v>100</c:v>
                </c:pt>
                <c:pt idx="2">
                  <c:v>100</c:v>
                </c:pt>
                <c:pt idx="3">
                  <c:v>100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Prompt tokens used (%)</c:v>
                </c:pt>
              </c:strCache>
            </c:strRef>
          </c:tx>
          <c:spPr>
            <a:solidFill>
              <a:srgbClr val="10B981"/>
            </a:solidFill>
          </c:spPr>
          <c:cat>
            <c:strRef>
              <c:f>Sheet1!$A$2:$A$5</c:f>
              <c:strCache>
                <c:ptCount val="4"/>
                <c:pt idx="0">
                  <c:v>k=1</c:v>
                </c:pt>
                <c:pt idx="1">
                  <c:v>k=3</c:v>
                </c:pt>
                <c:pt idx="2">
                  <c:v>k=5</c:v>
                </c:pt>
                <c:pt idx="3">
                  <c:v>k=10</c:v>
                </c:pt>
              </c:strCache>
            </c:strRef>
          </c:cat>
          <c:val>
            <c:numRef>
              <c:f>Sheet1!$C$2:$C$5</c:f>
              <c:numCache>
                <c:formatCode>0</c:formatCode>
                <c:ptCount val="4"/>
                <c:pt idx="0">
                  <c:v>10</c:v>
                </c:pt>
                <c:pt idx="1">
                  <c:v>30</c:v>
                </c:pt>
                <c:pt idx="2">
                  <c:v>50</c:v>
                </c:pt>
                <c:pt idx="3">
                  <c:v>100</c:v>
                </c:pt>
              </c:numCache>
            </c:numRef>
          </c:val>
        </c:ser>
        <c:dLbls>
          <c:numFmt formatCode="0" sourceLinked="0"/>
          <c:txPr>
            <a:bodyPr/>
            <a:lstStyle/>
            <a:p>
              <a:pPr>
                <a:defRPr sz="1000">
                  <a:solidFill>
                    <a:srgbClr val="161B26"/>
                  </a:solidFill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1100"/>
          </a:pPr>
        </a:p>
      </c:txPr>
    </c:legend>
    <c:dispBlanksAs val="gap"/>
  </c:chart>
  <c:txPr>
    <a:bodyPr/>
    <a:lstStyle/>
    <a:p>
      <a:pPr>
        <a:defRPr sz="1200">
          <a:solidFill>
            <a:srgbClr val="161B26"/>
          </a:solidFill>
          <a:latin typeface="Arial"/>
        </a:defRPr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Typical messages per task</c:v>
                </c:pt>
              </c:strCache>
            </c:strRef>
          </c:tx>
          <c:spPr>
            <a:solidFill>
              <a:srgbClr val="1F6FEB"/>
            </a:solidFill>
          </c:spPr>
          <c:cat>
            <c:strRef>
              <c:f>Sheet1!$A$2:$A$5</c:f>
              <c:strCache>
                <c:ptCount val="4"/>
                <c:pt idx="0">
                  <c:v>Single agent</c:v>
                </c:pt>
                <c:pt idx="1">
                  <c:v>Two-agent chat</c:v>
                </c:pt>
                <c:pt idx="2">
                  <c:v>Round-robin (2)</c:v>
                </c:pt>
                <c:pt idx="3">
                  <c:v>Selector (3)</c:v>
                </c:pt>
              </c:strCache>
            </c:strRef>
          </c:cat>
          <c:val>
            <c:numRef>
              <c:f>Sheet1!$B$2:$B$5</c:f>
              <c:numCache>
                <c:formatCode>0</c:formatCode>
                <c:ptCount val="4"/>
                <c:pt idx="0">
                  <c:v>2</c:v>
                </c:pt>
                <c:pt idx="1">
                  <c:v>4</c:v>
                </c:pt>
                <c:pt idx="2">
                  <c:v>6</c:v>
                </c:pt>
                <c:pt idx="3">
                  <c:v>9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LLM calls per task</c:v>
                </c:pt>
              </c:strCache>
            </c:strRef>
          </c:tx>
          <c:spPr>
            <a:solidFill>
              <a:srgbClr val="10B981"/>
            </a:solidFill>
          </c:spPr>
          <c:cat>
            <c:strRef>
              <c:f>Sheet1!$A$2:$A$5</c:f>
              <c:strCache>
                <c:ptCount val="4"/>
                <c:pt idx="0">
                  <c:v>Single agent</c:v>
                </c:pt>
                <c:pt idx="1">
                  <c:v>Two-agent chat</c:v>
                </c:pt>
                <c:pt idx="2">
                  <c:v>Round-robin (2)</c:v>
                </c:pt>
                <c:pt idx="3">
                  <c:v>Selector (3)</c:v>
                </c:pt>
              </c:strCache>
            </c:strRef>
          </c:cat>
          <c:val>
            <c:numRef>
              <c:f>Sheet1!$C$2:$C$5</c:f>
              <c:numCache>
                <c:formatCode>0</c:formatCode>
                <c:ptCount val="4"/>
                <c:pt idx="0">
                  <c:v>1</c:v>
                </c:pt>
                <c:pt idx="1">
                  <c:v>3</c:v>
                </c:pt>
                <c:pt idx="2">
                  <c:v>5</c:v>
                </c:pt>
                <c:pt idx="3">
                  <c:v>10</c:v>
                </c:pt>
              </c:numCache>
            </c:numRef>
          </c:val>
        </c:ser>
        <c:dLbls>
          <c:numFmt formatCode="0" sourceLinked="0"/>
          <c:txPr>
            <a:bodyPr/>
            <a:lstStyle/>
            <a:p>
              <a:pPr>
                <a:defRPr sz="1000">
                  <a:solidFill>
                    <a:srgbClr val="161B26"/>
                  </a:solidFill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1100"/>
          </a:pPr>
        </a:p>
      </c:txPr>
    </c:legend>
    <c:dispBlanksAs val="gap"/>
  </c:chart>
  <c:txPr>
    <a:bodyPr/>
    <a:lstStyle/>
    <a:p>
      <a:pPr>
        <a:defRPr sz="1200">
          <a:solidFill>
            <a:srgbClr val="161B26"/>
          </a:solidFill>
          <a:latin typeface="Arial"/>
        </a:defRPr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3.xml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9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4.xml"/></Relationships>
</file>

<file path=ppt/slides/_rels/slide9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tertiary-infotech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640080"/>
            <a:ext cx="960120" cy="960120"/>
          </a:xfrm>
          <a:prstGeom prst="rect">
            <a:avLst/>
          </a:prstGeom>
        </p:spPr>
      </p:pic>
      <p:pic>
        <p:nvPicPr>
          <p:cNvPr id="6" name="Picture 5" descr="autogen_bad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46920" y="502920"/>
            <a:ext cx="1783080" cy="178308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22960" y="2103120"/>
            <a:ext cx="109728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F6FEB"/>
                </a:solidFill>
                <a:latin typeface="Arial"/>
              </a:rPr>
              <a:t>COURSE SLIDES  ·  WSQ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2606040"/>
            <a:ext cx="10972800" cy="1737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4000" b="1">
                <a:solidFill>
                  <a:srgbClr val="161B26"/>
                </a:solidFill>
                <a:latin typeface="Arial"/>
              </a:rPr>
              <a:t>Develop Multi-Agent AI Applications with AutoGen</a:t>
            </a:r>
          </a:p>
        </p:txBody>
      </p:sp>
      <p:sp>
        <p:nvSpPr>
          <p:cNvPr id="9" name="Rectangle 8"/>
          <p:cNvSpPr/>
          <p:nvPr/>
        </p:nvSpPr>
        <p:spPr>
          <a:xfrm>
            <a:off x="841248" y="4343400"/>
            <a:ext cx="2194560" cy="5486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4617720"/>
            <a:ext cx="1097280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>
                <a:solidFill>
                  <a:srgbClr val="5B6372"/>
                </a:solidFill>
                <a:latin typeface="Arial"/>
              </a:rPr>
              <a:t>WSQ Course Code: TGS-2024045806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5B6372"/>
                </a:solidFill>
                <a:latin typeface="Arial"/>
              </a:rPr>
              <a:t>Conducted by Tertiary Infotech Academy Pte Ltd  ·  UEN 201200696W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594360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Version v9  ·  28 August 2026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6263640"/>
            <a:ext cx="1097280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© 2026 Tertiary Infotech Academy Pte Ltd. All rights reserved.  ·  www.tertiarycourses.com.sg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2286000"/>
            <a:ext cx="128016" cy="18288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2331720"/>
            <a:ext cx="10058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COURSE ADMINISTRATION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2743200"/>
            <a:ext cx="1042416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4000" b="1">
                <a:solidFill>
                  <a:srgbClr val="161B26"/>
                </a:solidFill>
                <a:latin typeface="Arial"/>
              </a:rPr>
              <a:t>Welcome &amp; Housekeeping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0" y="640080"/>
            <a:ext cx="256032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7200" b="1">
                <a:solidFill>
                  <a:srgbClr val="E2E8F0"/>
                </a:solidFill>
                <a:latin typeface="Arial"/>
              </a:rPr>
              <a:t/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Develop Multi-Agent AI Applications with AutoGen  ·  TGS-2024045806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2</a:t>
            </a:r>
          </a:p>
        </p:txBody>
      </p:sp>
    </p:spTree>
  </p:cSld>
  <p:clrMapOvr>
    <a:masterClrMapping/>
  </p:clrMapOvr>
  <p:transition spd="med" advClick="1">
    <p:push dir="l"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TRAQOM · SSG DIGITAL ATTENDANCE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Digital Attendance (Mandatory)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206654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33272" y="2542032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3272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4792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700" b="1">
                <a:solidFill>
                  <a:srgbClr val="161B26"/>
                </a:solidFill>
                <a:latin typeface="Arial"/>
              </a:rPr>
              <a:t>Three times a day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Take the AM, PM and Assessment digital attendance — mandatory for every WSQ-funded course.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206654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87668" y="2542032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87668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19188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700" b="1">
                <a:solidFill>
                  <a:srgbClr val="161B26"/>
                </a:solidFill>
                <a:latin typeface="Arial"/>
              </a:rPr>
              <a:t>Trainer shows the QR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The trainer or administrator displays the digital attendance QR code from the SSG portal.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4087368"/>
            <a:ext cx="91440" cy="206654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33272" y="4846320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33272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64792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700" b="1">
                <a:solidFill>
                  <a:srgbClr val="161B26"/>
                </a:solidFill>
                <a:latin typeface="Arial"/>
              </a:rPr>
              <a:t>Scan and submit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Scan the QR code with your mobile phone camera and submit your attendance.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4087368"/>
            <a:ext cx="91440" cy="206654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87668" y="4846320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87668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19188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700" b="1">
                <a:solidFill>
                  <a:srgbClr val="161B26"/>
                </a:solidFill>
                <a:latin typeface="Arial"/>
              </a:rPr>
              <a:t>75% minimum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A minimum of 75% attendance is required to be eligible for assessment and funding.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Develop Multi-Agent AI Applications with AutoGen  ·  TGS-2024045806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3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5B63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5B6372"/>
                </a:solidFill>
                <a:latin typeface="Arial"/>
              </a:rPr>
              <a:t>YOUR TRAINER · GENERAL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About the Trainer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333756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3337560" cy="109728"/>
          </a:xfrm>
          <a:prstGeom prst="rect">
            <a:avLst/>
          </a:prstGeom>
          <a:solidFill>
            <a:srgbClr val="5B63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668780" y="2286000"/>
            <a:ext cx="1554480" cy="1554480"/>
          </a:xfrm>
          <a:prstGeom prst="ellipse">
            <a:avLst/>
          </a:prstGeom>
          <a:solidFill>
            <a:srgbClr val="5B63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668780" y="2286000"/>
            <a:ext cx="1554480" cy="1554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4400" b="1">
                <a:solidFill>
                  <a:srgbClr val="FFFFFF"/>
                </a:solidFill>
                <a:latin typeface="Arial"/>
              </a:rPr>
              <a:t>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4160520"/>
            <a:ext cx="30632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2100" b="1">
                <a:solidFill>
                  <a:srgbClr val="161B26"/>
                </a:solidFill>
                <a:latin typeface="Arial"/>
              </a:rPr>
              <a:t>Your Trainer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4754880"/>
            <a:ext cx="306324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General Trainer template —
to be completed by the trainer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480560" y="1783080"/>
            <a:ext cx="6949440" cy="5638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480560" y="1783080"/>
            <a:ext cx="91440" cy="56388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773168" y="1783080"/>
            <a:ext cx="6400800" cy="5638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1F6FEB"/>
                </a:solidFill>
                <a:latin typeface="Arial"/>
              </a:rPr>
              <a:t>NAME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E2E8F0"/>
                </a:solidFill>
                <a:latin typeface="Arial"/>
              </a:rPr>
              <a:t>____________________________________________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480560" y="2529840"/>
            <a:ext cx="6949440" cy="5638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480560" y="2529840"/>
            <a:ext cx="91440" cy="56388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773168" y="2529840"/>
            <a:ext cx="6400800" cy="5638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10B981"/>
                </a:solidFill>
                <a:latin typeface="Arial"/>
              </a:rPr>
              <a:t>TITLE / DESIGNATION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E2E8F0"/>
                </a:solidFill>
                <a:latin typeface="Arial"/>
              </a:rPr>
              <a:t>____________________________________________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480560" y="3276600"/>
            <a:ext cx="6949440" cy="5638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480560" y="3276600"/>
            <a:ext cx="91440" cy="56388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773168" y="3276600"/>
            <a:ext cx="6400800" cy="5638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7C3AED"/>
                </a:solidFill>
                <a:latin typeface="Arial"/>
              </a:rPr>
              <a:t>QUALIFICATIONS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E2E8F0"/>
                </a:solidFill>
                <a:latin typeface="Arial"/>
              </a:rPr>
              <a:t>____________________________________________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480560" y="4023360"/>
            <a:ext cx="6949440" cy="5638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480560" y="4023360"/>
            <a:ext cx="91440" cy="56388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773168" y="4023360"/>
            <a:ext cx="6400800" cy="5638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F59E0B"/>
                </a:solidFill>
                <a:latin typeface="Arial"/>
              </a:rPr>
              <a:t>AREAS OF EXPERTISE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E2E8F0"/>
                </a:solidFill>
                <a:latin typeface="Arial"/>
              </a:rPr>
              <a:t>____________________________________________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480560" y="4770120"/>
            <a:ext cx="6949440" cy="5638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480560" y="4770120"/>
            <a:ext cx="91440" cy="56388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773168" y="4770120"/>
            <a:ext cx="6400800" cy="5638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1F6FEB"/>
                </a:solidFill>
                <a:latin typeface="Arial"/>
              </a:rPr>
              <a:t>TRAINING &amp; INDUSTRY EXPERIENCE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E2E8F0"/>
                </a:solidFill>
                <a:latin typeface="Arial"/>
              </a:rPr>
              <a:t>____________________________________________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480560" y="5516880"/>
            <a:ext cx="6949440" cy="5638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4480560" y="5516880"/>
            <a:ext cx="91440" cy="56388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773168" y="5516880"/>
            <a:ext cx="6400800" cy="5638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10B981"/>
                </a:solidFill>
                <a:latin typeface="Arial"/>
              </a:rPr>
              <a:t>CONTACT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E2E8F0"/>
                </a:solidFill>
                <a:latin typeface="Arial"/>
              </a:rPr>
              <a:t>____________________________________________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Develop Multi-Agent AI Applications with AutoGen  ·  TGS-2024045806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4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YOUR TRAINER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About the Trainer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333756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3337560" cy="10972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668780" y="2286000"/>
            <a:ext cx="1554480" cy="155448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668780" y="2286000"/>
            <a:ext cx="1554480" cy="1554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4400" b="1">
                <a:solidFill>
                  <a:srgbClr val="FFFFFF"/>
                </a:solidFill>
                <a:latin typeface="Arial"/>
              </a:rPr>
              <a:t>AA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4160520"/>
            <a:ext cx="30632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2100" b="1">
                <a:solidFill>
                  <a:srgbClr val="161B26"/>
                </a:solidFill>
                <a:latin typeface="Arial"/>
              </a:rPr>
              <a:t>Dr. Alfred Ang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4754880"/>
            <a:ext cx="306324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Principal Trainer
Tertiary Infotech Academy Pte Ltd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480560" y="1783080"/>
            <a:ext cx="6949440" cy="9372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480560" y="1783080"/>
            <a:ext cx="91440" cy="93726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773168" y="1783080"/>
            <a:ext cx="6400800" cy="9372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1F6FEB"/>
                </a:solidFill>
                <a:latin typeface="Arial"/>
              </a:rPr>
              <a:t>ROLE</a:t>
            </a:r>
          </a:p>
          <a:p>
            <a:pPr algn="l">
              <a:spcAft>
                <a:spcPts val="3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Principal Trainer and Founder, Tertiary Infotech Academy Pte Ltd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480560" y="2903220"/>
            <a:ext cx="6949440" cy="9372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480560" y="2903220"/>
            <a:ext cx="91440" cy="93726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773168" y="2903220"/>
            <a:ext cx="6400800" cy="9372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10B981"/>
                </a:solidFill>
                <a:latin typeface="Arial"/>
              </a:rPr>
              <a:t>EXPERTISE</a:t>
            </a:r>
          </a:p>
          <a:p>
            <a:pPr algn="l">
              <a:spcAft>
                <a:spcPts val="3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Generative AI, Large Language Models, multi-agent AI systems and applied machine learning.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480560" y="4023360"/>
            <a:ext cx="6949440" cy="9372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480560" y="4023360"/>
            <a:ext cx="91440" cy="93726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773168" y="4023360"/>
            <a:ext cx="6400800" cy="9372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7C3AED"/>
                </a:solidFill>
                <a:latin typeface="Arial"/>
              </a:rPr>
              <a:t>DELIVERS</a:t>
            </a:r>
          </a:p>
          <a:p>
            <a:pPr algn="l">
              <a:spcAft>
                <a:spcPts val="3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WSQ courses on AI agents, LLM application development, RAG, data science and automation.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480560" y="5143500"/>
            <a:ext cx="6949440" cy="9372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480560" y="5143500"/>
            <a:ext cx="91440" cy="93726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773168" y="5143500"/>
            <a:ext cx="6400800" cy="9372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F59E0B"/>
                </a:solidFill>
                <a:latin typeface="Arial"/>
              </a:rPr>
              <a:t>FOUNDER</a:t>
            </a:r>
          </a:p>
          <a:p>
            <a:pPr algn="l">
              <a:spcAft>
                <a:spcPts val="3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Founder and lead instructor at Tertiary Infotech / Tertiary Courses.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Develop Multi-Agent AI Applications with AutoGen  ·  TGS-2024045806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5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ICE-BREAKER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Let's Know Each Other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783080"/>
            <a:ext cx="1060704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000" b="0">
                <a:solidFill>
                  <a:srgbClr val="161B26"/>
                </a:solidFill>
                <a:latin typeface="Arial"/>
              </a:rPr>
              <a:t>•  Your name, organisation and role.</a:t>
            </a:r>
          </a:p>
          <a:p>
            <a:pPr>
              <a:spcAft>
                <a:spcPts val="1000"/>
              </a:spcAft>
            </a:pPr>
            <a:r>
              <a:rPr sz="2000" b="0">
                <a:solidFill>
                  <a:srgbClr val="161B26"/>
                </a:solidFill>
                <a:latin typeface="Arial"/>
              </a:rPr>
              <a:t>•  Your experience with Python, APIs and Generative AI tools (if any).</a:t>
            </a:r>
          </a:p>
          <a:p>
            <a:pPr>
              <a:spcAft>
                <a:spcPts val="1000"/>
              </a:spcAft>
            </a:pPr>
            <a:r>
              <a:rPr sz="2000" b="0">
                <a:solidFill>
                  <a:srgbClr val="161B26"/>
                </a:solidFill>
                <a:latin typeface="Arial"/>
              </a:rPr>
              <a:t>•  One workflow you would like a team of AI agents to automate for you.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Develop Multi-Agent AI Applications with AutoGen  ·  TGS-2024045806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6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HOUSEKEEPING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Ground Rules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129844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33272" y="2157984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3272" y="2157984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4792" y="1874520"/>
            <a:ext cx="3973068" cy="115214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161B26"/>
                </a:solidFill>
                <a:latin typeface="Arial"/>
              </a:rPr>
              <a:t>Set your mobile phone to silent mode.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129844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87668" y="2157984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87668" y="2157984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19188" y="1874520"/>
            <a:ext cx="3973068" cy="115214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161B26"/>
                </a:solidFill>
                <a:latin typeface="Arial"/>
              </a:rPr>
              <a:t>Participate actively — no question is too small.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3319272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3319272"/>
            <a:ext cx="91440" cy="129844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33272" y="3694176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33272" y="3694176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64792" y="3410712"/>
            <a:ext cx="3973068" cy="115214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161B26"/>
                </a:solidFill>
                <a:latin typeface="Arial"/>
              </a:rPr>
              <a:t>Mutual respect: agree to disagree.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3319272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3319272"/>
            <a:ext cx="91440" cy="129844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87668" y="3694176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87668" y="3694176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19188" y="3410712"/>
            <a:ext cx="3973068" cy="115214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161B26"/>
                </a:solidFill>
                <a:latin typeface="Arial"/>
              </a:rPr>
              <a:t>One conversation at a time.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77240" y="4855464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77240" y="4855464"/>
            <a:ext cx="91440" cy="129844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1033272" y="5230368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33272" y="5230368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764792" y="4946904"/>
            <a:ext cx="3973068" cy="115214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161B26"/>
                </a:solidFill>
                <a:latin typeface="Arial"/>
              </a:rPr>
              <a:t>Be punctual; return from breaks on time.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231636" y="4855464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231636" y="4855464"/>
            <a:ext cx="91440" cy="129844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6487668" y="5230368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87668" y="5230368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219188" y="4946904"/>
            <a:ext cx="3973068" cy="115214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161B26"/>
                </a:solidFill>
                <a:latin typeface="Arial"/>
              </a:rPr>
              <a:t>75% attendance is required.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Develop Multi-Agent AI Applications with AutoGen  ·  TGS-2024045806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7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LMS / TMS  ·  lms-tms.tertiaryinfotech.com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Download Your Course Material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20640" cy="76992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82296" cy="76992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60120" y="1985162"/>
            <a:ext cx="365760" cy="36576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60120" y="1985162"/>
            <a:ext cx="3657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63040" y="1837944"/>
            <a:ext cx="4343400" cy="6784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Go to the LMS portal</a:t>
            </a:r>
          </a:p>
          <a:p>
            <a:pPr algn="l">
              <a:spcAft>
                <a:spcPts val="200"/>
              </a:spcAft>
            </a:pPr>
            <a:r>
              <a:rPr sz="1050" b="0">
                <a:solidFill>
                  <a:srgbClr val="5B6372"/>
                </a:solidFill>
                <a:latin typeface="Arial"/>
              </a:rPr>
              <a:t>Open https://lms-tms.tertiaryinfotech.com in your browser.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77240" y="2699308"/>
            <a:ext cx="5120640" cy="76992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77240" y="2699308"/>
            <a:ext cx="82296" cy="76992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960120" y="2901390"/>
            <a:ext cx="365760" cy="36576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60120" y="2901390"/>
            <a:ext cx="3657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463040" y="2754172"/>
            <a:ext cx="4343400" cy="6784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Log in</a:t>
            </a:r>
          </a:p>
          <a:p>
            <a:pPr algn="l">
              <a:spcAft>
                <a:spcPts val="200"/>
              </a:spcAft>
            </a:pPr>
            <a:r>
              <a:rPr sz="1050" b="0">
                <a:solidFill>
                  <a:srgbClr val="5B6372"/>
                </a:solidFill>
                <a:latin typeface="Arial"/>
              </a:rPr>
              <a:t>Sign in with the e-mail you used to register (OTP or password).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3615536"/>
            <a:ext cx="5120640" cy="76992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3615536"/>
            <a:ext cx="82296" cy="76992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960120" y="3817618"/>
            <a:ext cx="365760" cy="36576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60120" y="3817618"/>
            <a:ext cx="3657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463040" y="3670400"/>
            <a:ext cx="4343400" cy="6784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Open this course</a:t>
            </a:r>
          </a:p>
          <a:p>
            <a:pPr algn="l">
              <a:spcAft>
                <a:spcPts val="200"/>
              </a:spcAft>
            </a:pPr>
            <a:r>
              <a:rPr sz="1050" b="0">
                <a:solidFill>
                  <a:srgbClr val="5B6372"/>
                </a:solidFill>
                <a:latin typeface="Arial"/>
              </a:rPr>
              <a:t>Select 'Develop Multi-Agent AI Applications with AutoGen'.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77240" y="4531764"/>
            <a:ext cx="5120640" cy="76992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777240" y="4531764"/>
            <a:ext cx="82296" cy="76992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960120" y="4733846"/>
            <a:ext cx="365760" cy="36576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60120" y="4733846"/>
            <a:ext cx="3657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463040" y="4586628"/>
            <a:ext cx="4343400" cy="6784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Download the materials</a:t>
            </a:r>
          </a:p>
          <a:p>
            <a:pPr algn="l">
              <a:spcAft>
                <a:spcPts val="200"/>
              </a:spcAft>
            </a:pPr>
            <a:r>
              <a:rPr sz="1050" b="0">
                <a:solidFill>
                  <a:srgbClr val="5B6372"/>
                </a:solidFill>
                <a:latin typeface="Arial"/>
              </a:rPr>
              <a:t>Trainer Slides, Learner Guide and Lesson Plan (PDF).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77240" y="5447992"/>
            <a:ext cx="5120640" cy="76992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77240" y="5447992"/>
            <a:ext cx="82296" cy="76992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960120" y="5650074"/>
            <a:ext cx="365760" cy="36576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60120" y="5650074"/>
            <a:ext cx="3657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463040" y="5502856"/>
            <a:ext cx="4343400" cy="6784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Get the labs</a:t>
            </a:r>
          </a:p>
          <a:p>
            <a:pPr algn="l">
              <a:spcAft>
                <a:spcPts val="200"/>
              </a:spcAft>
            </a:pPr>
            <a:r>
              <a:rPr sz="1050" b="0">
                <a:solidFill>
                  <a:srgbClr val="5B6372"/>
                </a:solidFill>
                <a:latin typeface="Arial"/>
              </a:rPr>
              <a:t>Clone the GitHub lab repository — the link is on the course page.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153150" y="2338387"/>
            <a:ext cx="5295900" cy="3324225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3" name="Picture 32" descr="lms-log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72200" y="2357437"/>
            <a:ext cx="5257800" cy="3286125"/>
          </a:xfrm>
          <a:prstGeom prst="rect">
            <a:avLst/>
          </a:prstGeom>
        </p:spPr>
      </p:pic>
      <p:sp>
        <p:nvSpPr>
          <p:cNvPr id="34" name="TextBox 33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Develop Multi-Agent AI Applications with AutoGen  ·  TGS-2024045806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8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7C3AED"/>
                </a:solidFill>
                <a:latin typeface="Arial"/>
              </a:rPr>
              <a:t>SKILLS FRAMEWORK  ·  TSC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Skills Framework Alignment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129844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33272" y="2157984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3272" y="2157984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4792" y="1911096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TSC Title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Artificial Intelligence Application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129844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87668" y="2157984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87668" y="2157984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19188" y="1911096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TSC Code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AER-TEM-4026-1.1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3319272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3319272"/>
            <a:ext cx="91440" cy="129844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33272" y="3694176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33272" y="3694176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64792" y="3447288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A1 / A2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Analyse algorithms in AI applications; correlate algorithm design with efficiency.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3319272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3319272"/>
            <a:ext cx="91440" cy="129844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87668" y="3694176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87668" y="3694176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19188" y="3447288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A3 / A4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Identify strengths and limitations of AI applications; evaluate various AI applications.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77240" y="4855464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77240" y="4855464"/>
            <a:ext cx="91440" cy="129844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1033272" y="5230368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33272" y="5230368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764792" y="4983480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A5 / A6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Assess the feasibility of AI applications and the improvements they bring to processes.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231636" y="4855464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231636" y="4855464"/>
            <a:ext cx="91440" cy="129844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6487668" y="5230368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87668" y="5230368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219188" y="4983480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K1–K6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AI application ranges, performance analysis, algorithm design and implementation concepts.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Develop Multi-Agent AI Applications with AutoGen  ·  TGS-2024045806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9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SCHEDULE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Lesson Plan — 2 Days, 8 Hours per Day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21208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355080" y="1783080"/>
            <a:ext cx="507492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1965960"/>
            <a:ext cx="47548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F6FEB"/>
                </a:solidFill>
                <a:latin typeface="Arial"/>
              </a:rPr>
              <a:t>Day 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0" y="1965960"/>
            <a:ext cx="4572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0B981"/>
                </a:solidFill>
                <a:latin typeface="Arial"/>
              </a:rPr>
              <a:t>Day 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2468880"/>
            <a:ext cx="475488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Day 1 — LLM Orchestration &amp; RAG with AutoGen</a:t>
            </a:r>
          </a:p>
          <a:p>
            <a:pPr>
              <a:spcAft>
                <a:spcPts val="1000"/>
              </a:spcAft>
            </a:pPr>
            <a:r>
              <a:rPr sz="1400" b="0">
                <a:solidFill>
                  <a:srgbClr val="5B6372"/>
                </a:solidFill>
                <a:latin typeface="Arial"/>
              </a:rPr>
              <a:t>–  Digital Attendance (AM) · Introductions · Learning Outcomes</a:t>
            </a:r>
          </a:p>
          <a:p>
            <a:pPr>
              <a:spcAft>
                <a:spcPts val="1000"/>
              </a:spcAft>
            </a:pPr>
            <a:r>
              <a:rPr sz="1400" b="0">
                <a:solidFill>
                  <a:srgbClr val="5B6372"/>
                </a:solidFill>
                <a:latin typeface="Arial"/>
              </a:rPr>
              <a:t>–  Topic 1: Introduction to LLM AI Orchestration (Labs 1–3)</a:t>
            </a:r>
          </a:p>
          <a:p>
            <a:pPr>
              <a:spcAft>
                <a:spcPts val="1000"/>
              </a:spcAft>
            </a:pPr>
            <a:r>
              <a:rPr sz="1400" b="0">
                <a:solidFill>
                  <a:srgbClr val="5B6372"/>
                </a:solidFill>
                <a:latin typeface="Arial"/>
              </a:rPr>
              <a:t>–  Lunch Break · Digital Attendance (PM)</a:t>
            </a:r>
          </a:p>
          <a:p>
            <a:pPr>
              <a:spcAft>
                <a:spcPts val="1000"/>
              </a:spcAft>
            </a:pPr>
            <a:r>
              <a:rPr sz="1400" b="0">
                <a:solidFill>
                  <a:srgbClr val="5B6372"/>
                </a:solidFill>
                <a:latin typeface="Arial"/>
              </a:rPr>
              <a:t>–  Topic 2: Retrieval-Augmented Generation (Labs 4–5)</a:t>
            </a:r>
          </a:p>
          <a:p>
            <a:pPr>
              <a:spcAft>
                <a:spcPts val="1000"/>
              </a:spcAft>
            </a:pPr>
            <a:r>
              <a:rPr sz="1400" b="0">
                <a:solidFill>
                  <a:srgbClr val="5B6372"/>
                </a:solidFill>
                <a:latin typeface="Arial"/>
              </a:rPr>
              <a:t>–  Day 1 recap and Q&amp;A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0" y="2468880"/>
            <a:ext cx="461772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Day 2 — Multi-Agent Workflows &amp; Assessment</a:t>
            </a:r>
          </a:p>
          <a:p>
            <a:pPr>
              <a:spcAft>
                <a:spcPts val="1000"/>
              </a:spcAft>
            </a:pPr>
            <a:r>
              <a:rPr sz="1400" b="0">
                <a:solidFill>
                  <a:srgbClr val="5B6372"/>
                </a:solidFill>
                <a:latin typeface="Arial"/>
              </a:rPr>
              <a:t>–  Digital Attendance (AM) · Day 1 recap</a:t>
            </a:r>
          </a:p>
          <a:p>
            <a:pPr>
              <a:spcAft>
                <a:spcPts val="1000"/>
              </a:spcAft>
            </a:pPr>
            <a:r>
              <a:rPr sz="1400" b="0">
                <a:solidFill>
                  <a:srgbClr val="5B6372"/>
                </a:solidFill>
                <a:latin typeface="Arial"/>
              </a:rPr>
              <a:t>–  Topic 3: Implementing a Multi-Agent AI Workflow (Labs 6–8)</a:t>
            </a:r>
          </a:p>
          <a:p>
            <a:pPr>
              <a:spcAft>
                <a:spcPts val="1000"/>
              </a:spcAft>
            </a:pPr>
            <a:r>
              <a:rPr sz="1400" b="0">
                <a:solidFill>
                  <a:srgbClr val="5B6372"/>
                </a:solidFill>
                <a:latin typeface="Arial"/>
              </a:rPr>
              <a:t>–  Lunch Break · Digital Attendance (PM)</a:t>
            </a:r>
          </a:p>
          <a:p>
            <a:pPr>
              <a:spcAft>
                <a:spcPts val="1000"/>
              </a:spcAft>
            </a:pPr>
            <a:r>
              <a:rPr sz="1400" b="0">
                <a:solidFill>
                  <a:srgbClr val="5B6372"/>
                </a:solidFill>
                <a:latin typeface="Arial"/>
              </a:rPr>
              <a:t>–  Revision · Course Feedback and TRAQOM Survey</a:t>
            </a:r>
          </a:p>
          <a:p>
            <a:pPr>
              <a:spcAft>
                <a:spcPts val="1000"/>
              </a:spcAft>
            </a:pPr>
            <a:r>
              <a:rPr sz="1400" b="0">
                <a:solidFill>
                  <a:srgbClr val="5B6372"/>
                </a:solidFill>
                <a:latin typeface="Arial"/>
              </a:rPr>
              <a:t>–  Digital Attendance (Assessment) · Final Assessment (WA + PP)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Develop Multi-Agent AI Applications with AutoGen  ·  TGS-2024045806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10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WHAT YOU'LL ACHIEVE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Learning Outcomes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10634472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129844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33272" y="2157984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3272" y="2157984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4792" y="1911096"/>
            <a:ext cx="9427464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700" b="1">
                <a:solidFill>
                  <a:srgbClr val="161B26"/>
                </a:solidFill>
                <a:latin typeface="Arial"/>
              </a:rPr>
              <a:t>LO1 · Evaluate LLM AI models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Identify the strengths and limitations of LLM AI models by running, measuring and comparing them.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77240" y="3319272"/>
            <a:ext cx="10634472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77240" y="3319272"/>
            <a:ext cx="91440" cy="129844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033272" y="3694176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33272" y="3694176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764792" y="3447288"/>
            <a:ext cx="9427464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700" b="1">
                <a:solidFill>
                  <a:srgbClr val="161B26"/>
                </a:solidFill>
                <a:latin typeface="Arial"/>
              </a:rPr>
              <a:t>LO2 · Analyze RAG algorithms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Analyze Retrieval-Augmented Generation algorithms — embeddings, chunking, similarity search — to improve efficiency.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4855464"/>
            <a:ext cx="10634472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4855464"/>
            <a:ext cx="91440" cy="129844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33272" y="5230368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33272" y="5230368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64792" y="4983480"/>
            <a:ext cx="9427464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700" b="1">
                <a:solidFill>
                  <a:srgbClr val="161B26"/>
                </a:solidFill>
                <a:latin typeface="Arial"/>
              </a:rPr>
              <a:t>LO3 · Assess multi-agent feasibility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Assess the feasibility of implementing multi-agent AI applications with evidence: cost, latency, guardrails and readiness checks.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Develop Multi-Agent AI Applications with AutoGen  ·  TGS-2024045806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11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THREE TOPICS  ·  8 HANDS-ON LABS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Course Outline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10634472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129844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33272" y="2157984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3272" y="2157984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4792" y="1911096"/>
            <a:ext cx="9427464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700" b="1">
                <a:solidFill>
                  <a:srgbClr val="161B26"/>
                </a:solidFill>
                <a:latin typeface="Arial"/>
              </a:rPr>
              <a:t>Topic 1 — Introduction to LLM AI Orchestration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LLM strengths &amp; limitations · AI agents · AutoGen setup · model clients · function-calling tools · Labs 1–3.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77240" y="3319272"/>
            <a:ext cx="10634472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77240" y="3319272"/>
            <a:ext cx="91440" cy="129844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033272" y="3694176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33272" y="3694176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764792" y="3447288"/>
            <a:ext cx="9427464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700" b="1">
                <a:solidFill>
                  <a:srgbClr val="161B26"/>
                </a:solidFill>
                <a:latin typeface="Arial"/>
              </a:rPr>
              <a:t>Topic 2 — Retrieval-Augmented Generation (RAG)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Embeddings · chunking · vector databases · similarity search · grounded RAG agents · evaluation · Labs 4–5.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4855464"/>
            <a:ext cx="10634472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4855464"/>
            <a:ext cx="91440" cy="129844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33272" y="5230368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33272" y="5230368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64792" y="4983480"/>
            <a:ext cx="9427464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700" b="1">
                <a:solidFill>
                  <a:srgbClr val="161B26"/>
                </a:solidFill>
                <a:latin typeface="Arial"/>
              </a:rPr>
              <a:t>Topic 3 — Implementing a Multi-Agent AI Workflow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ReAct · human-in-the-loop · round-robin teams · SelectorGroupChat routing · feasibility · Labs 6–8.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Develop Multi-Agent AI Applications with AutoGen  ·  TGS-2024045806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12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F59E0B"/>
                </a:solidFill>
                <a:latin typeface="Arial"/>
              </a:rPr>
              <a:t>BEFORE YOU START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Briefing for Assessment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129844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33272" y="2157984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3272" y="2157984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4792" y="1911096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Do · Clear your desk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Place phones and other materials under the table or on the floor.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129844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87668" y="2157984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87668" y="2157984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19188" y="1911096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Don't · No recording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No photos or recording of assessment scripts.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3319272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3319272"/>
            <a:ext cx="91440" cy="129844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33272" y="3694176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33272" y="3694176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64792" y="3447288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Don't · No discussion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Work individually — no discussion during the assessment.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3319272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3319272"/>
            <a:ext cx="91440" cy="129844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87668" y="3694176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87668" y="3694176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19188" y="3447288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Do · Black or blue pen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Use a black or blue pen for hard-copy assessments.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77240" y="4855464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77240" y="4855464"/>
            <a:ext cx="91440" cy="129844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1033272" y="5230368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33272" y="5230368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764792" y="4983480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Don't · No correction fluid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No liquid paper or correction tape may be used.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231636" y="4855464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231636" y="4855464"/>
            <a:ext cx="91440" cy="129844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6487668" y="5230368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87668" y="5230368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219188" y="4983480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Do · Stop on time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Scripts are collected when time is up.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Develop Multi-Agent AI Applications with AutoGen  ·  TGS-2024045806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13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DAY 2 · 4:30 PM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Final Assessment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129844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33272" y="2157984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3272" y="2157984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4792" y="1911096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Written Assessment (WA)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Short-Answer Questions (SAQ) · 1 hour · open book. Tests the underpinning knowledge in these slides.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129844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87668" y="2157984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87668" y="2157984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19188" y="1911096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Practical Performance (PP)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Hands-on AutoGen build tasks · 1 hour · open book. Tests the ability you built in the labs.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3319272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3319272"/>
            <a:ext cx="91440" cy="129844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33272" y="3694176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33272" y="3694176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64792" y="3447288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Open book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You may use the course slides, the Learner Guide and approved materials only.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3319272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3319272"/>
            <a:ext cx="91440" cy="129844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87668" y="3694176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87668" y="3694176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19188" y="3447288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Eligibility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A minimum of 75% attendance is required to be eligible for assessment and funding.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77240" y="4855464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77240" y="4855464"/>
            <a:ext cx="91440" cy="129844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1033272" y="5230368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33272" y="5230368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764792" y="4983480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Result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You are assessed as Competent (C) or Not Yet Competent (NYC) on each instrument.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231636" y="4855464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231636" y="4855464"/>
            <a:ext cx="91440" cy="129844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6487668" y="5230368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87668" y="5230368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219188" y="4983480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Appeals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An appeal process is available if you wish to contest an assessment outcome.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Develop Multi-Agent AI Applications with AutoGen  ·  TGS-2024045806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14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ON ASSESSMENT DAY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Assessment Flow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77240" y="2148840"/>
            <a:ext cx="1819656" cy="2148840"/>
          </a:xfrm>
          <a:prstGeom prst="roundRect">
            <a:avLst>
              <a:gd name="adj" fmla="val 10000"/>
            </a:avLst>
          </a:prstGeom>
          <a:solidFill>
            <a:srgbClr val="F5F8FC"/>
          </a:solidFill>
          <a:ln w="1587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2148840"/>
            <a:ext cx="1819656" cy="10058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403604" y="2459736"/>
            <a:ext cx="566928" cy="56692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403604" y="2459736"/>
            <a:ext cx="566928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05256" y="3118104"/>
            <a:ext cx="1563624" cy="8595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TRAQOM survey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" y="3822192"/>
            <a:ext cx="1636776" cy="3474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Scan the QR code on the…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2651760" y="3223260"/>
            <a:ext cx="274320" cy="0"/>
          </a:xfrm>
          <a:prstGeom prst="line">
            <a:avLst/>
          </a:prstGeom>
          <a:ln w="25400">
            <a:solidFill>
              <a:srgbClr val="1F6FE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2980944" y="2148840"/>
            <a:ext cx="1819656" cy="2148840"/>
          </a:xfrm>
          <a:prstGeom prst="roundRect">
            <a:avLst>
              <a:gd name="adj" fmla="val 10000"/>
            </a:avLst>
          </a:prstGeom>
          <a:solidFill>
            <a:srgbClr val="F5F8FC"/>
          </a:solidFill>
          <a:ln w="1587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2980944" y="2148840"/>
            <a:ext cx="1819656" cy="10058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3607308" y="2459736"/>
            <a:ext cx="566928" cy="56692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607308" y="2459736"/>
            <a:ext cx="566928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108960" y="3118104"/>
            <a:ext cx="1563624" cy="8595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Digital attendance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072384" y="3822192"/>
            <a:ext cx="1636776" cy="3474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Scan the SSG assessment QR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4855464" y="3223260"/>
            <a:ext cx="274320" cy="0"/>
          </a:xfrm>
          <a:prstGeom prst="line">
            <a:avLst/>
          </a:prstGeom>
          <a:ln w="25400">
            <a:solidFill>
              <a:srgbClr val="1F6FE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ounded Rectangle 20"/>
          <p:cNvSpPr/>
          <p:nvPr/>
        </p:nvSpPr>
        <p:spPr>
          <a:xfrm>
            <a:off x="5184648" y="2148840"/>
            <a:ext cx="1819656" cy="2148840"/>
          </a:xfrm>
          <a:prstGeom prst="roundRect">
            <a:avLst>
              <a:gd name="adj" fmla="val 10000"/>
            </a:avLst>
          </a:prstGeom>
          <a:solidFill>
            <a:srgbClr val="F5F8FC"/>
          </a:solidFill>
          <a:ln w="1587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184648" y="2148840"/>
            <a:ext cx="1819656" cy="10058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5811012" y="2459736"/>
            <a:ext cx="566928" cy="56692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811012" y="2459736"/>
            <a:ext cx="566928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312664" y="3118104"/>
            <a:ext cx="1563624" cy="8595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Sit WA then PP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276088" y="3822192"/>
            <a:ext cx="1636776" cy="3474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Open book · 1 hour each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7059168" y="3223260"/>
            <a:ext cx="274320" cy="0"/>
          </a:xfrm>
          <a:prstGeom prst="line">
            <a:avLst/>
          </a:prstGeom>
          <a:ln w="25400">
            <a:solidFill>
              <a:srgbClr val="1F6FE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Rounded Rectangle 27"/>
          <p:cNvSpPr/>
          <p:nvPr/>
        </p:nvSpPr>
        <p:spPr>
          <a:xfrm>
            <a:off x="7388352" y="2148840"/>
            <a:ext cx="1819656" cy="2148840"/>
          </a:xfrm>
          <a:prstGeom prst="roundRect">
            <a:avLst>
              <a:gd name="adj" fmla="val 10000"/>
            </a:avLst>
          </a:prstGeom>
          <a:solidFill>
            <a:srgbClr val="F5F8FC"/>
          </a:solidFill>
          <a:ln w="1587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7388352" y="2148840"/>
            <a:ext cx="1819656" cy="10058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8014716" y="2459736"/>
            <a:ext cx="566928" cy="56692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014716" y="2459736"/>
            <a:ext cx="566928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516368" y="3118104"/>
            <a:ext cx="1563624" cy="8595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Submit on the LMS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479792" y="3822192"/>
            <a:ext cx="1636776" cy="3474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Upload your completed…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9262872" y="3223260"/>
            <a:ext cx="274320" cy="0"/>
          </a:xfrm>
          <a:prstGeom prst="line">
            <a:avLst/>
          </a:prstGeom>
          <a:ln w="25400">
            <a:solidFill>
              <a:srgbClr val="1F6FE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Rounded Rectangle 34"/>
          <p:cNvSpPr/>
          <p:nvPr/>
        </p:nvSpPr>
        <p:spPr>
          <a:xfrm>
            <a:off x="9592056" y="2148840"/>
            <a:ext cx="1819656" cy="2148840"/>
          </a:xfrm>
          <a:prstGeom prst="roundRect">
            <a:avLst>
              <a:gd name="adj" fmla="val 10000"/>
            </a:avLst>
          </a:prstGeom>
          <a:solidFill>
            <a:srgbClr val="F5F8FC"/>
          </a:solidFill>
          <a:ln w="1587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9592056" y="2148840"/>
            <a:ext cx="1819656" cy="10058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10218420" y="2459736"/>
            <a:ext cx="566928" cy="56692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0218420" y="2459736"/>
            <a:ext cx="566928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720072" y="3118104"/>
            <a:ext cx="1563624" cy="8595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Sign the record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683496" y="3822192"/>
            <a:ext cx="1636776" cy="3474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Sign the Assessment…</a:t>
            </a:r>
          </a:p>
        </p:txBody>
      </p:sp>
      <p:sp>
        <p:nvSpPr>
          <p:cNvPr id="41" name="Rectangle 40"/>
          <p:cNvSpPr/>
          <p:nvPr/>
        </p:nvSpPr>
        <p:spPr>
          <a:xfrm>
            <a:off x="777240" y="4608576"/>
            <a:ext cx="10634472" cy="10515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777240" y="4608576"/>
            <a:ext cx="100584" cy="105156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1051560" y="4718304"/>
            <a:ext cx="1014984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1F6FEB"/>
                </a:solidFill>
                <a:latin typeface="Arial"/>
              </a:rPr>
              <a:t>REMEMBER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51560" y="5029200"/>
            <a:ext cx="1014984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All five steps are mandatory for WSQ funding — missing the digital attendance or the TRAQOM survey can invalidate your claim.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Develop Multi-Agent AI Applications with AutoGen  ·  TGS-2024045806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15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0" fill="hold">
                      <p:stCondLst>
                        <p:cond delay="indefinite"/>
                      </p:stCondLst>
                      <p:childTnLst>
                        <p:par>
                          <p:cTn id="61" fill="hold">
                            <p:stCondLst>
                              <p:cond delay="0"/>
                            </p:stCondLst>
                            <p:childTnLst>
                              <p:par>
                                <p:cTn id="6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0" fill="hold">
                      <p:stCondLst>
                        <p:cond delay="indefinite"/>
                      </p:stCondLst>
                      <p:childTnLst>
                        <p:par>
                          <p:cTn id="71" fill="hold">
                            <p:stCondLst>
                              <p:cond delay="0"/>
                            </p:stCondLst>
                            <p:childTnLst>
                              <p:par>
                                <p:cTn id="7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4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0" fill="hold">
                      <p:stCondLst>
                        <p:cond delay="indefinite"/>
                      </p:stCondLst>
                      <p:childTnLst>
                        <p:par>
                          <p:cTn id="81" fill="hold">
                            <p:stCondLst>
                              <p:cond delay="0"/>
                            </p:stCondLst>
                            <p:childTnLst>
                              <p:par>
                                <p:cTn id="8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4" dur="4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0" fill="hold">
                      <p:stCondLst>
                        <p:cond delay="indefinite"/>
                      </p:stCondLst>
                      <p:childTnLst>
                        <p:par>
                          <p:cTn id="91" fill="hold">
                            <p:stCondLst>
                              <p:cond delay="0"/>
                            </p:stCondLst>
                            <p:childTnLst>
                              <p:par>
                                <p:cTn id="9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4" dur="4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  <p:transition spd="fast" advClick="1">
    <p:fade/>
  </p:transition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F59E0B"/>
                </a:solidFill>
                <a:latin typeface="Arial"/>
              </a:rPr>
              <a:t>WSQ FUNDING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Criteria for Funding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206654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33272" y="2542032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3272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4792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700" b="1">
                <a:solidFill>
                  <a:srgbClr val="161B26"/>
                </a:solidFill>
                <a:latin typeface="Arial"/>
              </a:rPr>
              <a:t>Attendance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A minimum attendance rate of 75%, based on the SSG Digital Attendance record.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206654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87668" y="2542032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87668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19188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700" b="1">
                <a:solidFill>
                  <a:srgbClr val="161B26"/>
                </a:solidFill>
                <a:latin typeface="Arial"/>
              </a:rPr>
              <a:t>Assessment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Complete both assessment components and be assessed as 'Competent'.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4087368"/>
            <a:ext cx="91440" cy="206654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33272" y="4846320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33272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64792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700" b="1">
                <a:solidFill>
                  <a:srgbClr val="161B26"/>
                </a:solidFill>
                <a:latin typeface="Arial"/>
              </a:rPr>
              <a:t>Digital attendance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Scan the SSG QR code for AM, PM and Assessment on every training day.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4087368"/>
            <a:ext cx="91440" cy="206654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87668" y="4846320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87668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19188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700" b="1">
                <a:solidFill>
                  <a:srgbClr val="161B26"/>
                </a:solidFill>
                <a:latin typeface="Arial"/>
              </a:rPr>
              <a:t>TRAQOM survey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Complete the mandatory TRAQOM course feedback survey on the LMS.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Develop Multi-Agent AI Applications with AutoGen  ·  TGS-2024045806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16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PRACTICE EXAM  ·  exams.tertiaryinfotech.com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Practice Exams — Sharpen Your Readiness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206654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33272" y="2542032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3272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4792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Practice portal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https://exams.tertiaryinfotech.com/practice-exams — free Tertiary Infotech practice exams.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206654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87668" y="2542032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87668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19188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Why practise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Timed question practice builds the recall you need for the open-book WA (SAQ).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4087368"/>
            <a:ext cx="91440" cy="206654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33272" y="4846320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33272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64792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How to use it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Create a free account, pick an AI/agents practice exam, and review every explanation.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4087368"/>
            <a:ext cx="91440" cy="206654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87668" y="4846320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87668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19188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Best preparation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Redo the 8 labs from a blank file — the PP mirrors what you built in class.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Develop Multi-Agent AI Applications with AutoGen  ·  TGS-2024045806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17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LAB ENVIRONMENT  ·  labs/lab-00-prelab-uv-setup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Set Up Before We Start (Pre-Lab)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129844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33272" y="2157984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3272" y="2157984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4792" y="1911096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Install uv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curl -LsSf https://astral.sh/uv/install.sh | sh  (or the PowerShell one-liner on Windows).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129844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87668" y="2157984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87668" y="2157984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19188" y="1911096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Clone the labs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git clone the course repository from GitHub — the link is on your LMS course page.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3319272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3319272"/>
            <a:ext cx="91440" cy="129844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33272" y="3694176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33272" y="3694176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64792" y="3447288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Sync the environment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cd labs &amp;&amp; uv sync — installs Python, AutoGen AgentChat, Extensions and ChromaDB.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3319272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3319272"/>
            <a:ext cx="91440" cy="129844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87668" y="3694176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87668" y="3694176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19188" y="3447288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Set your API key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cp .env.example .env and paste the OPENAI_API_KEY the trainer provides.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77240" y="4855464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77240" y="4855464"/>
            <a:ext cx="91440" cy="129844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1033272" y="5230368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33272" y="5230368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764792" y="4983480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Verify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uv run python -c "import autogen_agentchat" prints no error.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231636" y="4855464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231636" y="4855464"/>
            <a:ext cx="91440" cy="129844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6487668" y="5230368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87668" y="5230368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219188" y="4983480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Editor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Use VS Code or any editor you are comfortable with.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Develop Multi-Agent AI Applications with AutoGen  ·  TGS-2024045806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18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2286000"/>
            <a:ext cx="128016" cy="18288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2331720"/>
            <a:ext cx="10058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CORE CONCEPTS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2743200"/>
            <a:ext cx="1042416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4000" b="1">
                <a:solidFill>
                  <a:srgbClr val="161B26"/>
                </a:solidFill>
                <a:latin typeface="Arial"/>
              </a:rPr>
              <a:t>From Large Language Models to Multi-Agent AI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0" y="640080"/>
            <a:ext cx="256032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7200" b="1">
                <a:solidFill>
                  <a:srgbClr val="E2E8F0"/>
                </a:solidFill>
                <a:latin typeface="Arial"/>
              </a:rPr>
              <a:t/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Develop Multi-Agent AI Applications with AutoGen  ·  TGS-2024045806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19</a:t>
            </a:r>
          </a:p>
        </p:txBody>
      </p:sp>
    </p:spTree>
  </p:cSld>
  <p:clrMapOvr>
    <a:masterClrMapping/>
  </p:clrMapOvr>
  <p:transition spd="med" advClick="1">
    <p:push dir="l"/>
  </p:transition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FOUNDATIONS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What is a Large Language Model?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206654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33272" y="2542032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3272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4792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700" b="1">
                <a:solidFill>
                  <a:srgbClr val="161B26"/>
                </a:solidFill>
                <a:latin typeface="Arial"/>
              </a:rPr>
              <a:t>A model of language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An LLM such as GPT-4o, Claude or Gemini is trained to understand and generate human language.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206654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87668" y="2542032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87668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19188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700" b="1">
                <a:solidFill>
                  <a:srgbClr val="161B26"/>
                </a:solidFill>
                <a:latin typeface="Arial"/>
              </a:rPr>
              <a:t>Why 'large'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Large in training data and parameters — hundreds of billions of learned weights.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4087368"/>
            <a:ext cx="91440" cy="206654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33272" y="4846320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33272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64792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700" b="1">
                <a:solidFill>
                  <a:srgbClr val="161B26"/>
                </a:solidFill>
                <a:latin typeface="Arial"/>
              </a:rPr>
              <a:t>Autoregressive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It predicts the next token, one token at a time, conditioned on everything written so far.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4087368"/>
            <a:ext cx="91440" cy="206654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87668" y="4846320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87668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19188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700" b="1">
                <a:solidFill>
                  <a:srgbClr val="161B26"/>
                </a:solidFill>
                <a:latin typeface="Arial"/>
              </a:rPr>
              <a:t>Trained then inferred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Training builds the model from a huge corpus; inference is the prompt-and-response you use every day.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Develop Multi-Agent AI Applications with AutoGen  ·  TGS-2024045806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20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AUTOREGRESSIVE GENERATION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How an LLM Produces an Answer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331720"/>
            <a:ext cx="1878177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2331720"/>
            <a:ext cx="1878177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41424" y="2715768"/>
            <a:ext cx="749808" cy="74980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41424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23544" y="3749040"/>
            <a:ext cx="1585569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Your prompt is broken into tokens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618841" y="349758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▶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966313" y="2331720"/>
            <a:ext cx="1878177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2966313" y="2331720"/>
            <a:ext cx="1878177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3530497" y="2715768"/>
            <a:ext cx="749808" cy="74980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30497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112617" y="3749040"/>
            <a:ext cx="1585569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The model attends over the full context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807914" y="349758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▶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155386" y="2331720"/>
            <a:ext cx="1878177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155386" y="2331720"/>
            <a:ext cx="1878177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5719570" y="2715768"/>
            <a:ext cx="749808" cy="74980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719570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301690" y="3749040"/>
            <a:ext cx="1585569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It predicts the most likely next token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96987" y="349758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▶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344459" y="2331720"/>
            <a:ext cx="1878177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344459" y="2331720"/>
            <a:ext cx="1878177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7908643" y="2715768"/>
            <a:ext cx="749808" cy="74980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908643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490763" y="3749040"/>
            <a:ext cx="1585569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The token is appended and the loop repeats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186060" y="349758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▶</a:t>
            </a:r>
          </a:p>
        </p:txBody>
      </p:sp>
      <p:sp>
        <p:nvSpPr>
          <p:cNvPr id="31" name="Rectangle 30"/>
          <p:cNvSpPr/>
          <p:nvPr/>
        </p:nvSpPr>
        <p:spPr>
          <a:xfrm>
            <a:off x="9533532" y="2331720"/>
            <a:ext cx="1878177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9533532" y="2331720"/>
            <a:ext cx="1878177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10097716" y="2715768"/>
            <a:ext cx="749808" cy="74980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0097716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679836" y="3749040"/>
            <a:ext cx="1585569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Generation stops at a stop token or limit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Develop Multi-Agent AI Applications with AutoGen  ·  TGS-2024045806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21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LO1 · THE FOUNDATION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The Engine of Every Agent — the LLM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947809" y="1718310"/>
            <a:ext cx="6293334" cy="3558540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llm_bra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66859" y="1737360"/>
            <a:ext cx="6255234" cy="352044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777240" y="5440680"/>
            <a:ext cx="10634472" cy="868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77240" y="5440680"/>
            <a:ext cx="100584" cy="86868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51560" y="5532120"/>
            <a:ext cx="101498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1F6FEB"/>
                </a:solidFill>
                <a:latin typeface="Arial"/>
              </a:rPr>
              <a:t>THE IDEA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1560" y="5806440"/>
            <a:ext cx="101498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Everything in this course sits on top of one capability: a model that turns context into the most plausible next token. Orchestration is the discipline of making that capability reliable.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Develop Multi-Agent AI Applications with AutoGen  ·  TGS-2024045806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22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LO1 · EVALUATING MODELS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LLM Strengths vs Limitations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21208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355080" y="1783080"/>
            <a:ext cx="507492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1965960"/>
            <a:ext cx="47548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F6FEB"/>
                </a:solidFill>
                <a:latin typeface="Arial"/>
              </a:rPr>
              <a:t>What LLMs do well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0" y="1965960"/>
            <a:ext cx="4572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0B981"/>
                </a:solidFill>
                <a:latin typeface="Arial"/>
              </a:rPr>
              <a:t>What you must manage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2468880"/>
            <a:ext cx="475488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Strengths</a:t>
            </a:r>
          </a:p>
          <a:p>
            <a:pPr>
              <a:spcAft>
                <a:spcPts val="1000"/>
              </a:spcAft>
            </a:pPr>
            <a:r>
              <a:rPr sz="1400" b="0">
                <a:solidFill>
                  <a:srgbClr val="5B6372"/>
                </a:solidFill>
                <a:latin typeface="Arial"/>
              </a:rPr>
              <a:t>–  Fluent generation, summarisation and translation</a:t>
            </a:r>
          </a:p>
          <a:p>
            <a:pPr>
              <a:spcAft>
                <a:spcPts val="1000"/>
              </a:spcAft>
            </a:pPr>
            <a:r>
              <a:rPr sz="1400" b="0">
                <a:solidFill>
                  <a:srgbClr val="5B6372"/>
                </a:solidFill>
                <a:latin typeface="Arial"/>
              </a:rPr>
              <a:t>–  Broad general knowledge from pre-training</a:t>
            </a:r>
          </a:p>
          <a:p>
            <a:pPr>
              <a:spcAft>
                <a:spcPts val="1000"/>
              </a:spcAft>
            </a:pPr>
            <a:r>
              <a:rPr sz="1400" b="0">
                <a:solidFill>
                  <a:srgbClr val="5B6372"/>
                </a:solidFill>
                <a:latin typeface="Arial"/>
              </a:rPr>
              <a:t>–  In-context learning from a few examples</a:t>
            </a:r>
          </a:p>
          <a:p>
            <a:pPr>
              <a:spcAft>
                <a:spcPts val="1000"/>
              </a:spcAft>
            </a:pPr>
            <a:r>
              <a:rPr sz="1400" b="0">
                <a:solidFill>
                  <a:srgbClr val="5B6372"/>
                </a:solidFill>
                <a:latin typeface="Arial"/>
              </a:rPr>
              <a:t>–  Function calling for structured actions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0" y="2468880"/>
            <a:ext cx="461772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Limitations</a:t>
            </a:r>
          </a:p>
          <a:p>
            <a:pPr>
              <a:spcAft>
                <a:spcPts val="1000"/>
              </a:spcAft>
            </a:pPr>
            <a:r>
              <a:rPr sz="1400" b="0">
                <a:solidFill>
                  <a:srgbClr val="5B6372"/>
                </a:solidFill>
                <a:latin typeface="Arial"/>
              </a:rPr>
              <a:t>–  Hallucination — confident but wrong output</a:t>
            </a:r>
          </a:p>
          <a:p>
            <a:pPr>
              <a:spcAft>
                <a:spcPts val="1000"/>
              </a:spcAft>
            </a:pPr>
            <a:r>
              <a:rPr sz="1400" b="0">
                <a:solidFill>
                  <a:srgbClr val="5B6372"/>
                </a:solidFill>
                <a:latin typeface="Arial"/>
              </a:rPr>
              <a:t>–  Knowledge cut-off — no events after training</a:t>
            </a:r>
          </a:p>
          <a:p>
            <a:pPr>
              <a:spcAft>
                <a:spcPts val="1000"/>
              </a:spcAft>
            </a:pPr>
            <a:r>
              <a:rPr sz="1400" b="0">
                <a:solidFill>
                  <a:srgbClr val="5B6372"/>
                </a:solidFill>
                <a:latin typeface="Arial"/>
              </a:rPr>
              <a:t>–  Stateless — no memory between calls</a:t>
            </a:r>
          </a:p>
          <a:p>
            <a:pPr>
              <a:spcAft>
                <a:spcPts val="1000"/>
              </a:spcAft>
            </a:pPr>
            <a:r>
              <a:rPr sz="1400" b="0">
                <a:solidFill>
                  <a:srgbClr val="5B6372"/>
                </a:solidFill>
                <a:latin typeface="Arial"/>
              </a:rPr>
              <a:t>–  Non-deterministic at temperature &gt; 0 · context limits · cost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Develop Multi-Agent AI Applications with AutoGen  ·  TGS-2024045806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23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LO1 · MEASURABLE AXES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How to Evaluate an LLM for Your Application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2764962" cy="47548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05256" y="1783080"/>
            <a:ext cx="2508930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Axis</a:t>
            </a:r>
          </a:p>
        </p:txBody>
      </p:sp>
      <p:sp>
        <p:nvSpPr>
          <p:cNvPr id="9" name="Rectangle 8"/>
          <p:cNvSpPr/>
          <p:nvPr/>
        </p:nvSpPr>
        <p:spPr>
          <a:xfrm>
            <a:off x="3542202" y="1783080"/>
            <a:ext cx="2623170" cy="47548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70218" y="1783080"/>
            <a:ext cx="2367138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What you measure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165372" y="1783080"/>
            <a:ext cx="2623170" cy="47548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293388" y="1783080"/>
            <a:ext cx="2367138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How to measure it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788542" y="1783080"/>
            <a:ext cx="2623170" cy="47548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916558" y="1783080"/>
            <a:ext cx="2367138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Seen in lab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77240" y="2258568"/>
            <a:ext cx="2764962" cy="579729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05256" y="2258568"/>
            <a:ext cx="2508930" cy="579729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>
                <a:solidFill>
                  <a:srgbClr val="161B26"/>
                </a:solidFill>
                <a:latin typeface="Arial"/>
              </a:rPr>
              <a:t>Quality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542202" y="2258568"/>
            <a:ext cx="2623170" cy="579729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670218" y="2258568"/>
            <a:ext cx="2367138" cy="579729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5B6372"/>
                </a:solidFill>
                <a:latin typeface="Arial"/>
              </a:rPr>
              <a:t>Task accuracy, groundedness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165372" y="2258568"/>
            <a:ext cx="2623170" cy="579729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93388" y="2258568"/>
            <a:ext cx="2367138" cy="579729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5B6372"/>
                </a:solidFill>
                <a:latin typeface="Arial"/>
              </a:rPr>
              <a:t>Gold questions, human review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788542" y="2258568"/>
            <a:ext cx="2623170" cy="579729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916558" y="2258568"/>
            <a:ext cx="2367138" cy="579729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5B6372"/>
                </a:solidFill>
                <a:latin typeface="Arial"/>
              </a:rPr>
              <a:t>Labs 1, 5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77240" y="2838297"/>
            <a:ext cx="2764962" cy="579729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05256" y="2838297"/>
            <a:ext cx="2508930" cy="579729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>
                <a:solidFill>
                  <a:srgbClr val="161B26"/>
                </a:solidFill>
                <a:latin typeface="Arial"/>
              </a:rPr>
              <a:t>Latency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542202" y="2838297"/>
            <a:ext cx="2623170" cy="579729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670218" y="2838297"/>
            <a:ext cx="2367138" cy="579729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5B6372"/>
                </a:solidFill>
                <a:latin typeface="Arial"/>
              </a:rPr>
              <a:t>Seconds per response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165372" y="2838297"/>
            <a:ext cx="2623170" cy="579729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293388" y="2838297"/>
            <a:ext cx="2367138" cy="579729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5B6372"/>
                </a:solidFill>
                <a:latin typeface="Arial"/>
              </a:rPr>
              <a:t>Timing wrapper around the call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788542" y="2838297"/>
            <a:ext cx="2623170" cy="579729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916558" y="2838297"/>
            <a:ext cx="2367138" cy="579729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5B6372"/>
                </a:solidFill>
                <a:latin typeface="Arial"/>
              </a:rPr>
              <a:t>Lab 2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77240" y="3418026"/>
            <a:ext cx="2764962" cy="579729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05256" y="3418026"/>
            <a:ext cx="2508930" cy="579729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>
                <a:solidFill>
                  <a:srgbClr val="161B26"/>
                </a:solidFill>
                <a:latin typeface="Arial"/>
              </a:rPr>
              <a:t>Cost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542202" y="3418026"/>
            <a:ext cx="2623170" cy="579729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70218" y="3418026"/>
            <a:ext cx="2367138" cy="579729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5B6372"/>
                </a:solidFill>
                <a:latin typeface="Arial"/>
              </a:rPr>
              <a:t>Tokens in + out per call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165372" y="3418026"/>
            <a:ext cx="2623170" cy="579729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293388" y="3418026"/>
            <a:ext cx="2367138" cy="579729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5B6372"/>
                </a:solidFill>
                <a:latin typeface="Arial"/>
              </a:rPr>
              <a:t>response.usage token counts</a:t>
            </a:r>
          </a:p>
        </p:txBody>
      </p:sp>
      <p:sp>
        <p:nvSpPr>
          <p:cNvPr id="37" name="Rectangle 36"/>
          <p:cNvSpPr/>
          <p:nvPr/>
        </p:nvSpPr>
        <p:spPr>
          <a:xfrm>
            <a:off x="8788542" y="3418026"/>
            <a:ext cx="2623170" cy="579729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916558" y="3418026"/>
            <a:ext cx="2367138" cy="579729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5B6372"/>
                </a:solidFill>
                <a:latin typeface="Arial"/>
              </a:rPr>
              <a:t>Lab 1</a:t>
            </a:r>
          </a:p>
        </p:txBody>
      </p:sp>
      <p:sp>
        <p:nvSpPr>
          <p:cNvPr id="39" name="Rectangle 38"/>
          <p:cNvSpPr/>
          <p:nvPr/>
        </p:nvSpPr>
        <p:spPr>
          <a:xfrm>
            <a:off x="777240" y="3997755"/>
            <a:ext cx="2764962" cy="579729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905256" y="3997755"/>
            <a:ext cx="2508930" cy="579729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>
                <a:solidFill>
                  <a:srgbClr val="161B26"/>
                </a:solidFill>
                <a:latin typeface="Arial"/>
              </a:rPr>
              <a:t>Repeatability</a:t>
            </a:r>
          </a:p>
        </p:txBody>
      </p:sp>
      <p:sp>
        <p:nvSpPr>
          <p:cNvPr id="41" name="Rectangle 40"/>
          <p:cNvSpPr/>
          <p:nvPr/>
        </p:nvSpPr>
        <p:spPr>
          <a:xfrm>
            <a:off x="3542202" y="3997755"/>
            <a:ext cx="2623170" cy="579729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3670218" y="3997755"/>
            <a:ext cx="2367138" cy="579729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5B6372"/>
                </a:solidFill>
                <a:latin typeface="Arial"/>
              </a:rPr>
              <a:t>Same input → same output?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165372" y="3997755"/>
            <a:ext cx="2623170" cy="579729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293388" y="3997755"/>
            <a:ext cx="2367138" cy="579729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5B6372"/>
                </a:solidFill>
                <a:latin typeface="Arial"/>
              </a:rPr>
              <a:t>Run twice at temperature 0</a:t>
            </a:r>
          </a:p>
        </p:txBody>
      </p:sp>
      <p:sp>
        <p:nvSpPr>
          <p:cNvPr id="45" name="Rectangle 44"/>
          <p:cNvSpPr/>
          <p:nvPr/>
        </p:nvSpPr>
        <p:spPr>
          <a:xfrm>
            <a:off x="8788542" y="3997755"/>
            <a:ext cx="2623170" cy="579729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8916558" y="3997755"/>
            <a:ext cx="2367138" cy="579729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5B6372"/>
                </a:solidFill>
                <a:latin typeface="Arial"/>
              </a:rPr>
              <a:t>Lab 1</a:t>
            </a:r>
          </a:p>
        </p:txBody>
      </p:sp>
      <p:sp>
        <p:nvSpPr>
          <p:cNvPr id="47" name="Rectangle 46"/>
          <p:cNvSpPr/>
          <p:nvPr/>
        </p:nvSpPr>
        <p:spPr>
          <a:xfrm>
            <a:off x="777240" y="4577484"/>
            <a:ext cx="2764962" cy="579729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905256" y="4577484"/>
            <a:ext cx="2508930" cy="579729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>
                <a:solidFill>
                  <a:srgbClr val="161B26"/>
                </a:solidFill>
                <a:latin typeface="Arial"/>
              </a:rPr>
              <a:t>Privacy</a:t>
            </a:r>
          </a:p>
        </p:txBody>
      </p:sp>
      <p:sp>
        <p:nvSpPr>
          <p:cNvPr id="49" name="Rectangle 48"/>
          <p:cNvSpPr/>
          <p:nvPr/>
        </p:nvSpPr>
        <p:spPr>
          <a:xfrm>
            <a:off x="3542202" y="4577484"/>
            <a:ext cx="2623170" cy="579729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3670218" y="4577484"/>
            <a:ext cx="2367138" cy="579729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5B6372"/>
                </a:solidFill>
                <a:latin typeface="Arial"/>
              </a:rPr>
              <a:t>Where does data go?</a:t>
            </a:r>
          </a:p>
        </p:txBody>
      </p:sp>
      <p:sp>
        <p:nvSpPr>
          <p:cNvPr id="51" name="Rectangle 50"/>
          <p:cNvSpPr/>
          <p:nvPr/>
        </p:nvSpPr>
        <p:spPr>
          <a:xfrm>
            <a:off x="6165372" y="4577484"/>
            <a:ext cx="2623170" cy="579729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6293388" y="4577484"/>
            <a:ext cx="2367138" cy="579729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5B6372"/>
                </a:solidFill>
                <a:latin typeface="Arial"/>
              </a:rPr>
              <a:t>Cloud API vs local Ollama model</a:t>
            </a:r>
          </a:p>
        </p:txBody>
      </p:sp>
      <p:sp>
        <p:nvSpPr>
          <p:cNvPr id="53" name="Rectangle 52"/>
          <p:cNvSpPr/>
          <p:nvPr/>
        </p:nvSpPr>
        <p:spPr>
          <a:xfrm>
            <a:off x="8788542" y="4577484"/>
            <a:ext cx="2623170" cy="579729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8916558" y="4577484"/>
            <a:ext cx="2367138" cy="579729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5B6372"/>
                </a:solidFill>
                <a:latin typeface="Arial"/>
              </a:rPr>
              <a:t>Lab 2</a:t>
            </a:r>
          </a:p>
        </p:txBody>
      </p:sp>
      <p:sp>
        <p:nvSpPr>
          <p:cNvPr id="55" name="Rectangle 54"/>
          <p:cNvSpPr/>
          <p:nvPr/>
        </p:nvSpPr>
        <p:spPr>
          <a:xfrm>
            <a:off x="777240" y="5358381"/>
            <a:ext cx="10634472" cy="8412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777240" y="5358381"/>
            <a:ext cx="100584" cy="84124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1051560" y="5468109"/>
            <a:ext cx="10085832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1F6FEB"/>
                </a:solidFill>
                <a:latin typeface="Arial"/>
              </a:rPr>
              <a:t>WHEN IT MATTERS  </a:t>
            </a:r>
            <a:r>
              <a:rPr sz="1200" b="0">
                <a:solidFill>
                  <a:srgbClr val="161B26"/>
                </a:solidFill>
                <a:latin typeface="Arial"/>
              </a:rPr>
              <a:t>Model choice is an engineering decision made with numbers — not a brand preference.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Develop Multi-Agent AI Applications with AutoGen  ·  TGS-2024045806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24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LO1 · INDICATIVE 1–10 SCORES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Cloud vs Local Model — the Trade-off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777240" y="1783080"/>
          <a:ext cx="10634472" cy="32461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8" name="Rectangle 7"/>
          <p:cNvSpPr/>
          <p:nvPr/>
        </p:nvSpPr>
        <p:spPr>
          <a:xfrm>
            <a:off x="777240" y="5230368"/>
            <a:ext cx="10634472" cy="100584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77240" y="5230368"/>
            <a:ext cx="100584" cy="10058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51560" y="5340096"/>
            <a:ext cx="101498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10B981"/>
                </a:solidFill>
                <a:latin typeface="Arial"/>
              </a:rPr>
              <a:t>WHAT THE DATA SHOWS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1560" y="5632704"/>
            <a:ext cx="101498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Indicative teaching scores, not benchmarks: the cloud model wins on quality; the local model wins on cost and privacy. Lab 2 measures this trade-off on your own machine.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Develop Multi-Agent AI Applications with AutoGen  ·  TGS-2024045806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25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2011680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F6FEB"/>
                </a:solidFill>
                <a:latin typeface="Arial"/>
              </a:rPr>
              <a:t>WHY AGENTS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2560320"/>
            <a:ext cx="10332720" cy="2194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3800" b="1">
                <a:solidFill>
                  <a:srgbClr val="161B26"/>
                </a:solidFill>
                <a:latin typeface="Arial"/>
              </a:rPr>
              <a:t>An LLM answers. An agent acts.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24128" y="4480560"/>
            <a:ext cx="100584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0">
                <a:solidFill>
                  <a:srgbClr val="5B6372"/>
                </a:solidFill>
                <a:latin typeface="Arial"/>
              </a:rPr>
              <a:t>An AI agent wraps the model with a role, memory and tools — so it can complete tasks, not just produce text.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Develop Multi-Agent AI Applications with AutoGen  ·  TGS-2024045806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26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7C3AED"/>
                </a:solidFill>
                <a:latin typeface="Arial"/>
              </a:rPr>
              <a:t>THE SIX INGREDIENTS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What Makes a System 'Agentic'?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129844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33272" y="2157984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3272" y="2157984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4792" y="1911096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Reasoning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The model plans a sequence of steps instead of answering in one shot.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129844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87668" y="2157984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87668" y="2157984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19188" y="1911096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Tool use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It calls functions and APIs to fetch live data or take real actions.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3319272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3319272"/>
            <a:ext cx="91440" cy="129844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33272" y="3694176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33272" y="3694176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64792" y="3447288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Memory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Conversation context lets it carry state across many turns.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3319272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3319272"/>
            <a:ext cx="91440" cy="129844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87668" y="3694176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87668" y="3694176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19188" y="3447288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Autonomy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It decides which tool to call — or which specialist agent should act next.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77240" y="4855464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77240" y="4855464"/>
            <a:ext cx="91440" cy="129844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1033272" y="5230368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33272" y="5230368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764792" y="4983480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Collaboration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Multiple specialised agents divide the work and hand off between themselves.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231636" y="4855464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231636" y="4855464"/>
            <a:ext cx="91440" cy="129844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6487668" y="5230368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87668" y="5230368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219188" y="4983480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Guardrails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System messages, termination conditions and human approval constrain what it may do.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Develop Multi-Agent AI Applications with AutoGen  ·  TGS-2024045806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27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7C3AED"/>
                </a:solidFill>
                <a:latin typeface="Arial"/>
              </a:rPr>
              <a:t>THE PATTERN BEHIND EVERY AGENT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The Agentic Loop — Reason, Act, Observe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77240" y="2148840"/>
            <a:ext cx="1819656" cy="2148840"/>
          </a:xfrm>
          <a:prstGeom prst="roundRect">
            <a:avLst>
              <a:gd name="adj" fmla="val 10000"/>
            </a:avLst>
          </a:prstGeom>
          <a:solidFill>
            <a:srgbClr val="F5F8FC"/>
          </a:solidFill>
          <a:ln w="1587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2148840"/>
            <a:ext cx="1819656" cy="10058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403604" y="2459736"/>
            <a:ext cx="566928" cy="566928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403604" y="2459736"/>
            <a:ext cx="566928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05256" y="3118104"/>
            <a:ext cx="1563624" cy="8595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Perceive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" y="3822192"/>
            <a:ext cx="1636776" cy="3474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Read the request and…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2651760" y="3223260"/>
            <a:ext cx="274320" cy="0"/>
          </a:xfrm>
          <a:prstGeom prst="line">
            <a:avLst/>
          </a:prstGeom>
          <a:ln w="25400">
            <a:solidFill>
              <a:srgbClr val="7C3AED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2980944" y="2148840"/>
            <a:ext cx="1819656" cy="2148840"/>
          </a:xfrm>
          <a:prstGeom prst="roundRect">
            <a:avLst>
              <a:gd name="adj" fmla="val 10000"/>
            </a:avLst>
          </a:prstGeom>
          <a:solidFill>
            <a:srgbClr val="F5F8FC"/>
          </a:solidFill>
          <a:ln w="1587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2980944" y="2148840"/>
            <a:ext cx="1819656" cy="10058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3607308" y="2459736"/>
            <a:ext cx="566928" cy="566928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607308" y="2459736"/>
            <a:ext cx="566928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108960" y="3118104"/>
            <a:ext cx="1563624" cy="8595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Reason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072384" y="3822192"/>
            <a:ext cx="1636776" cy="3474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Plan which step or tool…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4855464" y="3223260"/>
            <a:ext cx="274320" cy="0"/>
          </a:xfrm>
          <a:prstGeom prst="line">
            <a:avLst/>
          </a:prstGeom>
          <a:ln w="25400">
            <a:solidFill>
              <a:srgbClr val="7C3AED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ounded Rectangle 20"/>
          <p:cNvSpPr/>
          <p:nvPr/>
        </p:nvSpPr>
        <p:spPr>
          <a:xfrm>
            <a:off x="5184648" y="2148840"/>
            <a:ext cx="1819656" cy="2148840"/>
          </a:xfrm>
          <a:prstGeom prst="roundRect">
            <a:avLst>
              <a:gd name="adj" fmla="val 10000"/>
            </a:avLst>
          </a:prstGeom>
          <a:solidFill>
            <a:srgbClr val="F5F8FC"/>
          </a:solidFill>
          <a:ln w="1587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184648" y="2148840"/>
            <a:ext cx="1819656" cy="10058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5811012" y="2459736"/>
            <a:ext cx="566928" cy="566928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811012" y="2459736"/>
            <a:ext cx="566928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312664" y="3118104"/>
            <a:ext cx="1563624" cy="8595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Act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276088" y="3822192"/>
            <a:ext cx="1636776" cy="3474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Call a tool, or hand off…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7059168" y="3223260"/>
            <a:ext cx="274320" cy="0"/>
          </a:xfrm>
          <a:prstGeom prst="line">
            <a:avLst/>
          </a:prstGeom>
          <a:ln w="25400">
            <a:solidFill>
              <a:srgbClr val="7C3AED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Rounded Rectangle 27"/>
          <p:cNvSpPr/>
          <p:nvPr/>
        </p:nvSpPr>
        <p:spPr>
          <a:xfrm>
            <a:off x="7388352" y="2148840"/>
            <a:ext cx="1819656" cy="2148840"/>
          </a:xfrm>
          <a:prstGeom prst="roundRect">
            <a:avLst>
              <a:gd name="adj" fmla="val 10000"/>
            </a:avLst>
          </a:prstGeom>
          <a:solidFill>
            <a:srgbClr val="F5F8FC"/>
          </a:solidFill>
          <a:ln w="1587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7388352" y="2148840"/>
            <a:ext cx="1819656" cy="10058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8014716" y="2459736"/>
            <a:ext cx="566928" cy="566928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014716" y="2459736"/>
            <a:ext cx="566928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516368" y="3118104"/>
            <a:ext cx="1563624" cy="8595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Observe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479792" y="3822192"/>
            <a:ext cx="1636776" cy="3474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Read the tool result back…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9262872" y="3223260"/>
            <a:ext cx="274320" cy="0"/>
          </a:xfrm>
          <a:prstGeom prst="line">
            <a:avLst/>
          </a:prstGeom>
          <a:ln w="25400">
            <a:solidFill>
              <a:srgbClr val="7C3AED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Rounded Rectangle 34"/>
          <p:cNvSpPr/>
          <p:nvPr/>
        </p:nvSpPr>
        <p:spPr>
          <a:xfrm>
            <a:off x="9592056" y="2148840"/>
            <a:ext cx="1819656" cy="2148840"/>
          </a:xfrm>
          <a:prstGeom prst="roundRect">
            <a:avLst>
              <a:gd name="adj" fmla="val 10000"/>
            </a:avLst>
          </a:prstGeom>
          <a:solidFill>
            <a:srgbClr val="F5F8FC"/>
          </a:solidFill>
          <a:ln w="1587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9592056" y="2148840"/>
            <a:ext cx="1819656" cy="10058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10218420" y="2459736"/>
            <a:ext cx="566928" cy="566928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0218420" y="2459736"/>
            <a:ext cx="566928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720072" y="3118104"/>
            <a:ext cx="1563624" cy="8595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Respond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683496" y="3822192"/>
            <a:ext cx="1636776" cy="3474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Answer, or loop again if…</a:t>
            </a:r>
          </a:p>
        </p:txBody>
      </p:sp>
      <p:sp>
        <p:nvSpPr>
          <p:cNvPr id="41" name="Rectangle 40"/>
          <p:cNvSpPr/>
          <p:nvPr/>
        </p:nvSpPr>
        <p:spPr>
          <a:xfrm>
            <a:off x="777240" y="4608576"/>
            <a:ext cx="10634472" cy="10515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777240" y="4608576"/>
            <a:ext cx="100584" cy="105156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1051560" y="4718304"/>
            <a:ext cx="1014984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7C3AED"/>
                </a:solidFill>
                <a:latin typeface="Arial"/>
              </a:rPr>
              <a:t>WHY IT MATTERS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51560" y="5029200"/>
            <a:ext cx="1014984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The loop is what separates an agent from a chatbot: it can take several actions before answering, and it decides how many.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Develop Multi-Agent AI Applications with AutoGen  ·  TGS-2024045806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28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0" fill="hold">
                      <p:stCondLst>
                        <p:cond delay="indefinite"/>
                      </p:stCondLst>
                      <p:childTnLst>
                        <p:par>
                          <p:cTn id="61" fill="hold">
                            <p:stCondLst>
                              <p:cond delay="0"/>
                            </p:stCondLst>
                            <p:childTnLst>
                              <p:par>
                                <p:cTn id="6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0" fill="hold">
                      <p:stCondLst>
                        <p:cond delay="indefinite"/>
                      </p:stCondLst>
                      <p:childTnLst>
                        <p:par>
                          <p:cTn id="71" fill="hold">
                            <p:stCondLst>
                              <p:cond delay="0"/>
                            </p:stCondLst>
                            <p:childTnLst>
                              <p:par>
                                <p:cTn id="7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4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0" fill="hold">
                      <p:stCondLst>
                        <p:cond delay="indefinite"/>
                      </p:stCondLst>
                      <p:childTnLst>
                        <p:par>
                          <p:cTn id="81" fill="hold">
                            <p:stCondLst>
                              <p:cond delay="0"/>
                            </p:stCondLst>
                            <p:childTnLst>
                              <p:par>
                                <p:cTn id="8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4" dur="4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0" fill="hold">
                      <p:stCondLst>
                        <p:cond delay="indefinite"/>
                      </p:stCondLst>
                      <p:childTnLst>
                        <p:par>
                          <p:cTn id="91" fill="hold">
                            <p:stCondLst>
                              <p:cond delay="0"/>
                            </p:stCondLst>
                            <p:childTnLst>
                              <p:par>
                                <p:cTn id="9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4" dur="4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  <p:transition spd="fast" advClick="1">
    <p:fade/>
  </p:transition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7C3AED"/>
                </a:solidFill>
                <a:latin typeface="Arial"/>
              </a:rPr>
              <a:t>THE BIG IDEA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Multi-Agent Systems — Specialists That Collaborate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947809" y="1718310"/>
            <a:ext cx="6293334" cy="3558540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agents_colla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66859" y="1737360"/>
            <a:ext cx="6255234" cy="352044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777240" y="5440680"/>
            <a:ext cx="10634472" cy="868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77240" y="5440680"/>
            <a:ext cx="100584" cy="86868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51560" y="5532120"/>
            <a:ext cx="101498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7C3AED"/>
                </a:solidFill>
                <a:latin typeface="Arial"/>
              </a:rPr>
              <a:t>THE IDEA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1560" y="5806440"/>
            <a:ext cx="101498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One agent with twenty jobs fails quietly; several agents with one job each can be tested, routed and trusted. Dividing work across specialists is the core idea of this course.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Develop Multi-Agent AI Applications with AutoGen  ·  TGS-2024045806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29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LO3 · CHOOSING THE RIGHT ARCHITECTURE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LLM vs Single Agent vs Multi-Agent System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2764962" cy="47548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05256" y="1783080"/>
            <a:ext cx="2508930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Dimension</a:t>
            </a:r>
          </a:p>
        </p:txBody>
      </p:sp>
      <p:sp>
        <p:nvSpPr>
          <p:cNvPr id="9" name="Rectangle 8"/>
          <p:cNvSpPr/>
          <p:nvPr/>
        </p:nvSpPr>
        <p:spPr>
          <a:xfrm>
            <a:off x="3542202" y="1783080"/>
            <a:ext cx="2623170" cy="47548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70218" y="1783080"/>
            <a:ext cx="2367138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Plain LLM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165372" y="1783080"/>
            <a:ext cx="2623170" cy="47548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293388" y="1783080"/>
            <a:ext cx="2367138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Single Agent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788542" y="1783080"/>
            <a:ext cx="2623170" cy="47548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916558" y="1783080"/>
            <a:ext cx="2367138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Multi-Agent System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77240" y="2258568"/>
            <a:ext cx="2764962" cy="579729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05256" y="2258568"/>
            <a:ext cx="2508930" cy="579729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>
                <a:solidFill>
                  <a:srgbClr val="161B26"/>
                </a:solidFill>
                <a:latin typeface="Arial"/>
              </a:rPr>
              <a:t>What it does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542202" y="2258568"/>
            <a:ext cx="2623170" cy="579729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670218" y="2258568"/>
            <a:ext cx="2367138" cy="579729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5B6372"/>
                </a:solidFill>
                <a:latin typeface="Arial"/>
              </a:rPr>
              <a:t>Generates text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165372" y="2258568"/>
            <a:ext cx="2623170" cy="579729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93388" y="2258568"/>
            <a:ext cx="2367138" cy="579729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5B6372"/>
                </a:solidFill>
                <a:latin typeface="Arial"/>
              </a:rPr>
              <a:t>Completes a task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788542" y="2258568"/>
            <a:ext cx="2623170" cy="579729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916558" y="2258568"/>
            <a:ext cx="2367138" cy="579729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5B6372"/>
                </a:solidFill>
                <a:latin typeface="Arial"/>
              </a:rPr>
              <a:t>Divides work across specialists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77240" y="2838297"/>
            <a:ext cx="2764962" cy="579729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05256" y="2838297"/>
            <a:ext cx="2508930" cy="579729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>
                <a:solidFill>
                  <a:srgbClr val="161B26"/>
                </a:solidFill>
                <a:latin typeface="Arial"/>
              </a:rPr>
              <a:t>Memory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542202" y="2838297"/>
            <a:ext cx="2623170" cy="579729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670218" y="2838297"/>
            <a:ext cx="2367138" cy="579729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5B6372"/>
                </a:solidFill>
                <a:latin typeface="Arial"/>
              </a:rPr>
              <a:t>None — stateless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165372" y="2838297"/>
            <a:ext cx="2623170" cy="579729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293388" y="2838297"/>
            <a:ext cx="2367138" cy="579729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5B6372"/>
                </a:solidFill>
                <a:latin typeface="Arial"/>
              </a:rPr>
              <a:t>Conversation context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788542" y="2838297"/>
            <a:ext cx="2623170" cy="579729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916558" y="2838297"/>
            <a:ext cx="2367138" cy="579729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5B6372"/>
                </a:solidFill>
                <a:latin typeface="Arial"/>
              </a:rPr>
              <a:t>Shared team conversation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77240" y="3418026"/>
            <a:ext cx="2764962" cy="579729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05256" y="3418026"/>
            <a:ext cx="2508930" cy="579729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>
                <a:solidFill>
                  <a:srgbClr val="161B26"/>
                </a:solidFill>
                <a:latin typeface="Arial"/>
              </a:rPr>
              <a:t>Tools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542202" y="3418026"/>
            <a:ext cx="2623170" cy="579729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70218" y="3418026"/>
            <a:ext cx="2367138" cy="579729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5B6372"/>
                </a:solidFill>
                <a:latin typeface="Arial"/>
              </a:rPr>
              <a:t>None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165372" y="3418026"/>
            <a:ext cx="2623170" cy="579729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293388" y="3418026"/>
            <a:ext cx="2367138" cy="579729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5B6372"/>
                </a:solidFill>
                <a:latin typeface="Arial"/>
              </a:rPr>
              <a:t>Its own tool set</a:t>
            </a:r>
          </a:p>
        </p:txBody>
      </p:sp>
      <p:sp>
        <p:nvSpPr>
          <p:cNvPr id="37" name="Rectangle 36"/>
          <p:cNvSpPr/>
          <p:nvPr/>
        </p:nvSpPr>
        <p:spPr>
          <a:xfrm>
            <a:off x="8788542" y="3418026"/>
            <a:ext cx="2623170" cy="579729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916558" y="3418026"/>
            <a:ext cx="2367138" cy="579729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5B6372"/>
                </a:solidFill>
                <a:latin typeface="Arial"/>
              </a:rPr>
              <a:t>Each agent has its own tools</a:t>
            </a:r>
          </a:p>
        </p:txBody>
      </p:sp>
      <p:sp>
        <p:nvSpPr>
          <p:cNvPr id="39" name="Rectangle 38"/>
          <p:cNvSpPr/>
          <p:nvPr/>
        </p:nvSpPr>
        <p:spPr>
          <a:xfrm>
            <a:off x="777240" y="3997755"/>
            <a:ext cx="2764962" cy="579729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905256" y="3997755"/>
            <a:ext cx="2508930" cy="579729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>
                <a:solidFill>
                  <a:srgbClr val="161B26"/>
                </a:solidFill>
                <a:latin typeface="Arial"/>
              </a:rPr>
              <a:t>Best for</a:t>
            </a:r>
          </a:p>
        </p:txBody>
      </p:sp>
      <p:sp>
        <p:nvSpPr>
          <p:cNvPr id="41" name="Rectangle 40"/>
          <p:cNvSpPr/>
          <p:nvPr/>
        </p:nvSpPr>
        <p:spPr>
          <a:xfrm>
            <a:off x="3542202" y="3997755"/>
            <a:ext cx="2623170" cy="579729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3670218" y="3997755"/>
            <a:ext cx="2367138" cy="579729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5B6372"/>
                </a:solidFill>
                <a:latin typeface="Arial"/>
              </a:rPr>
              <a:t>Drafting, summarising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165372" y="3997755"/>
            <a:ext cx="2623170" cy="579729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293388" y="3997755"/>
            <a:ext cx="2367138" cy="579729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5B6372"/>
                </a:solidFill>
                <a:latin typeface="Arial"/>
              </a:rPr>
              <a:t>One well-defined job</a:t>
            </a:r>
          </a:p>
        </p:txBody>
      </p:sp>
      <p:sp>
        <p:nvSpPr>
          <p:cNvPr id="45" name="Rectangle 44"/>
          <p:cNvSpPr/>
          <p:nvPr/>
        </p:nvSpPr>
        <p:spPr>
          <a:xfrm>
            <a:off x="8788542" y="3997755"/>
            <a:ext cx="2623170" cy="579729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8916558" y="3997755"/>
            <a:ext cx="2367138" cy="579729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5B6372"/>
                </a:solidFill>
                <a:latin typeface="Arial"/>
              </a:rPr>
              <a:t>Broad domains, varied requests</a:t>
            </a:r>
          </a:p>
        </p:txBody>
      </p:sp>
      <p:sp>
        <p:nvSpPr>
          <p:cNvPr id="47" name="Rectangle 46"/>
          <p:cNvSpPr/>
          <p:nvPr/>
        </p:nvSpPr>
        <p:spPr>
          <a:xfrm>
            <a:off x="777240" y="4577484"/>
            <a:ext cx="2764962" cy="579729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905256" y="4577484"/>
            <a:ext cx="2508930" cy="579729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>
                <a:solidFill>
                  <a:srgbClr val="161B26"/>
                </a:solidFill>
                <a:latin typeface="Arial"/>
              </a:rPr>
              <a:t>Main risk</a:t>
            </a:r>
          </a:p>
        </p:txBody>
      </p:sp>
      <p:sp>
        <p:nvSpPr>
          <p:cNvPr id="49" name="Rectangle 48"/>
          <p:cNvSpPr/>
          <p:nvPr/>
        </p:nvSpPr>
        <p:spPr>
          <a:xfrm>
            <a:off x="3542202" y="4577484"/>
            <a:ext cx="2623170" cy="579729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3670218" y="4577484"/>
            <a:ext cx="2367138" cy="579729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5B6372"/>
                </a:solidFill>
                <a:latin typeface="Arial"/>
              </a:rPr>
              <a:t>Hallucination</a:t>
            </a:r>
          </a:p>
        </p:txBody>
      </p:sp>
      <p:sp>
        <p:nvSpPr>
          <p:cNvPr id="51" name="Rectangle 50"/>
          <p:cNvSpPr/>
          <p:nvPr/>
        </p:nvSpPr>
        <p:spPr>
          <a:xfrm>
            <a:off x="6165372" y="4577484"/>
            <a:ext cx="2623170" cy="579729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6293388" y="4577484"/>
            <a:ext cx="2367138" cy="579729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5B6372"/>
                </a:solidFill>
                <a:latin typeface="Arial"/>
              </a:rPr>
              <a:t>Overloaded instruction</a:t>
            </a:r>
          </a:p>
        </p:txBody>
      </p:sp>
      <p:sp>
        <p:nvSpPr>
          <p:cNvPr id="53" name="Rectangle 52"/>
          <p:cNvSpPr/>
          <p:nvPr/>
        </p:nvSpPr>
        <p:spPr>
          <a:xfrm>
            <a:off x="8788542" y="4577484"/>
            <a:ext cx="2623170" cy="579729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8916558" y="4577484"/>
            <a:ext cx="2367138" cy="579729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5B6372"/>
                </a:solidFill>
                <a:latin typeface="Arial"/>
              </a:rPr>
              <a:t>Wrong routing / endless loops</a:t>
            </a:r>
          </a:p>
        </p:txBody>
      </p:sp>
      <p:sp>
        <p:nvSpPr>
          <p:cNvPr id="55" name="Rectangle 54"/>
          <p:cNvSpPr/>
          <p:nvPr/>
        </p:nvSpPr>
        <p:spPr>
          <a:xfrm>
            <a:off x="777240" y="5358381"/>
            <a:ext cx="10634472" cy="8412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777240" y="5358381"/>
            <a:ext cx="100584" cy="84124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1051560" y="5468109"/>
            <a:ext cx="10085832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1F6FEB"/>
                </a:solidFill>
                <a:latin typeface="Arial"/>
              </a:rPr>
              <a:t>WHEN IT MATTERS  </a:t>
            </a:r>
            <a:r>
              <a:rPr sz="1200" b="0">
                <a:solidFill>
                  <a:srgbClr val="161B26"/>
                </a:solidFill>
                <a:latin typeface="Arial"/>
              </a:rPr>
              <a:t>Add agents only when one instruction can no longer describe the job clearly — complexity you don't need is complexity you must still debug.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Develop Multi-Agent AI Applications with AutoGen  ·  TGS-2024045806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30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WHY NOW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From RPA to Agentic Process Automation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21208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355080" y="1783080"/>
            <a:ext cx="507492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1965960"/>
            <a:ext cx="47548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F6FEB"/>
                </a:solidFill>
                <a:latin typeface="Arial"/>
              </a:rPr>
              <a:t>Yesterday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0" y="1965960"/>
            <a:ext cx="4572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0B981"/>
                </a:solidFill>
                <a:latin typeface="Arial"/>
              </a:rPr>
              <a:t>Today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2468880"/>
            <a:ext cx="475488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RPA — Robotic Process Automation</a:t>
            </a:r>
          </a:p>
          <a:p>
            <a:pPr>
              <a:spcAft>
                <a:spcPts val="1000"/>
              </a:spcAft>
            </a:pPr>
            <a:r>
              <a:rPr sz="1400" b="0">
                <a:solidFill>
                  <a:srgbClr val="5B6372"/>
                </a:solidFill>
                <a:latin typeface="Arial"/>
              </a:rPr>
              <a:t>–  Scripted clicks and keystrokes</a:t>
            </a:r>
          </a:p>
          <a:p>
            <a:pPr>
              <a:spcAft>
                <a:spcPts val="1000"/>
              </a:spcAft>
            </a:pPr>
            <a:r>
              <a:rPr sz="1400" b="0">
                <a:solidFill>
                  <a:srgbClr val="5B6372"/>
                </a:solidFill>
                <a:latin typeface="Arial"/>
              </a:rPr>
              <a:t>–  Breaks when the screen changes</a:t>
            </a:r>
          </a:p>
          <a:p>
            <a:pPr>
              <a:spcAft>
                <a:spcPts val="1000"/>
              </a:spcAft>
            </a:pPr>
            <a:r>
              <a:rPr sz="1400" b="0">
                <a:solidFill>
                  <a:srgbClr val="5B6372"/>
                </a:solidFill>
                <a:latin typeface="Arial"/>
              </a:rPr>
              <a:t>–  No understanding of content</a:t>
            </a:r>
          </a:p>
          <a:p>
            <a:pPr>
              <a:spcAft>
                <a:spcPts val="1000"/>
              </a:spcAft>
            </a:pPr>
            <a:r>
              <a:rPr sz="1400" b="0">
                <a:solidFill>
                  <a:srgbClr val="5B6372"/>
                </a:solidFill>
                <a:latin typeface="Arial"/>
              </a:rPr>
              <a:t>–  Good for stable, repetitive flows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0" y="2468880"/>
            <a:ext cx="461772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APA — Agentic Process Automation</a:t>
            </a:r>
          </a:p>
          <a:p>
            <a:pPr>
              <a:spcAft>
                <a:spcPts val="1000"/>
              </a:spcAft>
            </a:pPr>
            <a:r>
              <a:rPr sz="1400" b="0">
                <a:solidFill>
                  <a:srgbClr val="5B6372"/>
                </a:solidFill>
                <a:latin typeface="Arial"/>
              </a:rPr>
              <a:t>–  Agents reason about goals, not scripts</a:t>
            </a:r>
          </a:p>
          <a:p>
            <a:pPr>
              <a:spcAft>
                <a:spcPts val="1000"/>
              </a:spcAft>
            </a:pPr>
            <a:r>
              <a:rPr sz="1400" b="0">
                <a:solidFill>
                  <a:srgbClr val="5B6372"/>
                </a:solidFill>
                <a:latin typeface="Arial"/>
              </a:rPr>
              <a:t>–  Adapts: reads content, decides, calls tools</a:t>
            </a:r>
          </a:p>
          <a:p>
            <a:pPr>
              <a:spcAft>
                <a:spcPts val="1000"/>
              </a:spcAft>
            </a:pPr>
            <a:r>
              <a:rPr sz="1400" b="0">
                <a:solidFill>
                  <a:srgbClr val="5B6372"/>
                </a:solidFill>
                <a:latin typeface="Arial"/>
              </a:rPr>
              <a:t>–  Handles exceptions and hands off to humans</a:t>
            </a:r>
          </a:p>
          <a:p>
            <a:pPr>
              <a:spcAft>
                <a:spcPts val="1000"/>
              </a:spcAft>
            </a:pPr>
            <a:r>
              <a:rPr sz="1400" b="0">
                <a:solidFill>
                  <a:srgbClr val="5B6372"/>
                </a:solidFill>
                <a:latin typeface="Arial"/>
              </a:rPr>
              <a:t>–  Good for knowledge work with variation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Develop Multi-Agent AI Applications with AutoGen  ·  TGS-2024045806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31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LO3 · WHERE IT PAYS OFF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Industry Use Cases of Multi-Agent AI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333756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3337560" cy="10972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2011680"/>
            <a:ext cx="29260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900" b="1">
                <a:solidFill>
                  <a:srgbClr val="1F6FEB"/>
                </a:solidFill>
                <a:latin typeface="Arial"/>
              </a:rPr>
              <a:t>Customer Support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697480"/>
            <a:ext cx="292608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•  L1 triage agent classifies tickets</a:t>
            </a:r>
          </a:p>
          <a:p>
            <a:pPr>
              <a:spcAft>
                <a:spcPts val="9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•  Knowledge agent drafts grounded replies</a:t>
            </a:r>
          </a:p>
          <a:p>
            <a:pPr>
              <a:spcAft>
                <a:spcPts val="9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•  Escalation agent routes to humans</a:t>
            </a:r>
          </a:p>
          <a:p>
            <a:pPr>
              <a:spcAft>
                <a:spcPts val="9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•  24/7 first response, faster resolution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0" y="1783080"/>
            <a:ext cx="333756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0" y="1783080"/>
            <a:ext cx="3337560" cy="10972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800600" y="2011680"/>
            <a:ext cx="29260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900" b="1">
                <a:solidFill>
                  <a:srgbClr val="10B981"/>
                </a:solidFill>
                <a:latin typeface="Arial"/>
              </a:rPr>
              <a:t>Finance &amp; Operations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00600" y="2697480"/>
            <a:ext cx="292608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•  Research + analysis agent pairs</a:t>
            </a:r>
          </a:p>
          <a:p>
            <a:pPr>
              <a:spcAft>
                <a:spcPts val="9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•  Report writer with reviewer agent</a:t>
            </a:r>
          </a:p>
          <a:p>
            <a:pPr>
              <a:spcAft>
                <a:spcPts val="9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•  Compliance checks with citations</a:t>
            </a:r>
          </a:p>
          <a:p>
            <a:pPr>
              <a:spcAft>
                <a:spcPts val="9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•  Human approval before anything ships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366760" y="1783080"/>
            <a:ext cx="333756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366760" y="1783080"/>
            <a:ext cx="3337560" cy="10972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595360" y="2011680"/>
            <a:ext cx="29260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900" b="1">
                <a:solidFill>
                  <a:srgbClr val="7C3AED"/>
                </a:solidFill>
                <a:latin typeface="Arial"/>
              </a:rPr>
              <a:t>Software &amp; Data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95360" y="2697480"/>
            <a:ext cx="292608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•  Coder + tester agent loops</a:t>
            </a:r>
          </a:p>
          <a:p>
            <a:pPr>
              <a:spcAft>
                <a:spcPts val="9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•  Data-pipeline monitoring agents</a:t>
            </a:r>
          </a:p>
          <a:p>
            <a:pPr>
              <a:spcAft>
                <a:spcPts val="9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•  Documentation writers with critics</a:t>
            </a:r>
          </a:p>
          <a:p>
            <a:pPr>
              <a:spcAft>
                <a:spcPts val="9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•  Feasibility checks before rollout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Develop Multi-Agent AI Applications with AutoGen  ·  TGS-2024045806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32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7C3AED"/>
                </a:solidFill>
                <a:latin typeface="Arial"/>
              </a:rPr>
              <a:t>LO3 · KNOW YOUR OPTIONS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Multi-Agent Frameworks — the Landscape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2764962" cy="47548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05256" y="1783080"/>
            <a:ext cx="2508930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Framework</a:t>
            </a:r>
          </a:p>
        </p:txBody>
      </p:sp>
      <p:sp>
        <p:nvSpPr>
          <p:cNvPr id="9" name="Rectangle 8"/>
          <p:cNvSpPr/>
          <p:nvPr/>
        </p:nvSpPr>
        <p:spPr>
          <a:xfrm>
            <a:off x="3542202" y="1783080"/>
            <a:ext cx="2623170" cy="47548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70218" y="1783080"/>
            <a:ext cx="2367138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Orchestration style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165372" y="1783080"/>
            <a:ext cx="2623170" cy="47548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293388" y="1783080"/>
            <a:ext cx="2367138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Strengths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788542" y="1783080"/>
            <a:ext cx="2623170" cy="47548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916558" y="1783080"/>
            <a:ext cx="2367138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Best fit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77240" y="2258568"/>
            <a:ext cx="2764962" cy="71323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05256" y="2258568"/>
            <a:ext cx="250893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>
                <a:solidFill>
                  <a:srgbClr val="161B26"/>
                </a:solidFill>
                <a:latin typeface="Arial"/>
              </a:rPr>
              <a:t>AutoGen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542202" y="2258568"/>
            <a:ext cx="2623170" cy="71323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670218" y="2258568"/>
            <a:ext cx="2367138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5B6372"/>
                </a:solidFill>
                <a:latin typeface="Arial"/>
              </a:rPr>
              <a:t>Conversation-driven teams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165372" y="2258568"/>
            <a:ext cx="2623170" cy="71323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93388" y="2258568"/>
            <a:ext cx="2367138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5B6372"/>
                </a:solidFill>
                <a:latin typeface="Arial"/>
              </a:rPr>
              <a:t>Teams, tools, human-in-loop, Studio UI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788542" y="2258568"/>
            <a:ext cx="2623170" cy="71323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916558" y="2258568"/>
            <a:ext cx="2367138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5B6372"/>
                </a:solidFill>
                <a:latin typeface="Arial"/>
              </a:rPr>
              <a:t>This course — flexible agent teams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77240" y="2971800"/>
            <a:ext cx="2764962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05256" y="2971800"/>
            <a:ext cx="250893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>
                <a:solidFill>
                  <a:srgbClr val="161B26"/>
                </a:solidFill>
                <a:latin typeface="Arial"/>
              </a:rPr>
              <a:t>LangGraph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542202" y="2971800"/>
            <a:ext cx="262317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670218" y="2971800"/>
            <a:ext cx="2367138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5B6372"/>
                </a:solidFill>
                <a:latin typeface="Arial"/>
              </a:rPr>
              <a:t>Explicit state graph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165372" y="2971800"/>
            <a:ext cx="262317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293388" y="2971800"/>
            <a:ext cx="2367138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5B6372"/>
                </a:solidFill>
                <a:latin typeface="Arial"/>
              </a:rPr>
              <a:t>Deterministic flows, persistence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788542" y="2971800"/>
            <a:ext cx="262317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916558" y="2971800"/>
            <a:ext cx="2367138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5B6372"/>
                </a:solidFill>
                <a:latin typeface="Arial"/>
              </a:rPr>
              <a:t>Regulated, auditable pipelines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77240" y="3685032"/>
            <a:ext cx="2764962" cy="71323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05256" y="3685032"/>
            <a:ext cx="250893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>
                <a:solidFill>
                  <a:srgbClr val="161B26"/>
                </a:solidFill>
                <a:latin typeface="Arial"/>
              </a:rPr>
              <a:t>CrewAI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542202" y="3685032"/>
            <a:ext cx="2623170" cy="71323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70218" y="3685032"/>
            <a:ext cx="2367138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5B6372"/>
                </a:solidFill>
                <a:latin typeface="Arial"/>
              </a:rPr>
              <a:t>Role/task crews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165372" y="3685032"/>
            <a:ext cx="2623170" cy="71323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293388" y="3685032"/>
            <a:ext cx="2367138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5B6372"/>
                </a:solidFill>
                <a:latin typeface="Arial"/>
              </a:rPr>
              <a:t>Fast role-based prototyping</a:t>
            </a:r>
          </a:p>
        </p:txBody>
      </p:sp>
      <p:sp>
        <p:nvSpPr>
          <p:cNvPr id="37" name="Rectangle 36"/>
          <p:cNvSpPr/>
          <p:nvPr/>
        </p:nvSpPr>
        <p:spPr>
          <a:xfrm>
            <a:off x="8788542" y="3685032"/>
            <a:ext cx="2623170" cy="71323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916558" y="3685032"/>
            <a:ext cx="2367138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5B6372"/>
                </a:solidFill>
                <a:latin typeface="Arial"/>
              </a:rPr>
              <a:t>Content and research crews</a:t>
            </a:r>
          </a:p>
        </p:txBody>
      </p:sp>
      <p:sp>
        <p:nvSpPr>
          <p:cNvPr id="39" name="Rectangle 38"/>
          <p:cNvSpPr/>
          <p:nvPr/>
        </p:nvSpPr>
        <p:spPr>
          <a:xfrm>
            <a:off x="777240" y="4398264"/>
            <a:ext cx="2764962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905256" y="4398264"/>
            <a:ext cx="250893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>
                <a:solidFill>
                  <a:srgbClr val="161B26"/>
                </a:solidFill>
                <a:latin typeface="Arial"/>
              </a:rPr>
              <a:t>Semantic Kernel</a:t>
            </a:r>
          </a:p>
        </p:txBody>
      </p:sp>
      <p:sp>
        <p:nvSpPr>
          <p:cNvPr id="41" name="Rectangle 40"/>
          <p:cNvSpPr/>
          <p:nvPr/>
        </p:nvSpPr>
        <p:spPr>
          <a:xfrm>
            <a:off x="3542202" y="4398264"/>
            <a:ext cx="262317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3670218" y="4398264"/>
            <a:ext cx="2367138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5B6372"/>
                </a:solidFill>
                <a:latin typeface="Arial"/>
              </a:rPr>
              <a:t>Skills + planners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165372" y="4398264"/>
            <a:ext cx="262317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293388" y="4398264"/>
            <a:ext cx="2367138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5B6372"/>
                </a:solidFill>
                <a:latin typeface="Arial"/>
              </a:rPr>
              <a:t>.NET/enterprise integration</a:t>
            </a:r>
          </a:p>
        </p:txBody>
      </p:sp>
      <p:sp>
        <p:nvSpPr>
          <p:cNvPr id="45" name="Rectangle 44"/>
          <p:cNvSpPr/>
          <p:nvPr/>
        </p:nvSpPr>
        <p:spPr>
          <a:xfrm>
            <a:off x="8788542" y="4398264"/>
            <a:ext cx="262317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8916558" y="4398264"/>
            <a:ext cx="2367138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5B6372"/>
                </a:solidFill>
                <a:latin typeface="Arial"/>
              </a:rPr>
              <a:t>Microsoft-stack enterprises</a:t>
            </a:r>
          </a:p>
        </p:txBody>
      </p:sp>
      <p:sp>
        <p:nvSpPr>
          <p:cNvPr id="47" name="Rectangle 46"/>
          <p:cNvSpPr/>
          <p:nvPr/>
        </p:nvSpPr>
        <p:spPr>
          <a:xfrm>
            <a:off x="777240" y="5312664"/>
            <a:ext cx="10634472" cy="8412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777240" y="5312664"/>
            <a:ext cx="100584" cy="84124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1051560" y="5422392"/>
            <a:ext cx="10085832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7C3AED"/>
                </a:solidFill>
                <a:latin typeface="Arial"/>
              </a:rPr>
              <a:t>WHEN IT MATTERS  </a:t>
            </a:r>
            <a:r>
              <a:rPr sz="1200" b="0">
                <a:solidFill>
                  <a:srgbClr val="161B26"/>
                </a:solidFill>
                <a:latin typeface="Arial"/>
              </a:rPr>
              <a:t>The concepts transfer: agents, tools, memory and termination exist in every framework — AutoGen is our vehicle for learning them.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Develop Multi-Agent AI Applications with AutoGen  ·  TGS-2024045806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33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TOPIC 1 PREVIEW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What is AutoGen?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206654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33272" y="2542032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3272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4792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700" b="1">
                <a:solidFill>
                  <a:srgbClr val="161B26"/>
                </a:solidFill>
                <a:latin typeface="Arial"/>
              </a:rPr>
              <a:t>Microsoft open source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A framework for building multi-agent AI applications, maintained by Microsoft Research.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206654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87668" y="2542032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87668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19188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700" b="1">
                <a:solidFill>
                  <a:srgbClr val="161B26"/>
                </a:solidFill>
                <a:latin typeface="Arial"/>
              </a:rPr>
              <a:t>Conversation-first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Agents collaborate by exchanging messages in shared team conversations.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4087368"/>
            <a:ext cx="91440" cy="206654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33272" y="4846320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33272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64792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700" b="1">
                <a:solidFill>
                  <a:srgbClr val="161B26"/>
                </a:solidFill>
                <a:latin typeface="Arial"/>
              </a:rPr>
              <a:t>Batteries included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Model clients, tools, teams, termination conditions and human-in-the-loop out of the box.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4087368"/>
            <a:ext cx="91440" cy="206654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87668" y="4846320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87668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19188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700" b="1">
                <a:solidFill>
                  <a:srgbClr val="161B26"/>
                </a:solidFill>
                <a:latin typeface="Arial"/>
              </a:rPr>
              <a:t>Production path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The same concepts scale from a script to AutoGen Studio to the event-driven Core runtime.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Develop Multi-Agent AI Applications with AutoGen  ·  TGS-2024045806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34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FOUR LAYERS, ONE FRAMEWORK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The AutoGen Stack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77240" y="2148840"/>
            <a:ext cx="2370582" cy="2148840"/>
          </a:xfrm>
          <a:prstGeom prst="roundRect">
            <a:avLst>
              <a:gd name="adj" fmla="val 10000"/>
            </a:avLst>
          </a:prstGeom>
          <a:solidFill>
            <a:srgbClr val="F5F8FC"/>
          </a:solidFill>
          <a:ln w="1587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2148840"/>
            <a:ext cx="2370582" cy="10058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679067" y="2459736"/>
            <a:ext cx="566928" cy="56692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679067" y="2459736"/>
            <a:ext cx="566928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05256" y="3118104"/>
            <a:ext cx="2114550" cy="8595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autogen-core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" y="3822192"/>
            <a:ext cx="2187702" cy="3474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Event-driven agent runtime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3202686" y="3223260"/>
            <a:ext cx="274320" cy="0"/>
          </a:xfrm>
          <a:prstGeom prst="line">
            <a:avLst/>
          </a:prstGeom>
          <a:ln w="25400">
            <a:solidFill>
              <a:srgbClr val="10B981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3531870" y="2148840"/>
            <a:ext cx="2370582" cy="2148840"/>
          </a:xfrm>
          <a:prstGeom prst="roundRect">
            <a:avLst>
              <a:gd name="adj" fmla="val 10000"/>
            </a:avLst>
          </a:prstGeom>
          <a:solidFill>
            <a:srgbClr val="F5F8FC"/>
          </a:solidFill>
          <a:ln w="1587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531870" y="2148840"/>
            <a:ext cx="2370582" cy="10058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4433697" y="2459736"/>
            <a:ext cx="566928" cy="56692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433697" y="2459736"/>
            <a:ext cx="566928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59886" y="3118104"/>
            <a:ext cx="2114550" cy="8595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autogen-agentchat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23310" y="3822192"/>
            <a:ext cx="2187702" cy="3474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Agents, teams, termination…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5957316" y="3223260"/>
            <a:ext cx="274320" cy="0"/>
          </a:xfrm>
          <a:prstGeom prst="line">
            <a:avLst/>
          </a:prstGeom>
          <a:ln w="25400">
            <a:solidFill>
              <a:srgbClr val="10B981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ounded Rectangle 20"/>
          <p:cNvSpPr/>
          <p:nvPr/>
        </p:nvSpPr>
        <p:spPr>
          <a:xfrm>
            <a:off x="6286500" y="2148840"/>
            <a:ext cx="2370582" cy="2148840"/>
          </a:xfrm>
          <a:prstGeom prst="roundRect">
            <a:avLst>
              <a:gd name="adj" fmla="val 10000"/>
            </a:avLst>
          </a:prstGeom>
          <a:solidFill>
            <a:srgbClr val="F5F8FC"/>
          </a:solidFill>
          <a:ln w="1587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286500" y="2148840"/>
            <a:ext cx="2370582" cy="10058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7188327" y="2459736"/>
            <a:ext cx="566928" cy="56692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188327" y="2459736"/>
            <a:ext cx="566928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14516" y="3118104"/>
            <a:ext cx="2114550" cy="8595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autogen-ext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77940" y="3822192"/>
            <a:ext cx="2187702" cy="3474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Model clients &amp; tools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8711946" y="3223260"/>
            <a:ext cx="274320" cy="0"/>
          </a:xfrm>
          <a:prstGeom prst="line">
            <a:avLst/>
          </a:prstGeom>
          <a:ln w="25400">
            <a:solidFill>
              <a:srgbClr val="10B981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Rounded Rectangle 27"/>
          <p:cNvSpPr/>
          <p:nvPr/>
        </p:nvSpPr>
        <p:spPr>
          <a:xfrm>
            <a:off x="9041130" y="2148840"/>
            <a:ext cx="2370582" cy="2148840"/>
          </a:xfrm>
          <a:prstGeom prst="roundRect">
            <a:avLst>
              <a:gd name="adj" fmla="val 10000"/>
            </a:avLst>
          </a:prstGeom>
          <a:solidFill>
            <a:srgbClr val="F5F8FC"/>
          </a:solidFill>
          <a:ln w="1587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9041130" y="2148840"/>
            <a:ext cx="2370582" cy="10058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9942957" y="2459736"/>
            <a:ext cx="566928" cy="56692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942957" y="2459736"/>
            <a:ext cx="566928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69146" y="3118104"/>
            <a:ext cx="2114550" cy="8595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AutoGen Studio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132570" y="3822192"/>
            <a:ext cx="2187702" cy="3474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No-code team builder</a:t>
            </a:r>
          </a:p>
        </p:txBody>
      </p:sp>
      <p:sp>
        <p:nvSpPr>
          <p:cNvPr id="34" name="Rectangle 33"/>
          <p:cNvSpPr/>
          <p:nvPr/>
        </p:nvSpPr>
        <p:spPr>
          <a:xfrm>
            <a:off x="777240" y="4608576"/>
            <a:ext cx="10634472" cy="10515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777240" y="4608576"/>
            <a:ext cx="100584" cy="105156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051560" y="4718304"/>
            <a:ext cx="1014984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10B981"/>
                </a:solidFill>
                <a:latin typeface="Arial"/>
              </a:rPr>
              <a:t>WHERE WE WORK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51560" y="5029200"/>
            <a:ext cx="1014984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This course lives in agentchat + ext — the task-driven layer most applications use. Studio gives the same power without code.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Develop Multi-Agent AI Applications with AutoGen  ·  TGS-2024045806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35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0" fill="hold">
                      <p:stCondLst>
                        <p:cond delay="indefinite"/>
                      </p:stCondLst>
                      <p:childTnLst>
                        <p:par>
                          <p:cTn id="61" fill="hold">
                            <p:stCondLst>
                              <p:cond delay="0"/>
                            </p:stCondLst>
                            <p:childTnLst>
                              <p:par>
                                <p:cTn id="6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0" fill="hold">
                      <p:stCondLst>
                        <p:cond delay="indefinite"/>
                      </p:stCondLst>
                      <p:childTnLst>
                        <p:par>
                          <p:cTn id="71" fill="hold">
                            <p:stCondLst>
                              <p:cond delay="0"/>
                            </p:stCondLst>
                            <p:childTnLst>
                              <p:par>
                                <p:cTn id="7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4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  <p:transition spd="fast" advClick="1">
    <p:fade/>
  </p:transition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LO3 · WORKED EXAMPLE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Reading an AutoGen Agent Definition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737360"/>
            <a:ext cx="10634472" cy="42062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5B6372"/>
                </a:solidFill>
                <a:latin typeface="Arial"/>
              </a:rPr>
              <a:t>Every agent in this course is built from these same fields — learn to read them once.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2286000"/>
            <a:ext cx="5943600" cy="3794760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78408" y="2395728"/>
            <a:ext cx="5541264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100">
                <a:solidFill>
                  <a:srgbClr val="C586C0"/>
                </a:solidFill>
                <a:latin typeface="Consolas"/>
              </a:rPr>
              <a:t>from autogen_agentchat.agents import AssistantAgent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C586C0"/>
                </a:solidFill>
                <a:latin typeface="Consolas"/>
              </a:rPr>
              <a:t>from autogen_ext.models.openai import (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9CDCFE"/>
                </a:solidFill>
                <a:latin typeface="Consolas"/>
              </a:rPr>
              <a:t>    OpenAIChatCompletionClient,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9CDCFE"/>
                </a:solidFill>
                <a:latin typeface="Consolas"/>
              </a:rPr>
              <a:t>)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9CDCFE"/>
                </a:solidFill>
                <a:latin typeface="Consolas"/>
              </a:rPr>
              <a:t/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D4D4D4"/>
                </a:solidFill>
                <a:latin typeface="Consolas"/>
              </a:rPr>
              <a:t>client = OpenAIChatCompletionClient(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D4D4D4"/>
                </a:solidFill>
                <a:latin typeface="Consolas"/>
              </a:rPr>
              <a:t>    model='gpt-4o-mini',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9CDCFE"/>
                </a:solidFill>
                <a:latin typeface="Consolas"/>
              </a:rPr>
              <a:t>)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D4D4D4"/>
                </a:solidFill>
                <a:latin typeface="Consolas"/>
              </a:rPr>
              <a:t>agent = AssistantAgent(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D4D4D4"/>
                </a:solidFill>
                <a:latin typeface="Consolas"/>
              </a:rPr>
              <a:t>    name='ops_assistant',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D4D4D4"/>
                </a:solidFill>
                <a:latin typeface="Consolas"/>
              </a:rPr>
              <a:t>    model_client=client,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D4D4D4"/>
                </a:solidFill>
                <a:latin typeface="Consolas"/>
              </a:rPr>
              <a:t>    system_message='You are ...',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D4D4D4"/>
                </a:solidFill>
                <a:latin typeface="Consolas"/>
              </a:rPr>
              <a:t>    tools=[lookup_ticket],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9CDCFE"/>
                </a:solidFill>
                <a:latin typeface="Consolas"/>
              </a:rPr>
              <a:t>)</a:t>
            </a:r>
          </a:p>
        </p:txBody>
      </p:sp>
      <p:sp>
        <p:nvSpPr>
          <p:cNvPr id="10" name="Rectangle 9"/>
          <p:cNvSpPr/>
          <p:nvPr/>
        </p:nvSpPr>
        <p:spPr>
          <a:xfrm>
            <a:off x="6995160" y="2286000"/>
            <a:ext cx="4416552" cy="9144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995160" y="2286000"/>
            <a:ext cx="82296" cy="9144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232904" y="2377440"/>
            <a:ext cx="400507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model_client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232904" y="2670048"/>
            <a:ext cx="4005072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Which LLM runs the agent — swap OpenAI for Azure, Gemini or Ollama here.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995160" y="3246120"/>
            <a:ext cx="4416552" cy="9144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995160" y="3246120"/>
            <a:ext cx="82296" cy="9144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232904" y="3337560"/>
            <a:ext cx="400507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0B981"/>
                </a:solidFill>
                <a:latin typeface="Arial"/>
              </a:rPr>
              <a:t>name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232904" y="3630168"/>
            <a:ext cx="4005072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The identifier used in team conversations and routing.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995160" y="4206240"/>
            <a:ext cx="4416552" cy="9144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995160" y="4206240"/>
            <a:ext cx="82296" cy="91440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232904" y="4297680"/>
            <a:ext cx="400507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7C3AED"/>
                </a:solidFill>
                <a:latin typeface="Arial"/>
              </a:rPr>
              <a:t>system_message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232904" y="4590288"/>
            <a:ext cx="4005072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The role, rules and refusals. Most behaviour lives here.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995160" y="5166360"/>
            <a:ext cx="4416552" cy="9144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995160" y="5166360"/>
            <a:ext cx="82296" cy="9144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232904" y="5257800"/>
            <a:ext cx="400507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F59E0B"/>
                </a:solidFill>
                <a:latin typeface="Arial"/>
              </a:rPr>
              <a:t>tools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232904" y="5550408"/>
            <a:ext cx="4005072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Typed Python functions the agent may call — its hands.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Develop Multi-Agent AI Applications with AutoGen  ·  TGS-2024045806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36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7C3AED"/>
                </a:solidFill>
                <a:latin typeface="Arial"/>
              </a:rPr>
              <a:t>LO3 · DESIGN DECISION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Which Agent Pattern Should You Use?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Diamond 6"/>
          <p:cNvSpPr/>
          <p:nvPr/>
        </p:nvSpPr>
        <p:spPr>
          <a:xfrm>
            <a:off x="777240" y="2514600"/>
            <a:ext cx="4206240" cy="2468880"/>
          </a:xfrm>
          <a:prstGeom prst="diamond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Can one clear
instruction describe
the whole job?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577840" y="1965960"/>
            <a:ext cx="5806440" cy="1371600"/>
          </a:xfrm>
          <a:prstGeom prst="roundRect">
            <a:avLst>
              <a:gd name="adj" fmla="val 10000"/>
            </a:avLst>
          </a:prstGeom>
          <a:solidFill>
            <a:srgbClr val="F5F8FC"/>
          </a:solidFill>
          <a:ln w="1587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577840" y="1965960"/>
            <a:ext cx="100584" cy="13716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852160" y="2112264"/>
            <a:ext cx="5303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0B981"/>
                </a:solidFill>
                <a:latin typeface="Arial"/>
              </a:rPr>
              <a:t>YES — use a single agent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852160" y="2514600"/>
            <a:ext cx="5303520" cy="7498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Give it the tools it needs. Simpler to build, cheaper to run and far easier to debug. Most business tasks stop here.</a:t>
            </a:r>
          </a:p>
        </p:txBody>
      </p:sp>
      <p:cxnSp>
        <p:nvCxnSpPr>
          <p:cNvPr id="12" name="Connector 11"/>
          <p:cNvCxnSpPr/>
          <p:nvPr/>
        </p:nvCxnSpPr>
        <p:spPr>
          <a:xfrm flipV="1">
            <a:off x="4983480" y="2651760"/>
            <a:ext cx="594360" cy="1097280"/>
          </a:xfrm>
          <a:prstGeom prst="line">
            <a:avLst/>
          </a:prstGeom>
          <a:ln w="25400">
            <a:solidFill>
              <a:srgbClr val="10B981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5577840" y="3977639"/>
            <a:ext cx="5806440" cy="1371600"/>
          </a:xfrm>
          <a:prstGeom prst="roundRect">
            <a:avLst>
              <a:gd name="adj" fmla="val 10000"/>
            </a:avLst>
          </a:prstGeom>
          <a:solidFill>
            <a:srgbClr val="F5F8FC"/>
          </a:solidFill>
          <a:ln w="1587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577840" y="3977639"/>
            <a:ext cx="100584" cy="13716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852160" y="4123943"/>
            <a:ext cx="5303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F59E0B"/>
                </a:solidFill>
                <a:latin typeface="Arial"/>
              </a:rPr>
              <a:t>NO — use a team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852160" y="4526279"/>
            <a:ext cx="5303520" cy="7498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Split by specialism. RoundRobinGroupChat when the order is fixed; SelectorGroupChat when an LLM should route dynamically.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4983480" y="3749040"/>
            <a:ext cx="594360" cy="914399"/>
          </a:xfrm>
          <a:prstGeom prst="line">
            <a:avLst/>
          </a:prstGeom>
          <a:ln w="25400">
            <a:solidFill>
              <a:srgbClr val="F59E0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ectangle 17"/>
          <p:cNvSpPr/>
          <p:nvPr/>
        </p:nvSpPr>
        <p:spPr>
          <a:xfrm>
            <a:off x="777240" y="5623560"/>
            <a:ext cx="10634472" cy="65836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51560" y="5742432"/>
            <a:ext cx="101498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A common mistake is starting multi-agent. Start single, and split only when the instruction starts listing unrelated responsibilities.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Develop Multi-Agent AI Applications with AutoGen  ·  TGS-2024045806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37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LESSON PLAN · TIME ALLOCATION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Where Course Time Goes — Topic Weighting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777240" y="1783080"/>
          <a:ext cx="10634472" cy="32461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8" name="Rectangle 7"/>
          <p:cNvSpPr/>
          <p:nvPr/>
        </p:nvSpPr>
        <p:spPr>
          <a:xfrm>
            <a:off x="777240" y="5230368"/>
            <a:ext cx="10634472" cy="100584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77240" y="5230368"/>
            <a:ext cx="100584" cy="10058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51560" y="5340096"/>
            <a:ext cx="101498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1F6FEB"/>
                </a:solidFill>
                <a:latin typeface="Arial"/>
              </a:rPr>
              <a:t>WHAT THE DATA SHOWS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1560" y="5632704"/>
            <a:ext cx="101498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Topics 1 and 2 build the orchestration and RAG foundations; Topic 3 assembles them into multi-agent workflows — the skill the practical assessment weighs most.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Develop Multi-Agent AI Applications with AutoGen  ·  TGS-2024045806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38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2286000"/>
            <a:ext cx="128016" cy="18288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2331720"/>
            <a:ext cx="10058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TOPIC 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2743200"/>
            <a:ext cx="1042416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4000" b="1">
                <a:solidFill>
                  <a:srgbClr val="161B26"/>
                </a:solidFill>
                <a:latin typeface="Arial"/>
              </a:rPr>
              <a:t>Introduction to LLM AI Orchestration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61288" y="4160520"/>
            <a:ext cx="100584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0">
                <a:solidFill>
                  <a:srgbClr val="5B6372"/>
                </a:solidFill>
                <a:latin typeface="Arial"/>
              </a:rPr>
              <a:t>LLM strengths &amp; limitations · AI agents · AutoGen setup · model clients · tools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0" y="640080"/>
            <a:ext cx="256032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7200" b="1">
                <a:solidFill>
                  <a:srgbClr val="E2E8F0"/>
                </a:solidFill>
                <a:latin typeface="Arial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Develop Multi-Agent AI Applications with AutoGen  ·  TGS-2024045806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39</a:t>
            </a:r>
          </a:p>
        </p:txBody>
      </p:sp>
    </p:spTree>
  </p:cSld>
  <p:clrMapOvr>
    <a:masterClrMapping/>
  </p:clrMapOvr>
  <p:transition spd="med" advClick="1">
    <p:push dir="l"/>
  </p:transition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TOPIC WEIGHTING 36%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Key Concepts — Introduction to LLM AI Orchestration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10634472" cy="9144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9144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33272" y="1965960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3272" y="196596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4792" y="1874520"/>
            <a:ext cx="9427464" cy="7680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An LLM generates text token by token from a prompt; it is stateless, has a knowledge cut-off, and can hallucinate — the limitations that orchestration exists to manage.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77240" y="2935224"/>
            <a:ext cx="10634472" cy="9144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77240" y="2935224"/>
            <a:ext cx="91440" cy="9144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033272" y="3118104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33272" y="3118104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764792" y="3026664"/>
            <a:ext cx="9427464" cy="7680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Strengths and limitations are evaluated on measurable axes: quality, latency, cost per call, context length, privacy and repeatability (temperature).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4087368"/>
            <a:ext cx="10634472" cy="9144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4087368"/>
            <a:ext cx="91440" cy="91440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33272" y="4270248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33272" y="4270248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64792" y="4178808"/>
            <a:ext cx="9427464" cy="7680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An AI agent wraps an LLM with a role (system message), memory of the conversation, and tools — so it can act, not just answer.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77240" y="5239512"/>
            <a:ext cx="10634472" cy="9144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777240" y="5239512"/>
            <a:ext cx="91440" cy="9144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1033272" y="5422392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33272" y="542239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764792" y="5330952"/>
            <a:ext cx="9427464" cy="7680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AutoGen is Microsoft's open-source multi-agent framework: Core (event-driven runtime), AgentChat (task-driven agents &amp; teams), Extensions (model clients, tools) and Studio (no-code UI).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Develop Multi-Agent AI Applications with AutoGen  ·  TGS-2024045806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40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TOPIC WEIGHTING 36%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500" b="1">
                <a:solidFill>
                  <a:srgbClr val="161B26"/>
                </a:solidFill>
                <a:latin typeface="Arial"/>
              </a:rPr>
              <a:t>Key Concepts — Introduction to LLM AI Orchestration (continued)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10634472" cy="9144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9144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33272" y="1965960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3272" y="196596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4792" y="1874520"/>
            <a:ext cx="9427464" cy="7680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A model client (OpenAIChatCompletionClient) abstracts the provider — the same agent code runs on OpenAI, Azure, Gemini, or a local Ollama model.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77240" y="2935224"/>
            <a:ext cx="10634472" cy="9144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77240" y="2935224"/>
            <a:ext cx="91440" cy="9144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033272" y="3118104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33272" y="3118104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764792" y="3026664"/>
            <a:ext cx="9427464" cy="7680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Function calling turns typed Python functions into tools the model can request; AutoGen's FunctionTool generates the JSON schema from the signature and docstring.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4087368"/>
            <a:ext cx="10634472" cy="9144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4087368"/>
            <a:ext cx="91440" cy="91440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33272" y="4270248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33272" y="4270248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64792" y="4178808"/>
            <a:ext cx="9427464" cy="7680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Structured output (output_content_type with a Pydantic model) converts free text into validated fields that downstream code can branch on.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77240" y="5239512"/>
            <a:ext cx="10634472" cy="9144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777240" y="5239512"/>
            <a:ext cx="91440" cy="9144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1033272" y="5422392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33272" y="542239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764792" y="5330952"/>
            <a:ext cx="9427464" cy="7680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Async execution (asyncio, run/run_stream, the Console UI) is how AgentChat streams events and scales beyond one blocking call.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Develop Multi-Agent AI Applications with AutoGen  ·  TGS-2024045806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41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TOPIC 01 · ORCHESTRATION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LLM AI Orchestration — What and Why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206654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33272" y="2542032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3272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4792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Definition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Coordinating models, prompts, tools, data and control flow into one dependable application.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206654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87668" y="2542032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87668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19188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Beyond one prompt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Real apps chain calls, branch on results, retry failures and log everything.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4087368"/>
            <a:ext cx="91440" cy="206654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33272" y="4846320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33272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64792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The orchestrator's job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Decide what runs, in what order, with what context — and when to stop.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4087368"/>
            <a:ext cx="91440" cy="206654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87668" y="4846320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87668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19188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Frameworks help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AutoGen supplies the loop, message types, tool plumbing and termination logic.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Develop Multi-Agent AI Applications with AutoGen  ·  TGS-2024045806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42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TOPIC 01 · LOCAL LLM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Running a Local LLM with Ollama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206654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33272" y="2542032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3272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4792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Why local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Privacy (data never leaves the machine), zero per-call cost, offline capability.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206654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87668" y="2542032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87668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19188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Install &amp; pull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ollama pull llama3.2 downloads a quantised open model to your laptop.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4087368"/>
            <a:ext cx="91440" cy="206654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33272" y="4846320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33272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64792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OpenAI-compatible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Ollama serves http://localhost:11434/v1 — the SAME client code works against it.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4087368"/>
            <a:ext cx="91440" cy="206654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87668" y="4846320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87668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19188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The catch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Smaller local models trade answer quality and speed for privacy and cost — measure it in Lab 2.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Develop Multi-Agent AI Applications with AutoGen  ·  TGS-2024045806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43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TOPIC 01 · WORKED EXAMPLE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Building a Minimal LLM App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737360"/>
            <a:ext cx="10634472" cy="42062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5B6372"/>
                </a:solidFill>
                <a:latin typeface="Arial"/>
              </a:rPr>
              <a:t>Lab 1's llm_app.py — the irreducible core of every LLM application.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2286000"/>
            <a:ext cx="5943600" cy="3794760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78408" y="2395728"/>
            <a:ext cx="5541264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100">
                <a:solidFill>
                  <a:srgbClr val="C586C0"/>
                </a:solidFill>
                <a:latin typeface="Consolas"/>
              </a:rPr>
              <a:t>from openai import OpenAI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9CDCFE"/>
                </a:solidFill>
                <a:latin typeface="Consolas"/>
              </a:rPr>
              <a:t/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D4D4D4"/>
                </a:solidFill>
                <a:latin typeface="Consolas"/>
              </a:rPr>
              <a:t>client = OpenAI(api_key=KEY)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D4D4D4"/>
                </a:solidFill>
                <a:latin typeface="Consolas"/>
              </a:rPr>
              <a:t>resp = client.chat.completions.create(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D4D4D4"/>
                </a:solidFill>
                <a:latin typeface="Consolas"/>
              </a:rPr>
              <a:t>    model='gpt-4o-mini',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D4D4D4"/>
                </a:solidFill>
                <a:latin typeface="Consolas"/>
              </a:rPr>
              <a:t>    temperature=0.7,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D4D4D4"/>
                </a:solidFill>
                <a:latin typeface="Consolas"/>
              </a:rPr>
              <a:t>    messages=[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9CDCFE"/>
                </a:solidFill>
                <a:latin typeface="Consolas"/>
              </a:rPr>
              <a:t>        {'role':'system','content':'...'},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9CDCFE"/>
                </a:solidFill>
                <a:latin typeface="Consolas"/>
              </a:rPr>
              <a:t>        {'role':'user','content':'...'},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9CDCFE"/>
                </a:solidFill>
                <a:latin typeface="Consolas"/>
              </a:rPr>
              <a:t>    ],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9CDCFE"/>
                </a:solidFill>
                <a:latin typeface="Consolas"/>
              </a:rPr>
              <a:t>)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9CDCFE"/>
                </a:solidFill>
                <a:latin typeface="Consolas"/>
              </a:rPr>
              <a:t>print(resp.choices[0].message.content)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9CDCFE"/>
                </a:solidFill>
                <a:latin typeface="Consolas"/>
              </a:rPr>
              <a:t>print(resp.usage.total_tokens)</a:t>
            </a:r>
          </a:p>
        </p:txBody>
      </p:sp>
      <p:sp>
        <p:nvSpPr>
          <p:cNvPr id="10" name="Rectangle 9"/>
          <p:cNvSpPr/>
          <p:nvPr/>
        </p:nvSpPr>
        <p:spPr>
          <a:xfrm>
            <a:off x="6995160" y="2286000"/>
            <a:ext cx="4416552" cy="9144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995160" y="2286000"/>
            <a:ext cx="82296" cy="9144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232904" y="2377440"/>
            <a:ext cx="400507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messages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232904" y="2670048"/>
            <a:ext cx="4005072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The whole conversation is sent every call — the model itself is stateless.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995160" y="3246120"/>
            <a:ext cx="4416552" cy="9144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995160" y="3246120"/>
            <a:ext cx="82296" cy="9144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232904" y="3337560"/>
            <a:ext cx="400507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0B981"/>
                </a:solidFill>
                <a:latin typeface="Arial"/>
              </a:rPr>
              <a:t>temperature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232904" y="3630168"/>
            <a:ext cx="4005072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0 = repeatable, higher = varied. Your first debugging lever.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995160" y="4206240"/>
            <a:ext cx="4416552" cy="9144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995160" y="4206240"/>
            <a:ext cx="82296" cy="91440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232904" y="4297680"/>
            <a:ext cx="400507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7C3AED"/>
                </a:solidFill>
                <a:latin typeface="Arial"/>
              </a:rPr>
              <a:t>usage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232904" y="4590288"/>
            <a:ext cx="4005072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Token counts are your cost meter — log them from day one.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995160" y="5166360"/>
            <a:ext cx="4416552" cy="9144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995160" y="5166360"/>
            <a:ext cx="82296" cy="9144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232904" y="5257800"/>
            <a:ext cx="400507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F59E0B"/>
                </a:solidFill>
                <a:latin typeface="Arial"/>
              </a:rPr>
              <a:t>choices[0]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232904" y="5550408"/>
            <a:ext cx="4005072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The reply. Everything else in this course wraps this call.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Develop Multi-Agent AI Applications with AutoGen  ·  TGS-2024045806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44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F59E0B"/>
                </a:solidFill>
                <a:latin typeface="Arial"/>
              </a:rPr>
              <a:t>TOPIC 01 · DEBUGGING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Debugging an LLM App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129844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33272" y="2157984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3272" y="2157984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4792" y="1911096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Log the full prompt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Most 'model bugs' are prompt bugs — print exactly what was sent.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129844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87668" y="2157984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87668" y="2157984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19188" y="1911096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Fix the temperature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Set temperature=0 while debugging so runs are comparable.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3319272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3319272"/>
            <a:ext cx="91440" cy="129844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33272" y="3694176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33272" y="3694176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64792" y="3447288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Watch the tokens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Truncated answers usually mean a max-token or context limit was hit.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3319272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3319272"/>
            <a:ext cx="91440" cy="129844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87668" y="3694176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87668" y="3694176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19188" y="3447288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Isolate the layer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Test the raw API call first (Lab 1), then the agent wrapper — never both at once.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77240" y="4855464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77240" y="4855464"/>
            <a:ext cx="91440" cy="129844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1033272" y="5230368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33272" y="5230368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764792" y="4983480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Read the events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AutoGen streams every message and tool call — the Console UI is your trace.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231636" y="4855464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231636" y="4855464"/>
            <a:ext cx="91440" cy="129844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6487668" y="5230368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87668" y="5230368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219188" y="4983480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Reproduce cheaply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Keep a failing prompt as a test case you can re-run after every change.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Develop Multi-Agent AI Applications with AutoGen  ·  TGS-2024045806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45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TOPIC 01 · TOOLS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How Function Calling Works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77240" y="2148840"/>
            <a:ext cx="1819656" cy="2148840"/>
          </a:xfrm>
          <a:prstGeom prst="roundRect">
            <a:avLst>
              <a:gd name="adj" fmla="val 10000"/>
            </a:avLst>
          </a:prstGeom>
          <a:solidFill>
            <a:srgbClr val="F5F8FC"/>
          </a:solidFill>
          <a:ln w="1587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2148840"/>
            <a:ext cx="1819656" cy="10058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403604" y="2459736"/>
            <a:ext cx="566928" cy="56692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403604" y="2459736"/>
            <a:ext cx="566928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05256" y="3118104"/>
            <a:ext cx="1563624" cy="8595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Declare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" y="3822192"/>
            <a:ext cx="1636776" cy="3474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Tool schema sent with the…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2651760" y="3223260"/>
            <a:ext cx="274320" cy="0"/>
          </a:xfrm>
          <a:prstGeom prst="line">
            <a:avLst/>
          </a:prstGeom>
          <a:ln w="25400">
            <a:solidFill>
              <a:srgbClr val="1F6FE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2980944" y="2148840"/>
            <a:ext cx="1819656" cy="2148840"/>
          </a:xfrm>
          <a:prstGeom prst="roundRect">
            <a:avLst>
              <a:gd name="adj" fmla="val 10000"/>
            </a:avLst>
          </a:prstGeom>
          <a:solidFill>
            <a:srgbClr val="F5F8FC"/>
          </a:solidFill>
          <a:ln w="1587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2980944" y="2148840"/>
            <a:ext cx="1819656" cy="10058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3607308" y="2459736"/>
            <a:ext cx="566928" cy="56692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607308" y="2459736"/>
            <a:ext cx="566928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108960" y="3118104"/>
            <a:ext cx="1563624" cy="8595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Decide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072384" y="3822192"/>
            <a:ext cx="1636776" cy="3474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Model returns a tool_call…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4855464" y="3223260"/>
            <a:ext cx="274320" cy="0"/>
          </a:xfrm>
          <a:prstGeom prst="line">
            <a:avLst/>
          </a:prstGeom>
          <a:ln w="25400">
            <a:solidFill>
              <a:srgbClr val="1F6FE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ounded Rectangle 20"/>
          <p:cNvSpPr/>
          <p:nvPr/>
        </p:nvSpPr>
        <p:spPr>
          <a:xfrm>
            <a:off x="5184648" y="2148840"/>
            <a:ext cx="1819656" cy="2148840"/>
          </a:xfrm>
          <a:prstGeom prst="roundRect">
            <a:avLst>
              <a:gd name="adj" fmla="val 10000"/>
            </a:avLst>
          </a:prstGeom>
          <a:solidFill>
            <a:srgbClr val="F5F8FC"/>
          </a:solidFill>
          <a:ln w="1587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184648" y="2148840"/>
            <a:ext cx="1819656" cy="10058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5811012" y="2459736"/>
            <a:ext cx="566928" cy="56692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811012" y="2459736"/>
            <a:ext cx="566928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312664" y="3118104"/>
            <a:ext cx="1563624" cy="8595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Execute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276088" y="3822192"/>
            <a:ext cx="1636776" cy="3474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YOUR code runs the…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7059168" y="3223260"/>
            <a:ext cx="274320" cy="0"/>
          </a:xfrm>
          <a:prstGeom prst="line">
            <a:avLst/>
          </a:prstGeom>
          <a:ln w="25400">
            <a:solidFill>
              <a:srgbClr val="1F6FE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Rounded Rectangle 27"/>
          <p:cNvSpPr/>
          <p:nvPr/>
        </p:nvSpPr>
        <p:spPr>
          <a:xfrm>
            <a:off x="7388352" y="2148840"/>
            <a:ext cx="1819656" cy="2148840"/>
          </a:xfrm>
          <a:prstGeom prst="roundRect">
            <a:avLst>
              <a:gd name="adj" fmla="val 10000"/>
            </a:avLst>
          </a:prstGeom>
          <a:solidFill>
            <a:srgbClr val="F5F8FC"/>
          </a:solidFill>
          <a:ln w="1587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7388352" y="2148840"/>
            <a:ext cx="1819656" cy="10058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8014716" y="2459736"/>
            <a:ext cx="566928" cy="56692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014716" y="2459736"/>
            <a:ext cx="566928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516368" y="3118104"/>
            <a:ext cx="1563624" cy="8595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Return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479792" y="3822192"/>
            <a:ext cx="1636776" cy="3474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Result goes back to the…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9262872" y="3223260"/>
            <a:ext cx="274320" cy="0"/>
          </a:xfrm>
          <a:prstGeom prst="line">
            <a:avLst/>
          </a:prstGeom>
          <a:ln w="25400">
            <a:solidFill>
              <a:srgbClr val="1F6FE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Rounded Rectangle 34"/>
          <p:cNvSpPr/>
          <p:nvPr/>
        </p:nvSpPr>
        <p:spPr>
          <a:xfrm>
            <a:off x="9592056" y="2148840"/>
            <a:ext cx="1819656" cy="2148840"/>
          </a:xfrm>
          <a:prstGeom prst="roundRect">
            <a:avLst>
              <a:gd name="adj" fmla="val 10000"/>
            </a:avLst>
          </a:prstGeom>
          <a:solidFill>
            <a:srgbClr val="F5F8FC"/>
          </a:solidFill>
          <a:ln w="1587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9592056" y="2148840"/>
            <a:ext cx="1819656" cy="10058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10218420" y="2459736"/>
            <a:ext cx="566928" cy="56692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0218420" y="2459736"/>
            <a:ext cx="566928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720072" y="3118104"/>
            <a:ext cx="1563624" cy="8595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Answer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683496" y="3822192"/>
            <a:ext cx="1636776" cy="3474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Model writes the final…</a:t>
            </a:r>
          </a:p>
        </p:txBody>
      </p:sp>
      <p:sp>
        <p:nvSpPr>
          <p:cNvPr id="41" name="Rectangle 40"/>
          <p:cNvSpPr/>
          <p:nvPr/>
        </p:nvSpPr>
        <p:spPr>
          <a:xfrm>
            <a:off x="777240" y="4608576"/>
            <a:ext cx="10634472" cy="10515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777240" y="4608576"/>
            <a:ext cx="100584" cy="105156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1051560" y="4718304"/>
            <a:ext cx="1014984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1F6FEB"/>
                </a:solidFill>
                <a:latin typeface="Arial"/>
              </a:rPr>
              <a:t>THE KEY INSIGHT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51560" y="5029200"/>
            <a:ext cx="1014984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The model never executes anything — it only asks. Your code stays in control of every action, which is where safety lives.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Develop Multi-Agent AI Applications with AutoGen  ·  TGS-2024045806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46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0" fill="hold">
                      <p:stCondLst>
                        <p:cond delay="indefinite"/>
                      </p:stCondLst>
                      <p:childTnLst>
                        <p:par>
                          <p:cTn id="61" fill="hold">
                            <p:stCondLst>
                              <p:cond delay="0"/>
                            </p:stCondLst>
                            <p:childTnLst>
                              <p:par>
                                <p:cTn id="6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0" fill="hold">
                      <p:stCondLst>
                        <p:cond delay="indefinite"/>
                      </p:stCondLst>
                      <p:childTnLst>
                        <p:par>
                          <p:cTn id="71" fill="hold">
                            <p:stCondLst>
                              <p:cond delay="0"/>
                            </p:stCondLst>
                            <p:childTnLst>
                              <p:par>
                                <p:cTn id="7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4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0" fill="hold">
                      <p:stCondLst>
                        <p:cond delay="indefinite"/>
                      </p:stCondLst>
                      <p:childTnLst>
                        <p:par>
                          <p:cTn id="81" fill="hold">
                            <p:stCondLst>
                              <p:cond delay="0"/>
                            </p:stCondLst>
                            <p:childTnLst>
                              <p:par>
                                <p:cTn id="8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4" dur="4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0" fill="hold">
                      <p:stCondLst>
                        <p:cond delay="indefinite"/>
                      </p:stCondLst>
                      <p:childTnLst>
                        <p:par>
                          <p:cTn id="91" fill="hold">
                            <p:stCondLst>
                              <p:cond delay="0"/>
                            </p:stCondLst>
                            <p:childTnLst>
                              <p:par>
                                <p:cTn id="9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4" dur="4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  <p:transition spd="fast" advClick="1">
    <p:fade/>
  </p:transition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TOPIC 01 · TOOL SOURCES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Three Kinds of Tools in AutoGen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333756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3337560" cy="10972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2011680"/>
            <a:ext cx="29260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900" b="1">
                <a:solidFill>
                  <a:srgbClr val="1F6FEB"/>
                </a:solidFill>
                <a:latin typeface="Arial"/>
              </a:rPr>
              <a:t>Custom FunctionTool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697480"/>
            <a:ext cx="292608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•  Any typed Python function</a:t>
            </a:r>
          </a:p>
          <a:p>
            <a:pPr>
              <a:spcAft>
                <a:spcPts val="9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•  Schema generated from the signature</a:t>
            </a:r>
          </a:p>
          <a:p>
            <a:pPr>
              <a:spcAft>
                <a:spcPts val="9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•  Docstring becomes the description</a:t>
            </a:r>
          </a:p>
          <a:p>
            <a:pPr>
              <a:spcAft>
                <a:spcPts val="9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•  Labs 3–5, 8 use these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0" y="1783080"/>
            <a:ext cx="333756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0" y="1783080"/>
            <a:ext cx="3337560" cy="10972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800600" y="2011680"/>
            <a:ext cx="29260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900" b="1">
                <a:solidFill>
                  <a:srgbClr val="10B981"/>
                </a:solidFill>
                <a:latin typeface="Arial"/>
              </a:rPr>
              <a:t>Built-in / Extensions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00600" y="2697480"/>
            <a:ext cx="292608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•  autogen-ext ships ready-made tools</a:t>
            </a:r>
          </a:p>
          <a:p>
            <a:pPr>
              <a:spcAft>
                <a:spcPts val="9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•  HTTP requests, code execution, MCP</a:t>
            </a:r>
          </a:p>
          <a:p>
            <a:pPr>
              <a:spcAft>
                <a:spcPts val="9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•  Install-and-go integrations</a:t>
            </a:r>
          </a:p>
          <a:p>
            <a:pPr>
              <a:spcAft>
                <a:spcPts val="9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•  Explore: autogen_ext.tools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366760" y="1783080"/>
            <a:ext cx="333756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366760" y="1783080"/>
            <a:ext cx="3337560" cy="10972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595360" y="2011680"/>
            <a:ext cx="29260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900" b="1">
                <a:solidFill>
                  <a:srgbClr val="7C3AED"/>
                </a:solidFill>
                <a:latin typeface="Arial"/>
              </a:rPr>
              <a:t>Third-party APIs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95360" y="2697480"/>
            <a:ext cx="292608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•  Wrap any REST API in a function</a:t>
            </a:r>
          </a:p>
          <a:p>
            <a:pPr>
              <a:spcAft>
                <a:spcPts val="9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•  Weather, search (Tavily), arXiv…</a:t>
            </a:r>
          </a:p>
          <a:p>
            <a:pPr>
              <a:spcAft>
                <a:spcPts val="9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•  Keep keys in .env, never in code</a:t>
            </a:r>
          </a:p>
          <a:p>
            <a:pPr>
              <a:spcAft>
                <a:spcPts val="9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•  Same FunctionTool pattern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Develop Multi-Agent AI Applications with AutoGen  ·  TGS-2024045806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47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WHAT YOU'LL DO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Hands-On Labs — Introduction to LLM AI Orchestration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333756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3337560" cy="10972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2011680"/>
            <a:ext cx="29260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900" b="1">
                <a:solidFill>
                  <a:srgbClr val="1F6FEB"/>
                </a:solidFill>
                <a:latin typeface="Arial"/>
              </a:rPr>
              <a:t>Lab 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697480"/>
            <a:ext cx="292608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•  Set Up AutoGen and Run Your First Agent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0" y="1783080"/>
            <a:ext cx="333756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0" y="1783080"/>
            <a:ext cx="3337560" cy="10972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800600" y="2011680"/>
            <a:ext cx="29260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900" b="1">
                <a:solidFill>
                  <a:srgbClr val="10B981"/>
                </a:solidFill>
                <a:latin typeface="Arial"/>
              </a:rPr>
              <a:t>Lab 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00600" y="2697480"/>
            <a:ext cx="292608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•  Configure Model Clients and Structured Output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366760" y="1783080"/>
            <a:ext cx="333756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366760" y="1783080"/>
            <a:ext cx="3337560" cy="10972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595360" y="2011680"/>
            <a:ext cx="29260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900" b="1">
                <a:solidFill>
                  <a:srgbClr val="7C3AED"/>
                </a:solidFill>
                <a:latin typeface="Arial"/>
              </a:rPr>
              <a:t>Lab 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95360" y="2697480"/>
            <a:ext cx="292608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•  Equip an Agent with Tools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Develop Multi-Agent AI Applications with AutoGen  ·  TGS-2024045806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48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TOPIC 01 · HANDS-ON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Set Up AutoGen and Run Your First Agent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19072"/>
            <a:ext cx="1554480" cy="42062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554480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LAB 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487168" y="1719072"/>
            <a:ext cx="8869680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LO1 — evaluate an LLM by running it directly, then as an AutoGen agent.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286000"/>
            <a:ext cx="10634472" cy="1051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0">
                <a:solidFill>
                  <a:srgbClr val="161B26"/>
                </a:solidFill>
                <a:latin typeface="Arial"/>
              </a:rPr>
              <a:t>Verify the uv lab environment from the Pre-Lab, call an LLM directly with the OpenAI SDK, then wrap the same model in an AutoGen AssistantAgent and stream its reply with the Console UI.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77240" y="3474720"/>
            <a:ext cx="3392424" cy="1874519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77240" y="3474720"/>
            <a:ext cx="3392424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96696" y="3639312"/>
            <a:ext cx="298094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1F6FEB"/>
                </a:solidFill>
                <a:latin typeface="Arial"/>
              </a:rPr>
              <a:t>YOU'LL BUILD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96696" y="3968496"/>
            <a:ext cx="2980944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A working AutoGen environment plus two runnable scripts: a plain LLM app and your first agent.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398264" y="3474720"/>
            <a:ext cx="3392424" cy="1874519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398264" y="3474720"/>
            <a:ext cx="3392424" cy="914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617720" y="3639312"/>
            <a:ext cx="298094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10B981"/>
                </a:solidFill>
                <a:latin typeface="Arial"/>
              </a:rPr>
              <a:t>TOOLCHAIN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17720" y="3968496"/>
            <a:ext cx="2980944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uv, Python 3.10+, OpenAI SDK, AutoGen AgentChat, Console UI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019288" y="3474720"/>
            <a:ext cx="3392424" cy="1874519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019288" y="3474720"/>
            <a:ext cx="3392424" cy="9144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38744" y="3639312"/>
            <a:ext cx="298094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7C3AED"/>
                </a:solidFill>
                <a:latin typeface="Arial"/>
              </a:rPr>
              <a:t>DONE WHEN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38744" y="3968496"/>
            <a:ext cx="2980944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Both scripts print a model reply with no traceback, and you can state one strength (fluent answers) and one limitation (stateless, non-repeatable at temperature 0.7) you just observed.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Develop Multi-Agent AI Applications with AutoGen  ·  TGS-2024045806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49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LAB 1 · PROCESS MAP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How Lab 1 Runs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77240" y="2148840"/>
            <a:ext cx="1819656" cy="2148840"/>
          </a:xfrm>
          <a:prstGeom prst="roundRect">
            <a:avLst>
              <a:gd name="adj" fmla="val 10000"/>
            </a:avLst>
          </a:prstGeom>
          <a:solidFill>
            <a:srgbClr val="F5F8FC"/>
          </a:solidFill>
          <a:ln w="1587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2148840"/>
            <a:ext cx="1819656" cy="10058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403604" y="2459736"/>
            <a:ext cx="566928" cy="56692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403604" y="2459736"/>
            <a:ext cx="566928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05256" y="3118104"/>
            <a:ext cx="1563624" cy="8595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1">
                <a:solidFill>
                  <a:srgbClr val="161B26"/>
                </a:solidFill>
                <a:latin typeface="Arial"/>
              </a:rPr>
              <a:t>Complete the Pre-Lab: install uv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" y="3822192"/>
            <a:ext cx="1636776" cy="3474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uv sync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2651760" y="3223260"/>
            <a:ext cx="274320" cy="0"/>
          </a:xfrm>
          <a:prstGeom prst="line">
            <a:avLst/>
          </a:prstGeom>
          <a:ln w="25400">
            <a:solidFill>
              <a:srgbClr val="10B981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2980944" y="2148840"/>
            <a:ext cx="1819656" cy="2148840"/>
          </a:xfrm>
          <a:prstGeom prst="roundRect">
            <a:avLst>
              <a:gd name="adj" fmla="val 10000"/>
            </a:avLst>
          </a:prstGeom>
          <a:solidFill>
            <a:srgbClr val="F5F8FC"/>
          </a:solidFill>
          <a:ln w="1587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2980944" y="2148840"/>
            <a:ext cx="1819656" cy="10058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3607308" y="2459736"/>
            <a:ext cx="566928" cy="56692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607308" y="2459736"/>
            <a:ext cx="566928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108960" y="3118104"/>
            <a:ext cx="1563624" cy="8595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161B26"/>
                </a:solidFill>
                <a:latin typeface="Arial"/>
              </a:rPr>
              <a:t>Create your .env with the course API key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072384" y="3822192"/>
            <a:ext cx="1636776" cy="3474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cp .env.example .env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4855464" y="3223260"/>
            <a:ext cx="274320" cy="0"/>
          </a:xfrm>
          <a:prstGeom prst="line">
            <a:avLst/>
          </a:prstGeom>
          <a:ln w="25400">
            <a:solidFill>
              <a:srgbClr val="10B981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ounded Rectangle 20"/>
          <p:cNvSpPr/>
          <p:nvPr/>
        </p:nvSpPr>
        <p:spPr>
          <a:xfrm>
            <a:off x="5184648" y="2148840"/>
            <a:ext cx="1819656" cy="2148840"/>
          </a:xfrm>
          <a:prstGeom prst="roundRect">
            <a:avLst>
              <a:gd name="adj" fmla="val 10000"/>
            </a:avLst>
          </a:prstGeom>
          <a:solidFill>
            <a:srgbClr val="F5F8FC"/>
          </a:solidFill>
          <a:ln w="1587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184648" y="2148840"/>
            <a:ext cx="1819656" cy="10058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5811012" y="2459736"/>
            <a:ext cx="566928" cy="56692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811012" y="2459736"/>
            <a:ext cx="566928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312664" y="3118104"/>
            <a:ext cx="1563624" cy="8595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1">
                <a:solidFill>
                  <a:srgbClr val="161B26"/>
                </a:solidFill>
                <a:latin typeface="Arial"/>
              </a:rPr>
              <a:t>Verify AutoGen imports cleanly in the…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276088" y="3822192"/>
            <a:ext cx="1636776" cy="3474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-c …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7059168" y="3223260"/>
            <a:ext cx="274320" cy="0"/>
          </a:xfrm>
          <a:prstGeom prst="line">
            <a:avLst/>
          </a:prstGeom>
          <a:ln w="25400">
            <a:solidFill>
              <a:srgbClr val="10B981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Rounded Rectangle 27"/>
          <p:cNvSpPr/>
          <p:nvPr/>
        </p:nvSpPr>
        <p:spPr>
          <a:xfrm>
            <a:off x="7388352" y="2148840"/>
            <a:ext cx="1819656" cy="2148840"/>
          </a:xfrm>
          <a:prstGeom prst="roundRect">
            <a:avLst>
              <a:gd name="adj" fmla="val 10000"/>
            </a:avLst>
          </a:prstGeom>
          <a:solidFill>
            <a:srgbClr val="F5F8FC"/>
          </a:solidFill>
          <a:ln w="1587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7388352" y="2148840"/>
            <a:ext cx="1819656" cy="10058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8014716" y="2459736"/>
            <a:ext cx="566928" cy="56692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014716" y="2459736"/>
            <a:ext cx="566928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516368" y="3118104"/>
            <a:ext cx="1563624" cy="8595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Run the plain-Python LLM app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479792" y="3822192"/>
            <a:ext cx="1636776" cy="3474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…/llm_app.py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9262872" y="3223260"/>
            <a:ext cx="274320" cy="0"/>
          </a:xfrm>
          <a:prstGeom prst="line">
            <a:avLst/>
          </a:prstGeom>
          <a:ln w="25400">
            <a:solidFill>
              <a:srgbClr val="10B981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Rounded Rectangle 34"/>
          <p:cNvSpPr/>
          <p:nvPr/>
        </p:nvSpPr>
        <p:spPr>
          <a:xfrm>
            <a:off x="9592056" y="2148840"/>
            <a:ext cx="1819656" cy="2148840"/>
          </a:xfrm>
          <a:prstGeom prst="roundRect">
            <a:avLst>
              <a:gd name="adj" fmla="val 10000"/>
            </a:avLst>
          </a:prstGeom>
          <a:solidFill>
            <a:srgbClr val="F5F8FC"/>
          </a:solidFill>
          <a:ln w="1587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9592056" y="2148840"/>
            <a:ext cx="1819656" cy="10058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10218420" y="2459736"/>
            <a:ext cx="566928" cy="56692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0218420" y="2459736"/>
            <a:ext cx="566928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720072" y="3118104"/>
            <a:ext cx="1563624" cy="8595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1">
                <a:solidFill>
                  <a:srgbClr val="161B26"/>
                </a:solidFill>
                <a:latin typeface="Arial"/>
              </a:rPr>
              <a:t>Run the same model as an AutoGen…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683496" y="3822192"/>
            <a:ext cx="1636776" cy="3474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…/first_agent.py</a:t>
            </a:r>
          </a:p>
        </p:txBody>
      </p:sp>
      <p:sp>
        <p:nvSpPr>
          <p:cNvPr id="41" name="Rectangle 40"/>
          <p:cNvSpPr/>
          <p:nvPr/>
        </p:nvSpPr>
        <p:spPr>
          <a:xfrm>
            <a:off x="777240" y="4608576"/>
            <a:ext cx="10634472" cy="10515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777240" y="4608576"/>
            <a:ext cx="100584" cy="105156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1051560" y="4718304"/>
            <a:ext cx="1014984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10B981"/>
                </a:solidFill>
                <a:latin typeface="Arial"/>
              </a:rPr>
              <a:t>THE POINT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51560" y="5029200"/>
            <a:ext cx="1014984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LO1 — evaluate an LLM by running it directly, then as an AutoGen agent.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Develop Multi-Agent AI Applications with AutoGen  ·  TGS-2024045806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50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0" fill="hold">
                      <p:stCondLst>
                        <p:cond delay="indefinite"/>
                      </p:stCondLst>
                      <p:childTnLst>
                        <p:par>
                          <p:cTn id="61" fill="hold">
                            <p:stCondLst>
                              <p:cond delay="0"/>
                            </p:stCondLst>
                            <p:childTnLst>
                              <p:par>
                                <p:cTn id="6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0" fill="hold">
                      <p:stCondLst>
                        <p:cond delay="indefinite"/>
                      </p:stCondLst>
                      <p:childTnLst>
                        <p:par>
                          <p:cTn id="71" fill="hold">
                            <p:stCondLst>
                              <p:cond delay="0"/>
                            </p:stCondLst>
                            <p:childTnLst>
                              <p:par>
                                <p:cTn id="7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4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0" fill="hold">
                      <p:stCondLst>
                        <p:cond delay="indefinite"/>
                      </p:stCondLst>
                      <p:childTnLst>
                        <p:par>
                          <p:cTn id="81" fill="hold">
                            <p:stCondLst>
                              <p:cond delay="0"/>
                            </p:stCondLst>
                            <p:childTnLst>
                              <p:par>
                                <p:cTn id="8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4" dur="4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0" fill="hold">
                      <p:stCondLst>
                        <p:cond delay="indefinite"/>
                      </p:stCondLst>
                      <p:childTnLst>
                        <p:par>
                          <p:cTn id="91" fill="hold">
                            <p:stCondLst>
                              <p:cond delay="0"/>
                            </p:stCondLst>
                            <p:childTnLst>
                              <p:par>
                                <p:cTn id="9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4" dur="4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  <p:transition spd="fast" advClick="1">
    <p:fade/>
  </p:transition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LAB 1 · PROCEDURE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Set Up AutoGen and Run Your First Agent — Part 1/2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55648"/>
            <a:ext cx="10634472" cy="102412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55648"/>
            <a:ext cx="82296" cy="102412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69264" y="2084832"/>
            <a:ext cx="365760" cy="36576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69264" y="2084832"/>
            <a:ext cx="3657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81328" y="1828800"/>
            <a:ext cx="96926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Complete the Pre-Lab: install uv, then sync the lab environment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481328" y="2157984"/>
            <a:ext cx="9601200" cy="530352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627632" y="2157984"/>
            <a:ext cx="932688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>
                <a:solidFill>
                  <a:srgbClr val="9CDCFE"/>
                </a:solidFill>
                <a:latin typeface="Arial"/>
              </a:rPr>
              <a:t>$ uv sync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2871216"/>
            <a:ext cx="10634472" cy="102412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77240" y="2871216"/>
            <a:ext cx="82296" cy="102412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969264" y="3200400"/>
            <a:ext cx="365760" cy="36576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69264" y="3200400"/>
            <a:ext cx="3657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81328" y="2944368"/>
            <a:ext cx="96926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Create your .env with the course API key (never commit it)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481328" y="3273552"/>
            <a:ext cx="9601200" cy="530352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627632" y="3273552"/>
            <a:ext cx="932688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>
                <a:solidFill>
                  <a:srgbClr val="9CDCFE"/>
                </a:solidFill>
                <a:latin typeface="Arial"/>
              </a:rPr>
              <a:t>$ cp .env.example .env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77240" y="3986784"/>
            <a:ext cx="10634472" cy="102412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77240" y="3986784"/>
            <a:ext cx="82296" cy="102412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969264" y="4315968"/>
            <a:ext cx="365760" cy="36576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69264" y="4315968"/>
            <a:ext cx="3657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481328" y="4059936"/>
            <a:ext cx="96926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Verify AutoGen imports cleanly in the environment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481328" y="4389120"/>
            <a:ext cx="9601200" cy="530352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627632" y="4389120"/>
            <a:ext cx="932688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>
                <a:solidFill>
                  <a:srgbClr val="9CDCFE"/>
                </a:solidFill>
                <a:latin typeface="Arial"/>
              </a:rPr>
              <a:t>$ uv run python -c "import autogen_agentchat; print('OK')"</a:t>
            </a:r>
          </a:p>
        </p:txBody>
      </p:sp>
      <p:sp>
        <p:nvSpPr>
          <p:cNvPr id="28" name="Rectangle 27"/>
          <p:cNvSpPr/>
          <p:nvPr/>
        </p:nvSpPr>
        <p:spPr>
          <a:xfrm>
            <a:off x="777240" y="5102352"/>
            <a:ext cx="10634472" cy="102412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777240" y="5102352"/>
            <a:ext cx="82296" cy="102412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969264" y="5431536"/>
            <a:ext cx="365760" cy="36576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69264" y="5431536"/>
            <a:ext cx="3657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481328" y="5175504"/>
            <a:ext cx="96926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Run the plain-Python LLM app and note the reply and token count</a:t>
            </a:r>
          </a:p>
        </p:txBody>
      </p:sp>
      <p:sp>
        <p:nvSpPr>
          <p:cNvPr id="33" name="Rectangle 32"/>
          <p:cNvSpPr/>
          <p:nvPr/>
        </p:nvSpPr>
        <p:spPr>
          <a:xfrm>
            <a:off x="1481328" y="5504688"/>
            <a:ext cx="9601200" cy="530352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627632" y="5504688"/>
            <a:ext cx="932688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>
                <a:solidFill>
                  <a:srgbClr val="9CDCFE"/>
                </a:solidFill>
                <a:latin typeface="Arial"/>
              </a:rPr>
              <a:t>$ uv run python lab-01-first-autogen-agent/llm_app.py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Develop Multi-Agent AI Applications with AutoGen  ·  TGS-2024045806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51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LAB 1 · PROCEDURE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Set Up AutoGen and Run Your First Agent — Part 2/2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55648"/>
            <a:ext cx="10634472" cy="102412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55648"/>
            <a:ext cx="82296" cy="102412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69264" y="2084832"/>
            <a:ext cx="365760" cy="36576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69264" y="2084832"/>
            <a:ext cx="3657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81328" y="1828800"/>
            <a:ext cx="96926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Run the same model as an AutoGen AssistantAgent with streaming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481328" y="2157984"/>
            <a:ext cx="9601200" cy="530352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627632" y="2157984"/>
            <a:ext cx="932688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>
                <a:solidFill>
                  <a:srgbClr val="9CDCFE"/>
                </a:solidFill>
                <a:latin typeface="Arial"/>
              </a:rPr>
              <a:t>$ uv run python lab-01-first-autogen-agent/first_agent.py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2871216"/>
            <a:ext cx="10634472" cy="102412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77240" y="2871216"/>
            <a:ext cx="82296" cy="102412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969264" y="3200400"/>
            <a:ext cx="365760" cy="36576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69264" y="3200400"/>
            <a:ext cx="3657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81328" y="2871216"/>
            <a:ext cx="9692640" cy="10241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Set temperature to 0 in llm_app.py and re-run twice to compare repeatability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Develop Multi-Agent AI Applications with AutoGen  ·  TGS-2024045806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52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LAB 1 · VERIFY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Set Up AutoGen and Run Your First Agent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10634472" cy="1965960"/>
          </a:xfrm>
          <a:prstGeom prst="rect">
            <a:avLst/>
          </a:prstGeom>
          <a:solidFill>
            <a:srgbClr val="E8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100584" cy="1965960"/>
          </a:xfrm>
          <a:prstGeom prst="rect">
            <a:avLst/>
          </a:prstGeom>
          <a:solidFill>
            <a:srgbClr val="127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1938528"/>
            <a:ext cx="10058400" cy="40233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1">
                <a:solidFill>
                  <a:srgbClr val="127A3E"/>
                </a:solidFill>
                <a:latin typeface="Arial"/>
              </a:rPr>
              <a:t>✅  Expected result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2395728"/>
            <a:ext cx="10058400" cy="12344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161B26"/>
                </a:solidFill>
                <a:latin typeface="Arial"/>
              </a:rPr>
              <a:t>Both scripts print a model reply with no traceback, and you can state one strength (fluent answers) and one limitation (stateless, non-repeatable at temperature 0.7) you just observed.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3950208"/>
            <a:ext cx="10634472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F59E0B"/>
                </a:solidFill>
                <a:latin typeface="Arial"/>
              </a:rPr>
              <a:t>IF IT DOESN'T WORK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77240" y="4297680"/>
            <a:ext cx="3392424" cy="157276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77240" y="4297680"/>
            <a:ext cx="3392424" cy="82296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96696" y="4453128"/>
            <a:ext cx="2980944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Nothing happens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96696" y="4809744"/>
            <a:ext cx="2980944" cy="960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Check the .env file is in the labs folder and the key has no quotes or spaces.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398264" y="4297680"/>
            <a:ext cx="3392424" cy="157276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398264" y="4297680"/>
            <a:ext cx="3392424" cy="82296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617720" y="4453128"/>
            <a:ext cx="2980944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Auth or 401 error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617720" y="4809744"/>
            <a:ext cx="2980944" cy="960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Re-copy the OPENAI_API_KEY into labs/.env — no quotes, no spaces.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019288" y="4297680"/>
            <a:ext cx="3392424" cy="157276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019288" y="4297680"/>
            <a:ext cx="3392424" cy="82296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38744" y="4453128"/>
            <a:ext cx="2980944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ModuleNotFoundError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38744" y="4809744"/>
            <a:ext cx="2980944" cy="960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Run uv sync again, and prefix commands with uv run so the venv is used.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Develop Multi-Agent AI Applications with AutoGen  ·  TGS-2024045806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53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TOPIC 01 · HANDS-ON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Configure Model Clients and Structured Output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19072"/>
            <a:ext cx="1554480" cy="42062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554480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LAB 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487168" y="1719072"/>
            <a:ext cx="8869680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LO1 — compare cloud vs local models and constrain output to a schema.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286000"/>
            <a:ext cx="10634472" cy="1051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0">
                <a:solidFill>
                  <a:srgbClr val="161B26"/>
                </a:solidFill>
                <a:latin typeface="Arial"/>
              </a:rPr>
              <a:t>Run the same prompt against OpenAI's cloud API and a local Ollama model to compare quality, latency and cost, then force an AutoGen agent to reply in a validated Pydantic TicketTriage schema instead of free text.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77240" y="3474720"/>
            <a:ext cx="3392424" cy="1874519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77240" y="3474720"/>
            <a:ext cx="3392424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96696" y="3639312"/>
            <a:ext cx="298094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1F6FEB"/>
                </a:solidFill>
                <a:latin typeface="Arial"/>
              </a:rPr>
              <a:t>YOU'LL BUILD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96696" y="3968496"/>
            <a:ext cx="2980944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A model-comparison script with timings, and a triage agent that returns validated JSON fields.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398264" y="3474720"/>
            <a:ext cx="3392424" cy="1874519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398264" y="3474720"/>
            <a:ext cx="3392424" cy="914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617720" y="3639312"/>
            <a:ext cx="298094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10B981"/>
                </a:solidFill>
                <a:latin typeface="Arial"/>
              </a:rPr>
              <a:t>TOOLCHAIN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17720" y="3968496"/>
            <a:ext cx="2980944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OpenAIChatCompletionClient, Ollama (optional), Pydantic, output_content_type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019288" y="3474720"/>
            <a:ext cx="3392424" cy="1874519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019288" y="3474720"/>
            <a:ext cx="3392424" cy="9144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38744" y="3639312"/>
            <a:ext cx="298094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7C3AED"/>
                </a:solidFill>
                <a:latin typeface="Arial"/>
              </a:rPr>
              <a:t>DONE WHEN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38744" y="3968496"/>
            <a:ext cx="2980944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The triage agent returns a valid TicketTriage object with priority P1 for the outage ticket; you can name the trade-offs (latency, cost, privacy, quality) between the cloud and local model.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Develop Multi-Agent AI Applications with AutoGen  ·  TGS-2024045806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54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LAB 2 · PROCESS MAP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How Lab 2 Runs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77240" y="2148840"/>
            <a:ext cx="1819656" cy="2148840"/>
          </a:xfrm>
          <a:prstGeom prst="roundRect">
            <a:avLst>
              <a:gd name="adj" fmla="val 10000"/>
            </a:avLst>
          </a:prstGeom>
          <a:solidFill>
            <a:srgbClr val="F5F8FC"/>
          </a:solidFill>
          <a:ln w="1587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2148840"/>
            <a:ext cx="1819656" cy="10058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403604" y="2459736"/>
            <a:ext cx="566928" cy="56692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403604" y="2459736"/>
            <a:ext cx="566928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05256" y="3118104"/>
            <a:ext cx="1563624" cy="8595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1">
                <a:solidFill>
                  <a:srgbClr val="161B26"/>
                </a:solidFill>
                <a:latin typeface="Arial"/>
              </a:rPr>
              <a:t>Run the model-client comparison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" y="3822192"/>
            <a:ext cx="1636776" cy="3474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…/model_clients.py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2651760" y="3223260"/>
            <a:ext cx="274320" cy="0"/>
          </a:xfrm>
          <a:prstGeom prst="line">
            <a:avLst/>
          </a:prstGeom>
          <a:ln w="25400">
            <a:solidFill>
              <a:srgbClr val="10B981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2980944" y="2148840"/>
            <a:ext cx="1819656" cy="2148840"/>
          </a:xfrm>
          <a:prstGeom prst="roundRect">
            <a:avLst>
              <a:gd name="adj" fmla="val 10000"/>
            </a:avLst>
          </a:prstGeom>
          <a:solidFill>
            <a:srgbClr val="F5F8FC"/>
          </a:solidFill>
          <a:ln w="1587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2980944" y="2148840"/>
            <a:ext cx="1819656" cy="10058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3607308" y="2459736"/>
            <a:ext cx="566928" cy="56692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607308" y="2459736"/>
            <a:ext cx="566928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108960" y="3118104"/>
            <a:ext cx="1563624" cy="8595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Optional: install Ollama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072384" y="3822192"/>
            <a:ext cx="1636776" cy="3474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ollama pull llama3.2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4855464" y="3223260"/>
            <a:ext cx="274320" cy="0"/>
          </a:xfrm>
          <a:prstGeom prst="line">
            <a:avLst/>
          </a:prstGeom>
          <a:ln w="25400">
            <a:solidFill>
              <a:srgbClr val="10B981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ounded Rectangle 20"/>
          <p:cNvSpPr/>
          <p:nvPr/>
        </p:nvSpPr>
        <p:spPr>
          <a:xfrm>
            <a:off x="5184648" y="2148840"/>
            <a:ext cx="1819656" cy="2148840"/>
          </a:xfrm>
          <a:prstGeom prst="roundRect">
            <a:avLst>
              <a:gd name="adj" fmla="val 10000"/>
            </a:avLst>
          </a:prstGeom>
          <a:solidFill>
            <a:srgbClr val="F5F8FC"/>
          </a:solidFill>
          <a:ln w="1587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184648" y="2148840"/>
            <a:ext cx="1819656" cy="10058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5811012" y="2459736"/>
            <a:ext cx="566928" cy="56692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811012" y="2459736"/>
            <a:ext cx="566928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312664" y="3118104"/>
            <a:ext cx="1563624" cy="8595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161B26"/>
                </a:solidFill>
                <a:latin typeface="Arial"/>
              </a:rPr>
              <a:t>Read the TicketTriage Pydantic schema — the…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7059168" y="3223260"/>
            <a:ext cx="274320" cy="0"/>
          </a:xfrm>
          <a:prstGeom prst="line">
            <a:avLst/>
          </a:prstGeom>
          <a:ln w="25400">
            <a:solidFill>
              <a:srgbClr val="10B981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Rounded Rectangle 26"/>
          <p:cNvSpPr/>
          <p:nvPr/>
        </p:nvSpPr>
        <p:spPr>
          <a:xfrm>
            <a:off x="7388352" y="2148840"/>
            <a:ext cx="1819656" cy="2148840"/>
          </a:xfrm>
          <a:prstGeom prst="roundRect">
            <a:avLst>
              <a:gd name="adj" fmla="val 10000"/>
            </a:avLst>
          </a:prstGeom>
          <a:solidFill>
            <a:srgbClr val="F5F8FC"/>
          </a:solidFill>
          <a:ln w="1587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388352" y="2148840"/>
            <a:ext cx="1819656" cy="10058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8014716" y="2459736"/>
            <a:ext cx="566928" cy="56692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014716" y="2459736"/>
            <a:ext cx="566928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516368" y="3118104"/>
            <a:ext cx="1563624" cy="8595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161B26"/>
                </a:solidFill>
                <a:latin typeface="Arial"/>
              </a:rPr>
              <a:t>Run the structured-output triage agent on…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479792" y="3822192"/>
            <a:ext cx="1636776" cy="3474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…/structured_agent.py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9262872" y="3223260"/>
            <a:ext cx="274320" cy="0"/>
          </a:xfrm>
          <a:prstGeom prst="line">
            <a:avLst/>
          </a:prstGeom>
          <a:ln w="25400">
            <a:solidFill>
              <a:srgbClr val="10B981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Rounded Rectangle 33"/>
          <p:cNvSpPr/>
          <p:nvPr/>
        </p:nvSpPr>
        <p:spPr>
          <a:xfrm>
            <a:off x="9592056" y="2148840"/>
            <a:ext cx="1819656" cy="2148840"/>
          </a:xfrm>
          <a:prstGeom prst="roundRect">
            <a:avLst>
              <a:gd name="adj" fmla="val 10000"/>
            </a:avLst>
          </a:prstGeom>
          <a:solidFill>
            <a:srgbClr val="F5F8FC"/>
          </a:solidFill>
          <a:ln w="1587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9592056" y="2148840"/>
            <a:ext cx="1819656" cy="10058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10218420" y="2459736"/>
            <a:ext cx="566928" cy="56692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0218420" y="2459736"/>
            <a:ext cx="566928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720072" y="3118104"/>
            <a:ext cx="1563624" cy="8595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1">
                <a:solidFill>
                  <a:srgbClr val="161B26"/>
                </a:solidFill>
                <a:latin typeface="Arial"/>
              </a:rPr>
              <a:t>Change the ticket text to a P4 request</a:t>
            </a:r>
          </a:p>
        </p:txBody>
      </p:sp>
      <p:sp>
        <p:nvSpPr>
          <p:cNvPr id="39" name="Rectangle 38"/>
          <p:cNvSpPr/>
          <p:nvPr/>
        </p:nvSpPr>
        <p:spPr>
          <a:xfrm>
            <a:off x="777240" y="4608576"/>
            <a:ext cx="10634472" cy="10515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777240" y="4608576"/>
            <a:ext cx="100584" cy="105156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051560" y="4718304"/>
            <a:ext cx="1014984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10B981"/>
                </a:solidFill>
                <a:latin typeface="Arial"/>
              </a:rPr>
              <a:t>THE POINT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51560" y="5029200"/>
            <a:ext cx="1014984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LO1 — compare cloud vs local models and constrain output to a schema.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Develop Multi-Agent AI Applications with AutoGen  ·  TGS-2024045806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55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0" fill="hold">
                      <p:stCondLst>
                        <p:cond delay="indefinite"/>
                      </p:stCondLst>
                      <p:childTnLst>
                        <p:par>
                          <p:cTn id="61" fill="hold">
                            <p:stCondLst>
                              <p:cond delay="0"/>
                            </p:stCondLst>
                            <p:childTnLst>
                              <p:par>
                                <p:cTn id="6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0" fill="hold">
                      <p:stCondLst>
                        <p:cond delay="indefinite"/>
                      </p:stCondLst>
                      <p:childTnLst>
                        <p:par>
                          <p:cTn id="71" fill="hold">
                            <p:stCondLst>
                              <p:cond delay="0"/>
                            </p:stCondLst>
                            <p:childTnLst>
                              <p:par>
                                <p:cTn id="7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0" fill="hold">
                      <p:stCondLst>
                        <p:cond delay="indefinite"/>
                      </p:stCondLst>
                      <p:childTnLst>
                        <p:par>
                          <p:cTn id="81" fill="hold">
                            <p:stCondLst>
                              <p:cond delay="0"/>
                            </p:stCondLst>
                            <p:childTnLst>
                              <p:par>
                                <p:cTn id="8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4" dur="4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0" fill="hold">
                      <p:stCondLst>
                        <p:cond delay="indefinite"/>
                      </p:stCondLst>
                      <p:childTnLst>
                        <p:par>
                          <p:cTn id="91" fill="hold">
                            <p:stCondLst>
                              <p:cond delay="0"/>
                            </p:stCondLst>
                            <p:childTnLst>
                              <p:par>
                                <p:cTn id="9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4" dur="4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  <p:transition spd="fast" advClick="1">
    <p:fade/>
  </p:transition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LAB 2 · PROCEDURE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500" b="1">
                <a:solidFill>
                  <a:srgbClr val="161B26"/>
                </a:solidFill>
                <a:latin typeface="Arial"/>
              </a:rPr>
              <a:t>Configure Model Clients and Structured Output — Part 1/2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55648"/>
            <a:ext cx="10634472" cy="102412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55648"/>
            <a:ext cx="82296" cy="102412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69264" y="2084832"/>
            <a:ext cx="365760" cy="36576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69264" y="2084832"/>
            <a:ext cx="3657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81328" y="1828800"/>
            <a:ext cx="96926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Run the model-client comparison (OpenAI cloud, with timing)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481328" y="2157984"/>
            <a:ext cx="9601200" cy="530352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627632" y="2157984"/>
            <a:ext cx="932688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>
                <a:solidFill>
                  <a:srgbClr val="9CDCFE"/>
                </a:solidFill>
                <a:latin typeface="Arial"/>
              </a:rPr>
              <a:t>$ uv run python lab-02-model-clients-structured-output/model_clients.py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2871216"/>
            <a:ext cx="10634472" cy="102412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77240" y="2871216"/>
            <a:ext cx="82296" cy="102412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969264" y="3200400"/>
            <a:ext cx="365760" cy="36576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69264" y="3200400"/>
            <a:ext cx="3657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81328" y="2944368"/>
            <a:ext cx="96926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Optional: install Ollama and pull a local model, then re-run to compare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481328" y="3273552"/>
            <a:ext cx="9601200" cy="530352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627632" y="3273552"/>
            <a:ext cx="932688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>
                <a:solidFill>
                  <a:srgbClr val="9CDCFE"/>
                </a:solidFill>
                <a:latin typeface="Arial"/>
              </a:rPr>
              <a:t>$ ollama pull llama3.2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77240" y="3986784"/>
            <a:ext cx="10634472" cy="102412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77240" y="3986784"/>
            <a:ext cx="82296" cy="102412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969264" y="4315968"/>
            <a:ext cx="365760" cy="36576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69264" y="4315968"/>
            <a:ext cx="3657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481328" y="3986784"/>
            <a:ext cx="9692640" cy="10241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Read the TicketTriage Pydantic schema — the contract the agent must obey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77240" y="5102352"/>
            <a:ext cx="10634472" cy="102412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777240" y="5102352"/>
            <a:ext cx="82296" cy="102412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969264" y="5431536"/>
            <a:ext cx="365760" cy="36576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69264" y="5431536"/>
            <a:ext cx="3657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481328" y="5175504"/>
            <a:ext cx="96926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Run the structured-output triage agent on the outage ticket</a:t>
            </a:r>
          </a:p>
        </p:txBody>
      </p:sp>
      <p:sp>
        <p:nvSpPr>
          <p:cNvPr id="31" name="Rectangle 30"/>
          <p:cNvSpPr/>
          <p:nvPr/>
        </p:nvSpPr>
        <p:spPr>
          <a:xfrm>
            <a:off x="1481328" y="5504688"/>
            <a:ext cx="9601200" cy="530352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627632" y="5504688"/>
            <a:ext cx="932688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>
                <a:solidFill>
                  <a:srgbClr val="9CDCFE"/>
                </a:solidFill>
                <a:latin typeface="Arial"/>
              </a:rPr>
              <a:t>$ uv run python lab-02-model-clients-structured-output/structured_agent.py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Develop Multi-Agent AI Applications with AutoGen  ·  TGS-2024045806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56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LAB 2 · PROCEDURE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500" b="1">
                <a:solidFill>
                  <a:srgbClr val="161B26"/>
                </a:solidFill>
                <a:latin typeface="Arial"/>
              </a:rPr>
              <a:t>Configure Model Clients and Structured Output — Part 2/2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55648"/>
            <a:ext cx="10634472" cy="102412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55648"/>
            <a:ext cx="82296" cy="102412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69264" y="2084832"/>
            <a:ext cx="365760" cy="36576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69264" y="2084832"/>
            <a:ext cx="3657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81328" y="1755648"/>
            <a:ext cx="9692640" cy="10241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Change the ticket text to a P4 request and re-run — watch the fields change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Develop Multi-Agent AI Applications with AutoGen  ·  TGS-2024045806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57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LAB 2 · VERIFY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Configure Model Clients and Structured Output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10634472" cy="1965960"/>
          </a:xfrm>
          <a:prstGeom prst="rect">
            <a:avLst/>
          </a:prstGeom>
          <a:solidFill>
            <a:srgbClr val="E8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100584" cy="1965960"/>
          </a:xfrm>
          <a:prstGeom prst="rect">
            <a:avLst/>
          </a:prstGeom>
          <a:solidFill>
            <a:srgbClr val="127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1938528"/>
            <a:ext cx="10058400" cy="40233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1">
                <a:solidFill>
                  <a:srgbClr val="127A3E"/>
                </a:solidFill>
                <a:latin typeface="Arial"/>
              </a:rPr>
              <a:t>✅  Expected result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2395728"/>
            <a:ext cx="10058400" cy="12344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161B26"/>
                </a:solidFill>
                <a:latin typeface="Arial"/>
              </a:rPr>
              <a:t>The triage agent returns a valid TicketTriage object with priority P1 for the outage ticket; you can name the trade-offs (latency, cost, privacy, quality) between the cloud and local model.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3950208"/>
            <a:ext cx="10634472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F59E0B"/>
                </a:solidFill>
                <a:latin typeface="Arial"/>
              </a:rPr>
              <a:t>IF IT DOESN'T WORK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77240" y="4297680"/>
            <a:ext cx="3392424" cy="157276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77240" y="4297680"/>
            <a:ext cx="3392424" cy="82296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96696" y="4453128"/>
            <a:ext cx="2980944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Nothing happens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96696" y="4809744"/>
            <a:ext cx="2980944" cy="960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Check the .env file is in the labs folder and the key has no quotes or spaces.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398264" y="4297680"/>
            <a:ext cx="3392424" cy="157276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398264" y="4297680"/>
            <a:ext cx="3392424" cy="82296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617720" y="4453128"/>
            <a:ext cx="2980944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Auth or 401 error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617720" y="4809744"/>
            <a:ext cx="2980944" cy="960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Re-copy the OPENAI_API_KEY into labs/.env — no quotes, no spaces.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019288" y="4297680"/>
            <a:ext cx="3392424" cy="157276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019288" y="4297680"/>
            <a:ext cx="3392424" cy="82296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38744" y="4453128"/>
            <a:ext cx="2980944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ModuleNotFoundError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38744" y="4809744"/>
            <a:ext cx="2980944" cy="960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Run uv sync again, and prefix commands with uv run so the venv is used.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Develop Multi-Agent AI Applications with AutoGen  ·  TGS-2024045806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58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TOPIC 01 · HANDS-ON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Equip an Agent with Tools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19072"/>
            <a:ext cx="1554480" cy="42062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554480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LAB 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487168" y="1719072"/>
            <a:ext cx="8869680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LO1 — extend an LLM's limits with function calling and FunctionTool.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286000"/>
            <a:ext cx="10634472" cy="1051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0">
                <a:solidFill>
                  <a:srgbClr val="161B26"/>
                </a:solidFill>
                <a:latin typeface="Arial"/>
              </a:rPr>
              <a:t>Do raw OpenAI function calling by hand against the synthetic ticket dataset, then let AutoGen's FunctionTool generate the schema, execute the calls and reflect on the results with two read-only ticket tools.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77240" y="3474720"/>
            <a:ext cx="3392424" cy="1874519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77240" y="3474720"/>
            <a:ext cx="3392424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96696" y="3639312"/>
            <a:ext cx="298094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1F6FEB"/>
                </a:solidFill>
                <a:latin typeface="Arial"/>
              </a:rPr>
              <a:t>YOU'LL BUILD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96696" y="3968496"/>
            <a:ext cx="2980944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A hand-rolled function-calling round trip, and a help-desk agent with lookup_ticket and count_open_tickets tools.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398264" y="3474720"/>
            <a:ext cx="3392424" cy="1874519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398264" y="3474720"/>
            <a:ext cx="3392424" cy="914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617720" y="3639312"/>
            <a:ext cx="298094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10B981"/>
                </a:solidFill>
                <a:latin typeface="Arial"/>
              </a:rPr>
              <a:t>TOOLCHAIN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17720" y="3968496"/>
            <a:ext cx="2980944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OpenAI function calling, FunctionTool, reflect_on_tool_use, tickets.json mock data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019288" y="3474720"/>
            <a:ext cx="3392424" cy="1874519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019288" y="3474720"/>
            <a:ext cx="3392424" cy="9144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38744" y="3639312"/>
            <a:ext cx="298094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7C3AED"/>
                </a:solidFill>
                <a:latin typeface="Arial"/>
              </a:rPr>
              <a:t>DONE WHEN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38744" y="3968496"/>
            <a:ext cx="2980944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The agent reports the real subject of TT-1005 and the correct count of open P2 tickets — every fact traceable to a tool result, none invented.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Develop Multi-Agent AI Applications with AutoGen  ·  TGS-2024045806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59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LAB 3 · PROCESS MAP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How Lab 3 Runs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77240" y="2148840"/>
            <a:ext cx="1819656" cy="2148840"/>
          </a:xfrm>
          <a:prstGeom prst="roundRect">
            <a:avLst>
              <a:gd name="adj" fmla="val 10000"/>
            </a:avLst>
          </a:prstGeom>
          <a:solidFill>
            <a:srgbClr val="F5F8FC"/>
          </a:solidFill>
          <a:ln w="1587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2148840"/>
            <a:ext cx="1819656" cy="10058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403604" y="2459736"/>
            <a:ext cx="566928" cy="56692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403604" y="2459736"/>
            <a:ext cx="566928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05256" y="3118104"/>
            <a:ext cx="1563624" cy="8595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161B26"/>
                </a:solidFill>
                <a:latin typeface="Arial"/>
              </a:rPr>
              <a:t>Inspect the synthetic ticket data the tools…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" y="3822192"/>
            <a:ext cx="1636776" cy="3474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cat data/tickets.json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2651760" y="3223260"/>
            <a:ext cx="274320" cy="0"/>
          </a:xfrm>
          <a:prstGeom prst="line">
            <a:avLst/>
          </a:prstGeom>
          <a:ln w="25400">
            <a:solidFill>
              <a:srgbClr val="10B981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2980944" y="2148840"/>
            <a:ext cx="1819656" cy="2148840"/>
          </a:xfrm>
          <a:prstGeom prst="roundRect">
            <a:avLst>
              <a:gd name="adj" fmla="val 10000"/>
            </a:avLst>
          </a:prstGeom>
          <a:solidFill>
            <a:srgbClr val="F5F8FC"/>
          </a:solidFill>
          <a:ln w="1587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2980944" y="2148840"/>
            <a:ext cx="1819656" cy="10058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3607308" y="2459736"/>
            <a:ext cx="566928" cy="56692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607308" y="2459736"/>
            <a:ext cx="566928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108960" y="3118104"/>
            <a:ext cx="1563624" cy="8595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1">
                <a:solidFill>
                  <a:srgbClr val="161B26"/>
                </a:solidFill>
                <a:latin typeface="Arial"/>
              </a:rPr>
              <a:t>Run raw function calling: schema →…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072384" y="3822192"/>
            <a:ext cx="1636776" cy="3474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…/function_calling.py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4855464" y="3223260"/>
            <a:ext cx="274320" cy="0"/>
          </a:xfrm>
          <a:prstGeom prst="line">
            <a:avLst/>
          </a:prstGeom>
          <a:ln w="25400">
            <a:solidFill>
              <a:srgbClr val="10B981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ounded Rectangle 20"/>
          <p:cNvSpPr/>
          <p:nvPr/>
        </p:nvSpPr>
        <p:spPr>
          <a:xfrm>
            <a:off x="5184648" y="2148840"/>
            <a:ext cx="1819656" cy="2148840"/>
          </a:xfrm>
          <a:prstGeom prst="roundRect">
            <a:avLst>
              <a:gd name="adj" fmla="val 10000"/>
            </a:avLst>
          </a:prstGeom>
          <a:solidFill>
            <a:srgbClr val="F5F8FC"/>
          </a:solidFill>
          <a:ln w="1587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184648" y="2148840"/>
            <a:ext cx="1819656" cy="10058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5811012" y="2459736"/>
            <a:ext cx="566928" cy="56692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811012" y="2459736"/>
            <a:ext cx="566928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312664" y="3118104"/>
            <a:ext cx="1563624" cy="8595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1">
                <a:solidFill>
                  <a:srgbClr val="161B26"/>
                </a:solidFill>
                <a:latin typeface="Arial"/>
              </a:rPr>
              <a:t>Read tool_agent.py — one typed Python…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7059168" y="3223260"/>
            <a:ext cx="274320" cy="0"/>
          </a:xfrm>
          <a:prstGeom prst="line">
            <a:avLst/>
          </a:prstGeom>
          <a:ln w="25400">
            <a:solidFill>
              <a:srgbClr val="10B981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Rounded Rectangle 26"/>
          <p:cNvSpPr/>
          <p:nvPr/>
        </p:nvSpPr>
        <p:spPr>
          <a:xfrm>
            <a:off x="7388352" y="2148840"/>
            <a:ext cx="1819656" cy="2148840"/>
          </a:xfrm>
          <a:prstGeom prst="roundRect">
            <a:avLst>
              <a:gd name="adj" fmla="val 10000"/>
            </a:avLst>
          </a:prstGeom>
          <a:solidFill>
            <a:srgbClr val="F5F8FC"/>
          </a:solidFill>
          <a:ln w="1587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388352" y="2148840"/>
            <a:ext cx="1819656" cy="10058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8014716" y="2459736"/>
            <a:ext cx="566928" cy="56692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014716" y="2459736"/>
            <a:ext cx="566928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516368" y="3118104"/>
            <a:ext cx="1563624" cy="8595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Run the AutoGen tool agent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479792" y="3822192"/>
            <a:ext cx="1636776" cy="3474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…/tool_agent.py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9262872" y="3223260"/>
            <a:ext cx="274320" cy="0"/>
          </a:xfrm>
          <a:prstGeom prst="line">
            <a:avLst/>
          </a:prstGeom>
          <a:ln w="25400">
            <a:solidFill>
              <a:srgbClr val="10B981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Rounded Rectangle 33"/>
          <p:cNvSpPr/>
          <p:nvPr/>
        </p:nvSpPr>
        <p:spPr>
          <a:xfrm>
            <a:off x="9592056" y="2148840"/>
            <a:ext cx="1819656" cy="2148840"/>
          </a:xfrm>
          <a:prstGeom prst="roundRect">
            <a:avLst>
              <a:gd name="adj" fmla="val 10000"/>
            </a:avLst>
          </a:prstGeom>
          <a:solidFill>
            <a:srgbClr val="F5F8FC"/>
          </a:solidFill>
          <a:ln w="1587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9592056" y="2148840"/>
            <a:ext cx="1819656" cy="10058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10218420" y="2459736"/>
            <a:ext cx="566928" cy="56692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0218420" y="2459736"/>
            <a:ext cx="566928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720072" y="3118104"/>
            <a:ext cx="1563624" cy="8595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1">
                <a:solidFill>
                  <a:srgbClr val="161B26"/>
                </a:solidFill>
                <a:latin typeface="Arial"/>
              </a:rPr>
              <a:t>Ask a question needing BOTH tools</a:t>
            </a:r>
          </a:p>
        </p:txBody>
      </p:sp>
      <p:sp>
        <p:nvSpPr>
          <p:cNvPr id="39" name="Rectangle 38"/>
          <p:cNvSpPr/>
          <p:nvPr/>
        </p:nvSpPr>
        <p:spPr>
          <a:xfrm>
            <a:off x="777240" y="4608576"/>
            <a:ext cx="10634472" cy="10515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777240" y="4608576"/>
            <a:ext cx="100584" cy="105156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051560" y="4718304"/>
            <a:ext cx="1014984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10B981"/>
                </a:solidFill>
                <a:latin typeface="Arial"/>
              </a:rPr>
              <a:t>THE POINT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51560" y="5029200"/>
            <a:ext cx="1014984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LO1 — extend an LLM's limits with function calling and FunctionTool.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Develop Multi-Agent AI Applications with AutoGen  ·  TGS-2024045806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60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0" fill="hold">
                      <p:stCondLst>
                        <p:cond delay="indefinite"/>
                      </p:stCondLst>
                      <p:childTnLst>
                        <p:par>
                          <p:cTn id="61" fill="hold">
                            <p:stCondLst>
                              <p:cond delay="0"/>
                            </p:stCondLst>
                            <p:childTnLst>
                              <p:par>
                                <p:cTn id="6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0" fill="hold">
                      <p:stCondLst>
                        <p:cond delay="indefinite"/>
                      </p:stCondLst>
                      <p:childTnLst>
                        <p:par>
                          <p:cTn id="71" fill="hold">
                            <p:stCondLst>
                              <p:cond delay="0"/>
                            </p:stCondLst>
                            <p:childTnLst>
                              <p:par>
                                <p:cTn id="7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0" fill="hold">
                      <p:stCondLst>
                        <p:cond delay="indefinite"/>
                      </p:stCondLst>
                      <p:childTnLst>
                        <p:par>
                          <p:cTn id="81" fill="hold">
                            <p:stCondLst>
                              <p:cond delay="0"/>
                            </p:stCondLst>
                            <p:childTnLst>
                              <p:par>
                                <p:cTn id="8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4" dur="4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0" fill="hold">
                      <p:stCondLst>
                        <p:cond delay="indefinite"/>
                      </p:stCondLst>
                      <p:childTnLst>
                        <p:par>
                          <p:cTn id="91" fill="hold">
                            <p:stCondLst>
                              <p:cond delay="0"/>
                            </p:stCondLst>
                            <p:childTnLst>
                              <p:par>
                                <p:cTn id="9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4" dur="4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  <p:transition spd="fast" advClick="1">
    <p:fade/>
  </p:transition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LAB 3 · PROCEDURE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Equip an Agent with Tools — Part 1/2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55648"/>
            <a:ext cx="10634472" cy="102412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55648"/>
            <a:ext cx="82296" cy="102412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69264" y="2084832"/>
            <a:ext cx="365760" cy="36576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69264" y="2084832"/>
            <a:ext cx="3657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81328" y="1828800"/>
            <a:ext cx="96926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Inspect the synthetic ticket data the tools will read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481328" y="2157984"/>
            <a:ext cx="9601200" cy="530352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627632" y="2157984"/>
            <a:ext cx="932688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>
                <a:solidFill>
                  <a:srgbClr val="9CDCFE"/>
                </a:solidFill>
                <a:latin typeface="Arial"/>
              </a:rPr>
              <a:t>$ cat data/tickets.json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2871216"/>
            <a:ext cx="10634472" cy="102412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77240" y="2871216"/>
            <a:ext cx="82296" cy="102412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969264" y="3200400"/>
            <a:ext cx="365760" cy="36576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69264" y="3200400"/>
            <a:ext cx="3657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81328" y="2944368"/>
            <a:ext cx="96926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Run raw function calling: schema → tool_call → execute → final answer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481328" y="3273552"/>
            <a:ext cx="9601200" cy="530352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627632" y="3273552"/>
            <a:ext cx="932688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>
                <a:solidFill>
                  <a:srgbClr val="9CDCFE"/>
                </a:solidFill>
                <a:latin typeface="Arial"/>
              </a:rPr>
              <a:t>$ uv run python lab-03-agent-tools/function_calling.py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77240" y="3986784"/>
            <a:ext cx="10634472" cy="102412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77240" y="3986784"/>
            <a:ext cx="82296" cy="102412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969264" y="4315968"/>
            <a:ext cx="365760" cy="36576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69264" y="4315968"/>
            <a:ext cx="3657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481328" y="3986784"/>
            <a:ext cx="9692640" cy="10241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Read tool_agent.py — one typed Python function becomes one FunctionTool line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77240" y="5102352"/>
            <a:ext cx="10634472" cy="102412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777240" y="5102352"/>
            <a:ext cx="82296" cy="102412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969264" y="5431536"/>
            <a:ext cx="365760" cy="36576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69264" y="5431536"/>
            <a:ext cx="3657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481328" y="5175504"/>
            <a:ext cx="96926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Run the AutoGen tool agent and watch ToolCallRequestEvent / ToolCallExecutionEvent</a:t>
            </a:r>
          </a:p>
        </p:txBody>
      </p:sp>
      <p:sp>
        <p:nvSpPr>
          <p:cNvPr id="31" name="Rectangle 30"/>
          <p:cNvSpPr/>
          <p:nvPr/>
        </p:nvSpPr>
        <p:spPr>
          <a:xfrm>
            <a:off x="1481328" y="5504688"/>
            <a:ext cx="9601200" cy="530352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627632" y="5504688"/>
            <a:ext cx="932688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>
                <a:solidFill>
                  <a:srgbClr val="9CDCFE"/>
                </a:solidFill>
                <a:latin typeface="Arial"/>
              </a:rPr>
              <a:t>$ uv run python lab-03-agent-tools/tool_agent.py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Develop Multi-Agent AI Applications with AutoGen  ·  TGS-2024045806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61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LAB 3 · PROCEDURE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Equip an Agent with Tools — Part 2/2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55648"/>
            <a:ext cx="10634472" cy="102412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55648"/>
            <a:ext cx="82296" cy="102412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69264" y="2084832"/>
            <a:ext cx="365760" cy="36576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69264" y="2084832"/>
            <a:ext cx="3657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81328" y="1755648"/>
            <a:ext cx="9692640" cy="10241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Ask a question needing BOTH tools and confirm two tool calls are made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Develop Multi-Agent AI Applications with AutoGen  ·  TGS-2024045806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62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LAB 3 · VERIFY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Equip an Agent with Tools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10634472" cy="1965960"/>
          </a:xfrm>
          <a:prstGeom prst="rect">
            <a:avLst/>
          </a:prstGeom>
          <a:solidFill>
            <a:srgbClr val="E8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100584" cy="1965960"/>
          </a:xfrm>
          <a:prstGeom prst="rect">
            <a:avLst/>
          </a:prstGeom>
          <a:solidFill>
            <a:srgbClr val="127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1938528"/>
            <a:ext cx="10058400" cy="40233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1">
                <a:solidFill>
                  <a:srgbClr val="127A3E"/>
                </a:solidFill>
                <a:latin typeface="Arial"/>
              </a:rPr>
              <a:t>✅  Expected result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2395728"/>
            <a:ext cx="10058400" cy="12344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161B26"/>
                </a:solidFill>
                <a:latin typeface="Arial"/>
              </a:rPr>
              <a:t>The agent reports the real subject of TT-1005 and the correct count of open P2 tickets — every fact traceable to a tool result, none invented.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3950208"/>
            <a:ext cx="10634472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F59E0B"/>
                </a:solidFill>
                <a:latin typeface="Arial"/>
              </a:rPr>
              <a:t>IF IT DOESN'T WORK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77240" y="4297680"/>
            <a:ext cx="3392424" cy="157276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77240" y="4297680"/>
            <a:ext cx="3392424" cy="82296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96696" y="4453128"/>
            <a:ext cx="2980944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Nothing happens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96696" y="4809744"/>
            <a:ext cx="2980944" cy="960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Check the .env file is in the labs folder and the key has no quotes or spaces.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398264" y="4297680"/>
            <a:ext cx="3392424" cy="157276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398264" y="4297680"/>
            <a:ext cx="3392424" cy="82296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617720" y="4453128"/>
            <a:ext cx="2980944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Auth or 401 error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617720" y="4809744"/>
            <a:ext cx="2980944" cy="960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Re-copy the OPENAI_API_KEY into labs/.env — no quotes, no spaces.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019288" y="4297680"/>
            <a:ext cx="3392424" cy="157276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019288" y="4297680"/>
            <a:ext cx="3392424" cy="82296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38744" y="4453128"/>
            <a:ext cx="2980944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ModuleNotFoundError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38744" y="4809744"/>
            <a:ext cx="2980944" cy="960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Run uv sync again, and prefix commands with uv run so the venv is used.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Develop Multi-Agent AI Applications with AutoGen  ·  TGS-2024045806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63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TOPIC RECAP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Recap — Introduction to LLM AI Orchestration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783080"/>
            <a:ext cx="1060704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700" b="0">
                <a:solidFill>
                  <a:srgbClr val="161B26"/>
                </a:solidFill>
                <a:latin typeface="Arial"/>
              </a:rPr>
              <a:t>•  You can now: evaluate an LLM by running it directly, then as an AutoGen agent.</a:t>
            </a:r>
          </a:p>
          <a:p>
            <a:pPr>
              <a:spcAft>
                <a:spcPts val="1000"/>
              </a:spcAft>
            </a:pPr>
            <a:r>
              <a:rPr sz="1700" b="0">
                <a:solidFill>
                  <a:srgbClr val="161B26"/>
                </a:solidFill>
                <a:latin typeface="Arial"/>
              </a:rPr>
              <a:t>•  You can now: compare cloud vs local models and constrain output to a schema.</a:t>
            </a:r>
          </a:p>
          <a:p>
            <a:pPr>
              <a:spcAft>
                <a:spcPts val="1000"/>
              </a:spcAft>
            </a:pPr>
            <a:r>
              <a:rPr sz="1700" b="0">
                <a:solidFill>
                  <a:srgbClr val="161B26"/>
                </a:solidFill>
                <a:latin typeface="Arial"/>
              </a:rPr>
              <a:t>•  You can now: extend an LLM's limits with function calling and FunctionTool.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Develop Multi-Agent AI Applications with AutoGen  ·  TGS-2024045806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64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2286000"/>
            <a:ext cx="128016" cy="18288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2331720"/>
            <a:ext cx="10058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TOPIC 02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2743200"/>
            <a:ext cx="1042416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4000" b="1">
                <a:solidFill>
                  <a:srgbClr val="161B26"/>
                </a:solidFill>
                <a:latin typeface="Arial"/>
              </a:rPr>
              <a:t>Retrieval-Augmented Generation (RAG)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61288" y="4160520"/>
            <a:ext cx="100584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0">
                <a:solidFill>
                  <a:srgbClr val="5B6372"/>
                </a:solidFill>
                <a:latin typeface="Arial"/>
              </a:rPr>
              <a:t>Embeddings · chunking · vector database · similarity search · grounded agents · evaluation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0" y="640080"/>
            <a:ext cx="256032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7200" b="1">
                <a:solidFill>
                  <a:srgbClr val="E2E8F0"/>
                </a:solidFill>
                <a:latin typeface="Arial"/>
              </a:rPr>
              <a:t>02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Develop Multi-Agent AI Applications with AutoGen  ·  TGS-2024045806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65</a:t>
            </a:r>
          </a:p>
        </p:txBody>
      </p:sp>
    </p:spTree>
  </p:cSld>
  <p:clrMapOvr>
    <a:masterClrMapping/>
  </p:clrMapOvr>
  <p:transition spd="med" advClick="1">
    <p:push dir="l"/>
  </p:transition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TOPIC WEIGHTING 36%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Key Concepts — Retrieval-Augmented Generation (RAG)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10634472" cy="9144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9144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33272" y="1965960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3272" y="196596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4792" y="1874520"/>
            <a:ext cx="9427464" cy="7680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RAG lets an LLM answer from knowledge outside its training data by retrieving relevant text and stuffing it into the prompt — fresher answers, fewer hallucinations, source citations.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77240" y="2935224"/>
            <a:ext cx="10634472" cy="9144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77240" y="2935224"/>
            <a:ext cx="91440" cy="9144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033272" y="3118104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33272" y="3118104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764792" y="3026664"/>
            <a:ext cx="9427464" cy="7680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A text embedding maps text to a vector; semantically similar texts land close together, so meaning becomes measurable as cosine similarity.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4087368"/>
            <a:ext cx="10634472" cy="9144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4087368"/>
            <a:ext cx="91440" cy="91440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33272" y="4270248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33272" y="4270248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64792" y="4178808"/>
            <a:ext cx="9427464" cy="7680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Chunking decides what one retrievable unit is; chunk boundaries (by section, paragraph or tokens, with overlap) directly change retrieval quality.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77240" y="5239512"/>
            <a:ext cx="10634472" cy="9144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777240" y="5239512"/>
            <a:ext cx="91440" cy="9144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1033272" y="5422392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33272" y="542239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764792" y="5330952"/>
            <a:ext cx="9427464" cy="7680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A vector database (ChromaDB) stores embeddings and answers approximate nearest-neighbour queries in milliseconds.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Develop Multi-Agent AI Applications with AutoGen  ·  TGS-2024045806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66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TOPIC WEIGHTING 36%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500" b="1">
                <a:solidFill>
                  <a:srgbClr val="161B26"/>
                </a:solidFill>
                <a:latin typeface="Arial"/>
              </a:rPr>
              <a:t>Key Concepts — Retrieval-Augmented Generation (RAG) (continued)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10634472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129844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33272" y="2157984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3272" y="2157984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4792" y="1874520"/>
            <a:ext cx="9427464" cy="115214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The RAG pipeline: load → chunk → embed → store at indexing time; embed query → similarity search → augment prompt → generate at answer time.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77240" y="3319272"/>
            <a:ext cx="10634472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77240" y="3319272"/>
            <a:ext cx="91440" cy="129844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033272" y="3694176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33272" y="3694176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764792" y="3410712"/>
            <a:ext cx="9427464" cy="115214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An agentic RAG agent calls retrieval as a tool, cites source ids, and refuses when evidence is missing — and treats retrieved text as data, never as instructions (prompt-injection defence).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4855464"/>
            <a:ext cx="10634472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4855464"/>
            <a:ext cx="91440" cy="129844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33272" y="5230368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33272" y="5230368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64792" y="4946904"/>
            <a:ext cx="9427464" cy="115214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RAG efficiency is analysed with numbers: hit@k retrieval accuracy on a gold question set, retrieval latency, chunk count and top-k — change one lever, re-measure.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Develop Multi-Agent AI Applications with AutoGen  ·  TGS-2024045806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67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TOPIC 02 · THE PIPELINE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Retrieval-Augmented Generation at a Glance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947809" y="1718310"/>
            <a:ext cx="6293334" cy="3558540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rag_pipel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66859" y="1737360"/>
            <a:ext cx="6255234" cy="352044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777240" y="5440680"/>
            <a:ext cx="10634472" cy="868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77240" y="5440680"/>
            <a:ext cx="100584" cy="86868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51560" y="5532120"/>
            <a:ext cx="101498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10B981"/>
                </a:solidFill>
                <a:latin typeface="Arial"/>
              </a:rPr>
              <a:t>THE IDEA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1560" y="5806440"/>
            <a:ext cx="101498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Your documents are chunked and embedded into a vector database; at question time the most similar chunks are retrieved and given to the model as evidence — answers become current, grounded and citable.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Develop Multi-Agent AI Applications with AutoGen  ·  TGS-2024045806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68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TOPIC 02 · MOTIVATION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Why RAG?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129844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33272" y="2157984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3272" y="2157984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4792" y="1911096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Fresh knowledge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Answers come from YOUR documents, not the model's training cut-off.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129844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87668" y="2157984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87668" y="2157984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19188" y="1911096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Fewer hallucinations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The model quotes retrieved evidence instead of inventing facts.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3319272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3319272"/>
            <a:ext cx="91440" cy="129844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33272" y="3694176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33272" y="3694176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64792" y="3447288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Citations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Every answer can name its source id — auditable and trustworthy.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3319272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3319272"/>
            <a:ext cx="91440" cy="129844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87668" y="3694176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87668" y="3694176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19188" y="3447288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Cheaper than fine-tuning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Update the index, not the model — new policy PDF, same LLM.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77240" y="4855464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77240" y="4855464"/>
            <a:ext cx="91440" cy="129844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1033272" y="5230368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33272" y="5230368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764792" y="4983480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Access control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Retrieval can respect who is allowed to see which document.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231636" y="4855464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231636" y="4855464"/>
            <a:ext cx="91440" cy="129844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6487668" y="5230368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87668" y="5230368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219188" y="4983480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Smaller prompts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Only the relevant chunks travel — not the whole handbook.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Develop Multi-Agent AI Applications with AutoGen  ·  TGS-2024045806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69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TOPIC 02 · EMBEDDINGS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Text Embeddings — Meaning as Numbers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206654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33272" y="2542032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3272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4792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700" b="1">
                <a:solidFill>
                  <a:srgbClr val="161B26"/>
                </a:solidFill>
                <a:latin typeface="Arial"/>
              </a:rPr>
              <a:t>What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An embedding model maps text to a vector of hundreds of numbers.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206654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87668" y="2542032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87668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19188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700" b="1">
                <a:solidFill>
                  <a:srgbClr val="161B26"/>
                </a:solidFill>
                <a:latin typeface="Arial"/>
              </a:rPr>
              <a:t>Property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Semantically similar texts land close together in that vector space.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4087368"/>
            <a:ext cx="91440" cy="206654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33272" y="4846320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33272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64792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700" b="1">
                <a:solidFill>
                  <a:srgbClr val="161B26"/>
                </a:solidFill>
                <a:latin typeface="Arial"/>
              </a:rPr>
              <a:t>Similarity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Closeness is measured with cosine similarity (or distance = 1 − similarity).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4087368"/>
            <a:ext cx="91440" cy="206654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87668" y="4846320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87668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19188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700" b="1">
                <a:solidFill>
                  <a:srgbClr val="161B26"/>
                </a:solidFill>
                <a:latin typeface="Arial"/>
              </a:rPr>
              <a:t>In our labs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ChromaDB embeds locally with all-MiniLM-L6-v2 — no API key, no data leaving your laptop.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Develop Multi-Agent AI Applications with AutoGen  ·  TGS-2024045806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70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TOPIC 02 · CHUNKING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Chunking Strategies — the First RAG Design Decision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2764962" cy="47548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05256" y="1783080"/>
            <a:ext cx="2508930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Strategy</a:t>
            </a:r>
          </a:p>
        </p:txBody>
      </p:sp>
      <p:sp>
        <p:nvSpPr>
          <p:cNvPr id="9" name="Rectangle 8"/>
          <p:cNvSpPr/>
          <p:nvPr/>
        </p:nvSpPr>
        <p:spPr>
          <a:xfrm>
            <a:off x="3542202" y="1783080"/>
            <a:ext cx="2623170" cy="47548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70218" y="1783080"/>
            <a:ext cx="2367138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How it splits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165372" y="1783080"/>
            <a:ext cx="2623170" cy="47548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293388" y="1783080"/>
            <a:ext cx="2367138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Pros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788542" y="1783080"/>
            <a:ext cx="2623170" cy="47548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916558" y="1783080"/>
            <a:ext cx="2367138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Cons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77240" y="2258568"/>
            <a:ext cx="2764962" cy="71323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05256" y="2258568"/>
            <a:ext cx="250893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>
                <a:solidFill>
                  <a:srgbClr val="161B26"/>
                </a:solidFill>
                <a:latin typeface="Arial"/>
              </a:rPr>
              <a:t>By section header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542202" y="2258568"/>
            <a:ext cx="2623170" cy="71323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670218" y="2258568"/>
            <a:ext cx="2367138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5B6372"/>
                </a:solidFill>
                <a:latin typeface="Arial"/>
              </a:rPr>
              <a:t>One policy / heading per chunk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165372" y="2258568"/>
            <a:ext cx="2623170" cy="71323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93388" y="2258568"/>
            <a:ext cx="2367138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5B6372"/>
                </a:solidFill>
                <a:latin typeface="Arial"/>
              </a:rPr>
              <a:t>Coherent, self-contained units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788542" y="2258568"/>
            <a:ext cx="2623170" cy="71323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916558" y="2258568"/>
            <a:ext cx="2367138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5B6372"/>
                </a:solidFill>
                <a:latin typeface="Arial"/>
              </a:rPr>
              <a:t>Sections can be long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77240" y="2971800"/>
            <a:ext cx="2764962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05256" y="2971800"/>
            <a:ext cx="250893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>
                <a:solidFill>
                  <a:srgbClr val="161B26"/>
                </a:solidFill>
                <a:latin typeface="Arial"/>
              </a:rPr>
              <a:t>Fixed tokens + overlap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542202" y="2971800"/>
            <a:ext cx="262317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670218" y="2971800"/>
            <a:ext cx="2367138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5B6372"/>
                </a:solidFill>
                <a:latin typeface="Arial"/>
              </a:rPr>
              <a:t>e.g. 500 tokens, 50 overlap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165372" y="2971800"/>
            <a:ext cx="262317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293388" y="2971800"/>
            <a:ext cx="2367138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5B6372"/>
                </a:solidFill>
                <a:latin typeface="Arial"/>
              </a:rPr>
              <a:t>Uniform size, simple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788542" y="2971800"/>
            <a:ext cx="262317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916558" y="2971800"/>
            <a:ext cx="2367138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5B6372"/>
                </a:solidFill>
                <a:latin typeface="Arial"/>
              </a:rPr>
              <a:t>Cuts mid-thought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77240" y="3685032"/>
            <a:ext cx="2764962" cy="71323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05256" y="3685032"/>
            <a:ext cx="250893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>
                <a:solidFill>
                  <a:srgbClr val="161B26"/>
                </a:solidFill>
                <a:latin typeface="Arial"/>
              </a:rPr>
              <a:t>By paragraph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542202" y="3685032"/>
            <a:ext cx="2623170" cy="71323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70218" y="3685032"/>
            <a:ext cx="2367138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5B6372"/>
                </a:solidFill>
                <a:latin typeface="Arial"/>
              </a:rPr>
              <a:t>Every paragraph separate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165372" y="3685032"/>
            <a:ext cx="2623170" cy="71323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293388" y="3685032"/>
            <a:ext cx="2367138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5B6372"/>
                </a:solidFill>
                <a:latin typeface="Arial"/>
              </a:rPr>
              <a:t>Fine-grained retrieval</a:t>
            </a:r>
          </a:p>
        </p:txBody>
      </p:sp>
      <p:sp>
        <p:nvSpPr>
          <p:cNvPr id="37" name="Rectangle 36"/>
          <p:cNvSpPr/>
          <p:nvPr/>
        </p:nvSpPr>
        <p:spPr>
          <a:xfrm>
            <a:off x="8788542" y="3685032"/>
            <a:ext cx="2623170" cy="71323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916558" y="3685032"/>
            <a:ext cx="2367138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5B6372"/>
                </a:solidFill>
                <a:latin typeface="Arial"/>
              </a:rPr>
              <a:t>Loses surrounding context</a:t>
            </a:r>
          </a:p>
        </p:txBody>
      </p:sp>
      <p:sp>
        <p:nvSpPr>
          <p:cNvPr id="39" name="Rectangle 38"/>
          <p:cNvSpPr/>
          <p:nvPr/>
        </p:nvSpPr>
        <p:spPr>
          <a:xfrm>
            <a:off x="777240" y="4398264"/>
            <a:ext cx="2764962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905256" y="4398264"/>
            <a:ext cx="250893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>
                <a:solidFill>
                  <a:srgbClr val="161B26"/>
                </a:solidFill>
                <a:latin typeface="Arial"/>
              </a:rPr>
              <a:t>Semantic chunking</a:t>
            </a:r>
          </a:p>
        </p:txBody>
      </p:sp>
      <p:sp>
        <p:nvSpPr>
          <p:cNvPr id="41" name="Rectangle 40"/>
          <p:cNvSpPr/>
          <p:nvPr/>
        </p:nvSpPr>
        <p:spPr>
          <a:xfrm>
            <a:off x="3542202" y="4398264"/>
            <a:ext cx="262317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3670218" y="4398264"/>
            <a:ext cx="2367138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5B6372"/>
                </a:solidFill>
                <a:latin typeface="Arial"/>
              </a:rPr>
              <a:t>Split where topic shifts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165372" y="4398264"/>
            <a:ext cx="262317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293388" y="4398264"/>
            <a:ext cx="2367138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5B6372"/>
                </a:solidFill>
                <a:latin typeface="Arial"/>
              </a:rPr>
              <a:t>Best coherence</a:t>
            </a:r>
          </a:p>
        </p:txBody>
      </p:sp>
      <p:sp>
        <p:nvSpPr>
          <p:cNvPr id="45" name="Rectangle 44"/>
          <p:cNvSpPr/>
          <p:nvPr/>
        </p:nvSpPr>
        <p:spPr>
          <a:xfrm>
            <a:off x="8788542" y="4398264"/>
            <a:ext cx="262317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8916558" y="4398264"/>
            <a:ext cx="2367138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5B6372"/>
                </a:solidFill>
                <a:latin typeface="Arial"/>
              </a:rPr>
              <a:t>Extra compute to build</a:t>
            </a:r>
          </a:p>
        </p:txBody>
      </p:sp>
      <p:sp>
        <p:nvSpPr>
          <p:cNvPr id="47" name="Rectangle 46"/>
          <p:cNvSpPr/>
          <p:nvPr/>
        </p:nvSpPr>
        <p:spPr>
          <a:xfrm>
            <a:off x="777240" y="5312664"/>
            <a:ext cx="10634472" cy="8412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777240" y="5312664"/>
            <a:ext cx="100584" cy="84124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1051560" y="5422392"/>
            <a:ext cx="10085832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10B981"/>
                </a:solidFill>
                <a:latin typeface="Arial"/>
              </a:rPr>
              <a:t>WHEN IT MATTERS  </a:t>
            </a:r>
            <a:r>
              <a:rPr sz="1200" b="0">
                <a:solidFill>
                  <a:srgbClr val="161B26"/>
                </a:solidFill>
                <a:latin typeface="Arial"/>
              </a:rPr>
              <a:t>Lab 4 chunks the handbook by '## ' headers so each chunk is one complete policy — re-chunk and re-measure to see why boundaries matter.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Develop Multi-Agent AI Applications with AutoGen  ·  TGS-2024045806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71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TOPIC 02 · VECTOR DB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Vector Databases and Similarity Search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206654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33272" y="2542032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3272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4792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700" b="1">
                <a:solidFill>
                  <a:srgbClr val="161B26"/>
                </a:solidFill>
                <a:latin typeface="Arial"/>
              </a:rPr>
              <a:t>Store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A vector DB (ChromaDB, FAISS, Pinecone, pgvector) persists embeddings with ids and metadata.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206654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87668" y="2542032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87668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19188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700" b="1">
                <a:solidFill>
                  <a:srgbClr val="161B26"/>
                </a:solidFill>
                <a:latin typeface="Arial"/>
              </a:rPr>
              <a:t>Search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A query is embedded and the nearest neighbours are returned in milliseconds.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4087368"/>
            <a:ext cx="91440" cy="206654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33272" y="4846320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33272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64792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700" b="1">
                <a:solidFill>
                  <a:srgbClr val="161B26"/>
                </a:solidFill>
                <a:latin typeface="Arial"/>
              </a:rPr>
              <a:t>Top-k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You choose how many chunks come back — more recall vs more noise and tokens.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4087368"/>
            <a:ext cx="91440" cy="206654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87668" y="4846320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87668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19188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700" b="1">
                <a:solidFill>
                  <a:srgbClr val="161B26"/>
                </a:solidFill>
                <a:latin typeface="Arial"/>
              </a:rPr>
              <a:t>Metadata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Source ids (POL-001) ride along with each chunk — that's what citations are made of.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Develop Multi-Agent AI Applications with AutoGen  ·  TGS-2024045806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72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TOPIC 02 · THE EFFICIENCY TRADE-OFF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Retrieval Quality vs Top-k — Measured, Not Guessed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777240" y="1783080"/>
          <a:ext cx="10634472" cy="32461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8" name="Rectangle 7"/>
          <p:cNvSpPr/>
          <p:nvPr/>
        </p:nvSpPr>
        <p:spPr>
          <a:xfrm>
            <a:off x="777240" y="5230368"/>
            <a:ext cx="10634472" cy="100584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77240" y="5230368"/>
            <a:ext cx="100584" cy="10058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51560" y="5340096"/>
            <a:ext cx="101498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10B981"/>
                </a:solidFill>
                <a:latin typeface="Arial"/>
              </a:rPr>
              <a:t>WHAT THE DATA SHOWS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1560" y="5632704"/>
            <a:ext cx="101498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Illustrative numbers in the shape you will measure in Lab 5: recall saturates quickly while token cost keeps climbing — the efficient k is the smallest one that still hits your accuracy target.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Develop Multi-Agent AI Applications with AutoGen  ·  TGS-2024045806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73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7C3AED"/>
                </a:solidFill>
                <a:latin typeface="Arial"/>
              </a:rPr>
              <a:t>TOPIC 02 · AGENTIC RAG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Agentic RAG — Retrieval as a Tool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206654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33272" y="2542032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3272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4792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Classic RAG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The pipeline always retrieves once, then answers — fixed behaviour.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206654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87668" y="2542032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87668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19188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Agentic RAG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The AGENT decides when to retrieve, with what query, and whether to retry with a better one.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4087368"/>
            <a:ext cx="91440" cy="206654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33272" y="4846320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33272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64792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Grounding rules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Always retrieve first · cite source ids · refuse when evidence is missing.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4087368"/>
            <a:ext cx="91440" cy="206654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87668" y="4846320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87668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19188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Injection defence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Retrieved text is DATA — an agent must never obey instructions found inside documents.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Develop Multi-Agent AI Applications with AutoGen  ·  TGS-2024045806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74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TOPIC 02 · LO2 IN PRACTICE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Evaluating RAG Efficiency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206654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33272" y="2542032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3272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4792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hit@k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Does the gold source appear in the top-k results? Measured over a stable question set.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206654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87668" y="2542032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87668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19188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Latency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Milliseconds per retrieval — the index must be faster than the model.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4087368"/>
            <a:ext cx="91440" cy="206654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33272" y="4846320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33272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64792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Groundedness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Is every claim in the answer supported by a retrieved chunk?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4087368"/>
            <a:ext cx="91440" cy="206654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87668" y="4846320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87668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19188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The method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Change ONE lever (chunking, top-k, embedder) → re-run the gold set → compare numbers.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Develop Multi-Agent AI Applications with AutoGen  ·  TGS-2024045806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75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WHAT YOU'LL DO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Hands-On Labs — Retrieval-Augmented Generation (RAG)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333756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3337560" cy="10972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2011680"/>
            <a:ext cx="29260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900" b="1">
                <a:solidFill>
                  <a:srgbClr val="1F6FEB"/>
                </a:solidFill>
                <a:latin typeface="Arial"/>
              </a:rPr>
              <a:t>Lab 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697480"/>
            <a:ext cx="292608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•  Build a Knowledge Index with Embeddings and a Vector Database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0" y="1783080"/>
            <a:ext cx="333756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0" y="1783080"/>
            <a:ext cx="3337560" cy="10972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800600" y="2011680"/>
            <a:ext cx="29260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900" b="1">
                <a:solidFill>
                  <a:srgbClr val="10B981"/>
                </a:solidFill>
                <a:latin typeface="Arial"/>
              </a:rPr>
              <a:t>Lab 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00600" y="2697480"/>
            <a:ext cx="292608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•  Build and Evaluate a Grounded RAG Agent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366760" y="1783080"/>
            <a:ext cx="333756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366760" y="1783080"/>
            <a:ext cx="3337560" cy="10972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595360" y="2011680"/>
            <a:ext cx="29260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900" b="1">
                <a:solidFill>
                  <a:srgbClr val="7C3AED"/>
                </a:solidFill>
                <a:latin typeface="Arial"/>
              </a:rPr>
              <a:t>—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95360" y="2697480"/>
            <a:ext cx="292608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•  —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Develop Multi-Agent AI Applications with AutoGen  ·  TGS-2024045806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76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TOPIC 02 · HANDS-ON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500" b="1">
                <a:solidFill>
                  <a:srgbClr val="161B26"/>
                </a:solidFill>
                <a:latin typeface="Arial"/>
              </a:rPr>
              <a:t>Build a Knowledge Index with Embeddings and a Vector Database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19072"/>
            <a:ext cx="1554480" cy="42062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554480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LAB 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487168" y="1719072"/>
            <a:ext cx="8869680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LO2 — build the retrieval half of RAG and measure similarity directly.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286000"/>
            <a:ext cx="10634472" cy="1051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0">
                <a:solidFill>
                  <a:srgbClr val="161B26"/>
                </a:solidFill>
                <a:latin typeface="Arial"/>
              </a:rPr>
              <a:t>Chunk the synthetic TechTrend IT handbook into one-policy chunks, embed each chunk locally, store the vectors in ChromaDB, then run similarity searches and inspect which sources return and at what cosine distance.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77240" y="3474720"/>
            <a:ext cx="3392424" cy="1874519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77240" y="3474720"/>
            <a:ext cx="3392424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96696" y="3639312"/>
            <a:ext cx="298094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1F6FEB"/>
                </a:solidFill>
                <a:latin typeface="Arial"/>
              </a:rPr>
              <a:t>YOU'LL BUILD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96696" y="3968496"/>
            <a:ext cx="2980944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A persistent 10-chunk ChromaDB index of the handbook, a similarity-search console, and a first index-backed agent.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398264" y="3474720"/>
            <a:ext cx="3392424" cy="1874519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398264" y="3474720"/>
            <a:ext cx="3392424" cy="914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617720" y="3639312"/>
            <a:ext cx="298094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10B981"/>
                </a:solidFill>
                <a:latin typeface="Arial"/>
              </a:rPr>
              <a:t>TOOLCHAIN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17720" y="3968496"/>
            <a:ext cx="2980944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ChromaDB, local embeddings (all-MiniLM-L6-v2), opsdesk_handbook.md mock data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019288" y="3474720"/>
            <a:ext cx="3392424" cy="1874519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019288" y="3474720"/>
            <a:ext cx="3392424" cy="9144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38744" y="3639312"/>
            <a:ext cx="298094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7C3AED"/>
                </a:solidFill>
                <a:latin typeface="Arial"/>
              </a:rPr>
              <a:t>DONE WHEN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38744" y="3968496"/>
            <a:ext cx="2980944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build_index.py reports 10 stored chunks; the VPN question returns POL-001 and the P1 question returns PROC-101 as top-1, each with the smallest distance.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Develop Multi-Agent AI Applications with AutoGen  ·  TGS-2024045806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77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LAB 4 · PROCESS MAP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How Lab 4 Runs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77240" y="2148840"/>
            <a:ext cx="1819656" cy="2148840"/>
          </a:xfrm>
          <a:prstGeom prst="roundRect">
            <a:avLst>
              <a:gd name="adj" fmla="val 10000"/>
            </a:avLst>
          </a:prstGeom>
          <a:solidFill>
            <a:srgbClr val="F5F8FC"/>
          </a:solidFill>
          <a:ln w="1587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2148840"/>
            <a:ext cx="1819656" cy="10058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403604" y="2459736"/>
            <a:ext cx="566928" cy="56692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403604" y="2459736"/>
            <a:ext cx="566928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05256" y="3118104"/>
            <a:ext cx="1563624" cy="8595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1">
                <a:solidFill>
                  <a:srgbClr val="161B26"/>
                </a:solidFill>
                <a:latin typeface="Arial"/>
              </a:rPr>
              <a:t>Read the mock handbook — note the…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" y="3822192"/>
            <a:ext cx="1636776" cy="3474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cat data/opsdesk_handbook…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2651760" y="3223260"/>
            <a:ext cx="274320" cy="0"/>
          </a:xfrm>
          <a:prstGeom prst="line">
            <a:avLst/>
          </a:prstGeom>
          <a:ln w="25400">
            <a:solidFill>
              <a:srgbClr val="10B981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2980944" y="2148840"/>
            <a:ext cx="1819656" cy="2148840"/>
          </a:xfrm>
          <a:prstGeom prst="roundRect">
            <a:avLst>
              <a:gd name="adj" fmla="val 10000"/>
            </a:avLst>
          </a:prstGeom>
          <a:solidFill>
            <a:srgbClr val="F5F8FC"/>
          </a:solidFill>
          <a:ln w="1587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2980944" y="2148840"/>
            <a:ext cx="1819656" cy="10058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3607308" y="2459736"/>
            <a:ext cx="566928" cy="56692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607308" y="2459736"/>
            <a:ext cx="566928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108960" y="3118104"/>
            <a:ext cx="1563624" cy="8595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161B26"/>
                </a:solidFill>
                <a:latin typeface="Arial"/>
              </a:rPr>
              <a:t>Build the index: load → chunk on '## '…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072384" y="3822192"/>
            <a:ext cx="1636776" cy="3474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…/build_index.py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4855464" y="3223260"/>
            <a:ext cx="274320" cy="0"/>
          </a:xfrm>
          <a:prstGeom prst="line">
            <a:avLst/>
          </a:prstGeom>
          <a:ln w="25400">
            <a:solidFill>
              <a:srgbClr val="10B981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ounded Rectangle 20"/>
          <p:cNvSpPr/>
          <p:nvPr/>
        </p:nvSpPr>
        <p:spPr>
          <a:xfrm>
            <a:off x="5184648" y="2148840"/>
            <a:ext cx="1819656" cy="2148840"/>
          </a:xfrm>
          <a:prstGeom prst="roundRect">
            <a:avLst>
              <a:gd name="adj" fmla="val 10000"/>
            </a:avLst>
          </a:prstGeom>
          <a:solidFill>
            <a:srgbClr val="F5F8FC"/>
          </a:solidFill>
          <a:ln w="1587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184648" y="2148840"/>
            <a:ext cx="1819656" cy="10058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5811012" y="2459736"/>
            <a:ext cx="566928" cy="56692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811012" y="2459736"/>
            <a:ext cx="566928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312664" y="3118104"/>
            <a:ext cx="1563624" cy="8595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Run similarity search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276088" y="3822192"/>
            <a:ext cx="1636776" cy="3474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…/similarity_search.py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7059168" y="3223260"/>
            <a:ext cx="274320" cy="0"/>
          </a:xfrm>
          <a:prstGeom prst="line">
            <a:avLst/>
          </a:prstGeom>
          <a:ln w="25400">
            <a:solidFill>
              <a:srgbClr val="10B981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Rounded Rectangle 27"/>
          <p:cNvSpPr/>
          <p:nvPr/>
        </p:nvSpPr>
        <p:spPr>
          <a:xfrm>
            <a:off x="7388352" y="2148840"/>
            <a:ext cx="1819656" cy="2148840"/>
          </a:xfrm>
          <a:prstGeom prst="roundRect">
            <a:avLst>
              <a:gd name="adj" fmla="val 10000"/>
            </a:avLst>
          </a:prstGeom>
          <a:solidFill>
            <a:srgbClr val="F5F8FC"/>
          </a:solidFill>
          <a:ln w="1587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7388352" y="2148840"/>
            <a:ext cx="1819656" cy="10058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8014716" y="2459736"/>
            <a:ext cx="566928" cy="56692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014716" y="2459736"/>
            <a:ext cx="566928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516368" y="3118104"/>
            <a:ext cx="1563624" cy="8595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1">
                <a:solidFill>
                  <a:srgbClr val="161B26"/>
                </a:solidFill>
                <a:latin typeface="Arial"/>
              </a:rPr>
              <a:t>Wrap the index as a FunctionTool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479792" y="3822192"/>
            <a:ext cx="1636776" cy="3474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…/index_agent.py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9262872" y="3223260"/>
            <a:ext cx="274320" cy="0"/>
          </a:xfrm>
          <a:prstGeom prst="line">
            <a:avLst/>
          </a:prstGeom>
          <a:ln w="25400">
            <a:solidFill>
              <a:srgbClr val="10B981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Rounded Rectangle 34"/>
          <p:cNvSpPr/>
          <p:nvPr/>
        </p:nvSpPr>
        <p:spPr>
          <a:xfrm>
            <a:off x="9592056" y="2148840"/>
            <a:ext cx="1819656" cy="2148840"/>
          </a:xfrm>
          <a:prstGeom prst="roundRect">
            <a:avLst>
              <a:gd name="adj" fmla="val 10000"/>
            </a:avLst>
          </a:prstGeom>
          <a:solidFill>
            <a:srgbClr val="F5F8FC"/>
          </a:solidFill>
          <a:ln w="1587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9592056" y="2148840"/>
            <a:ext cx="1819656" cy="10058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10218420" y="2459736"/>
            <a:ext cx="566928" cy="56692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0218420" y="2459736"/>
            <a:ext cx="566928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720072" y="3118104"/>
            <a:ext cx="1563624" cy="8595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Change a question</a:t>
            </a:r>
          </a:p>
        </p:txBody>
      </p:sp>
      <p:sp>
        <p:nvSpPr>
          <p:cNvPr id="40" name="Rectangle 39"/>
          <p:cNvSpPr/>
          <p:nvPr/>
        </p:nvSpPr>
        <p:spPr>
          <a:xfrm>
            <a:off x="777240" y="4608576"/>
            <a:ext cx="10634472" cy="10515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777240" y="4608576"/>
            <a:ext cx="100584" cy="105156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1051560" y="4718304"/>
            <a:ext cx="1014984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10B981"/>
                </a:solidFill>
                <a:latin typeface="Arial"/>
              </a:rPr>
              <a:t>THE POINT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51560" y="5029200"/>
            <a:ext cx="1014984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LO2 — build the retrieval half of RAG and measure similarity directly.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Develop Multi-Agent AI Applications with AutoGen  ·  TGS-2024045806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78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0" fill="hold">
                      <p:stCondLst>
                        <p:cond delay="indefinite"/>
                      </p:stCondLst>
                      <p:childTnLst>
                        <p:par>
                          <p:cTn id="61" fill="hold">
                            <p:stCondLst>
                              <p:cond delay="0"/>
                            </p:stCondLst>
                            <p:childTnLst>
                              <p:par>
                                <p:cTn id="6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0" fill="hold">
                      <p:stCondLst>
                        <p:cond delay="indefinite"/>
                      </p:stCondLst>
                      <p:childTnLst>
                        <p:par>
                          <p:cTn id="71" fill="hold">
                            <p:stCondLst>
                              <p:cond delay="0"/>
                            </p:stCondLst>
                            <p:childTnLst>
                              <p:par>
                                <p:cTn id="7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4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0" fill="hold">
                      <p:stCondLst>
                        <p:cond delay="indefinite"/>
                      </p:stCondLst>
                      <p:childTnLst>
                        <p:par>
                          <p:cTn id="81" fill="hold">
                            <p:stCondLst>
                              <p:cond delay="0"/>
                            </p:stCondLst>
                            <p:childTnLst>
                              <p:par>
                                <p:cTn id="8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4" dur="4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0" fill="hold">
                      <p:stCondLst>
                        <p:cond delay="indefinite"/>
                      </p:stCondLst>
                      <p:childTnLst>
                        <p:par>
                          <p:cTn id="91" fill="hold">
                            <p:stCondLst>
                              <p:cond delay="0"/>
                            </p:stCondLst>
                            <p:childTnLst>
                              <p:par>
                                <p:cTn id="9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4" dur="4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  <p:transition spd="fast" advClick="1">
    <p:fade/>
  </p:transition>
</p:sld>
</file>

<file path=ppt/slides/slide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LAB 4 · PROCEDURE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161B26"/>
                </a:solidFill>
                <a:latin typeface="Arial"/>
              </a:rPr>
              <a:t>Build a Knowledge Index with Embeddings and a Vector Database — Part 1/2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55648"/>
            <a:ext cx="10634472" cy="102412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55648"/>
            <a:ext cx="82296" cy="102412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69264" y="2084832"/>
            <a:ext cx="365760" cy="36576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69264" y="2084832"/>
            <a:ext cx="3657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81328" y="1828800"/>
            <a:ext cx="96926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Read the mock handbook — note the POL-/PROC-/SLA-/SEC- source ids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481328" y="2157984"/>
            <a:ext cx="9601200" cy="530352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627632" y="2157984"/>
            <a:ext cx="932688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>
                <a:solidFill>
                  <a:srgbClr val="9CDCFE"/>
                </a:solidFill>
                <a:latin typeface="Arial"/>
              </a:rPr>
              <a:t>$ cat data/opsdesk_handbook.md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2871216"/>
            <a:ext cx="10634472" cy="102412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77240" y="2871216"/>
            <a:ext cx="82296" cy="102412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969264" y="3200400"/>
            <a:ext cx="365760" cy="36576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69264" y="3200400"/>
            <a:ext cx="3657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81328" y="2944368"/>
            <a:ext cx="96926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Build the index: load → chunk on '## ' headers → embed → store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481328" y="3273552"/>
            <a:ext cx="9601200" cy="530352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627632" y="3273552"/>
            <a:ext cx="932688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>
                <a:solidFill>
                  <a:srgbClr val="9CDCFE"/>
                </a:solidFill>
                <a:latin typeface="Arial"/>
              </a:rPr>
              <a:t>$ uv run python lab-04-knowledge-index/build_index.py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77240" y="3986784"/>
            <a:ext cx="10634472" cy="102412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77240" y="3986784"/>
            <a:ext cx="82296" cy="102412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969264" y="4315968"/>
            <a:ext cx="365760" cy="36576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69264" y="4315968"/>
            <a:ext cx="3657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481328" y="4059936"/>
            <a:ext cx="96926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Run similarity search and study the top-3 sources and distances per question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481328" y="4389120"/>
            <a:ext cx="9601200" cy="530352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627632" y="4389120"/>
            <a:ext cx="932688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>
                <a:solidFill>
                  <a:srgbClr val="9CDCFE"/>
                </a:solidFill>
                <a:latin typeface="Arial"/>
              </a:rPr>
              <a:t>$ uv run python lab-04-knowledge-index/similarity_search.py</a:t>
            </a:r>
          </a:p>
        </p:txBody>
      </p:sp>
      <p:sp>
        <p:nvSpPr>
          <p:cNvPr id="28" name="Rectangle 27"/>
          <p:cNvSpPr/>
          <p:nvPr/>
        </p:nvSpPr>
        <p:spPr>
          <a:xfrm>
            <a:off x="777240" y="5102352"/>
            <a:ext cx="10634472" cy="102412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777240" y="5102352"/>
            <a:ext cx="82296" cy="102412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969264" y="5431536"/>
            <a:ext cx="365760" cy="36576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69264" y="5431536"/>
            <a:ext cx="3657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481328" y="5175504"/>
            <a:ext cx="96926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Wrap the index as a FunctionTool and let an agent search it</a:t>
            </a:r>
          </a:p>
        </p:txBody>
      </p:sp>
      <p:sp>
        <p:nvSpPr>
          <p:cNvPr id="33" name="Rectangle 32"/>
          <p:cNvSpPr/>
          <p:nvPr/>
        </p:nvSpPr>
        <p:spPr>
          <a:xfrm>
            <a:off x="1481328" y="5504688"/>
            <a:ext cx="9601200" cy="530352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627632" y="5504688"/>
            <a:ext cx="932688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>
                <a:solidFill>
                  <a:srgbClr val="9CDCFE"/>
                </a:solidFill>
                <a:latin typeface="Arial"/>
              </a:rPr>
              <a:t>$ uv run python lab-04-knowledge-index/index_agent.py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Develop Multi-Agent AI Applications with AutoGen  ·  TGS-2024045806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79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LAB 4 · PROCEDURE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161B26"/>
                </a:solidFill>
                <a:latin typeface="Arial"/>
              </a:rPr>
              <a:t>Build a Knowledge Index with Embeddings and a Vector Database — Part 2/2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55648"/>
            <a:ext cx="10634472" cy="102412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55648"/>
            <a:ext cx="82296" cy="102412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69264" y="2084832"/>
            <a:ext cx="365760" cy="36576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69264" y="2084832"/>
            <a:ext cx="3657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81328" y="1755648"/>
            <a:ext cx="9692640" cy="10241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Change a question and predict the top-1 source before running — check yourself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Develop Multi-Agent AI Applications with AutoGen  ·  TGS-2024045806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80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LAB 4 · VERIFY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500" b="1">
                <a:solidFill>
                  <a:srgbClr val="161B26"/>
                </a:solidFill>
                <a:latin typeface="Arial"/>
              </a:rPr>
              <a:t>Build a Knowledge Index with Embeddings and a Vector Database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10634472" cy="1965960"/>
          </a:xfrm>
          <a:prstGeom prst="rect">
            <a:avLst/>
          </a:prstGeom>
          <a:solidFill>
            <a:srgbClr val="E8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100584" cy="1965960"/>
          </a:xfrm>
          <a:prstGeom prst="rect">
            <a:avLst/>
          </a:prstGeom>
          <a:solidFill>
            <a:srgbClr val="127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1938528"/>
            <a:ext cx="10058400" cy="40233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1">
                <a:solidFill>
                  <a:srgbClr val="127A3E"/>
                </a:solidFill>
                <a:latin typeface="Arial"/>
              </a:rPr>
              <a:t>✅  Expected result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2395728"/>
            <a:ext cx="10058400" cy="12344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161B26"/>
                </a:solidFill>
                <a:latin typeface="Arial"/>
              </a:rPr>
              <a:t>build_index.py reports 10 stored chunks; the VPN question returns POL-001 and the P1 question returns PROC-101 as top-1, each with the smallest distance.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3950208"/>
            <a:ext cx="10634472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F59E0B"/>
                </a:solidFill>
                <a:latin typeface="Arial"/>
              </a:rPr>
              <a:t>IF IT DOESN'T WORK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77240" y="4297680"/>
            <a:ext cx="3392424" cy="157276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77240" y="4297680"/>
            <a:ext cx="3392424" cy="82296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96696" y="4453128"/>
            <a:ext cx="2980944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Nothing happens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96696" y="4809744"/>
            <a:ext cx="2980944" cy="960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Check the .env file is in the labs folder and the key has no quotes or spaces.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398264" y="4297680"/>
            <a:ext cx="3392424" cy="157276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398264" y="4297680"/>
            <a:ext cx="3392424" cy="82296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617720" y="4453128"/>
            <a:ext cx="2980944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Auth or 401 error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617720" y="4809744"/>
            <a:ext cx="2980944" cy="960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Re-copy the OPENAI_API_KEY into labs/.env — no quotes, no spaces.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019288" y="4297680"/>
            <a:ext cx="3392424" cy="157276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019288" y="4297680"/>
            <a:ext cx="3392424" cy="82296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38744" y="4453128"/>
            <a:ext cx="2980944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ModuleNotFoundError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38744" y="4809744"/>
            <a:ext cx="2980944" cy="960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Run uv sync again, and prefix commands with uv run so the venv is used.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Develop Multi-Agent AI Applications with AutoGen  ·  TGS-2024045806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81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8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TOPIC 02 · HANDS-ON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Build and Evaluate a Grounded RAG Agent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19072"/>
            <a:ext cx="1554480" cy="42062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554480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LAB 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487168" y="1719072"/>
            <a:ext cx="8869680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LO2 — engineer grounding rules, then quantify retrieval efficiency.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286000"/>
            <a:ext cx="10634472" cy="1051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0">
                <a:solidFill>
                  <a:srgbClr val="161B26"/>
                </a:solidFill>
                <a:latin typeface="Arial"/>
              </a:rPr>
              <a:t>Turn the index into a production-shaped RAG agent — mandatory retrieval, source citations, refusal when evidence is missing, prompt-injection defence — then measure hit@1, hit@3 and latency over a gold question set.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77240" y="3474720"/>
            <a:ext cx="3392424" cy="1874519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77240" y="3474720"/>
            <a:ext cx="3392424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96696" y="3639312"/>
            <a:ext cx="298094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1F6FEB"/>
                </a:solidFill>
                <a:latin typeface="Arial"/>
              </a:rPr>
              <a:t>YOU'LL BUILD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96696" y="3968496"/>
            <a:ext cx="2980944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A grounded rag_agent with a retrieve() tool, plus an evaluation scoreboard for retrieval accuracy and latency.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398264" y="3474720"/>
            <a:ext cx="3392424" cy="1874519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398264" y="3474720"/>
            <a:ext cx="3392424" cy="914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617720" y="3639312"/>
            <a:ext cx="298094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10B981"/>
                </a:solidFill>
                <a:latin typeface="Arial"/>
              </a:rPr>
              <a:t>TOOLCHAIN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17720" y="3968496"/>
            <a:ext cx="2980944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AssistantAgent, FunctionTool retrieve(), reflect_on_tool_use, gold question set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019288" y="3474720"/>
            <a:ext cx="3392424" cy="1874519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019288" y="3474720"/>
            <a:ext cx="3392424" cy="9144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38744" y="3639312"/>
            <a:ext cx="298094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7C3AED"/>
                </a:solidFill>
                <a:latin typeface="Arial"/>
              </a:rPr>
              <a:t>DONE WHEN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38744" y="3968496"/>
            <a:ext cx="2980944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The VPN answer carries citations like (POL-001); the annual-leave question is refused; the scoreboard shows hit@1 ≥ 83% with millisecond-level latency.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Develop Multi-Agent AI Applications with AutoGen  ·  TGS-2024045806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82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8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LAB 5 · PROCESS MAP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How Lab 5 Runs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77240" y="2148840"/>
            <a:ext cx="1819656" cy="2148840"/>
          </a:xfrm>
          <a:prstGeom prst="roundRect">
            <a:avLst>
              <a:gd name="adj" fmla="val 10000"/>
            </a:avLst>
          </a:prstGeom>
          <a:solidFill>
            <a:srgbClr val="F5F8FC"/>
          </a:solidFill>
          <a:ln w="1587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2148840"/>
            <a:ext cx="1819656" cy="10058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403604" y="2459736"/>
            <a:ext cx="566928" cy="56692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403604" y="2459736"/>
            <a:ext cx="566928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05256" y="3118104"/>
            <a:ext cx="1563624" cy="8595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1">
                <a:solidFill>
                  <a:srgbClr val="161B26"/>
                </a:solidFill>
                <a:latin typeface="Arial"/>
              </a:rPr>
              <a:t>Read the four grounding rules in the…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651760" y="3223260"/>
            <a:ext cx="274320" cy="0"/>
          </a:xfrm>
          <a:prstGeom prst="line">
            <a:avLst/>
          </a:prstGeom>
          <a:ln w="25400">
            <a:solidFill>
              <a:srgbClr val="10B981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2980944" y="2148840"/>
            <a:ext cx="1819656" cy="2148840"/>
          </a:xfrm>
          <a:prstGeom prst="roundRect">
            <a:avLst>
              <a:gd name="adj" fmla="val 10000"/>
            </a:avLst>
          </a:prstGeom>
          <a:solidFill>
            <a:srgbClr val="F5F8FC"/>
          </a:solidFill>
          <a:ln w="1587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2980944" y="2148840"/>
            <a:ext cx="1819656" cy="10058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3607308" y="2459736"/>
            <a:ext cx="566928" cy="56692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607308" y="2459736"/>
            <a:ext cx="566928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108960" y="3118104"/>
            <a:ext cx="1563624" cy="8595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161B26"/>
                </a:solidFill>
                <a:latin typeface="Arial"/>
              </a:rPr>
              <a:t>Run the RAG agent on one answerable plus…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072384" y="3822192"/>
            <a:ext cx="1636776" cy="3474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lab-05-rag-agent/rag_agent…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4855464" y="3223260"/>
            <a:ext cx="274320" cy="0"/>
          </a:xfrm>
          <a:prstGeom prst="line">
            <a:avLst/>
          </a:prstGeom>
          <a:ln w="25400">
            <a:solidFill>
              <a:srgbClr val="10B981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5184648" y="2148840"/>
            <a:ext cx="1819656" cy="2148840"/>
          </a:xfrm>
          <a:prstGeom prst="roundRect">
            <a:avLst>
              <a:gd name="adj" fmla="val 10000"/>
            </a:avLst>
          </a:prstGeom>
          <a:solidFill>
            <a:srgbClr val="F5F8FC"/>
          </a:solidFill>
          <a:ln w="1587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184648" y="2148840"/>
            <a:ext cx="1819656" cy="10058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5811012" y="2459736"/>
            <a:ext cx="566928" cy="56692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811012" y="2459736"/>
            <a:ext cx="566928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312664" y="3118104"/>
            <a:ext cx="1563624" cy="8595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1">
                <a:solidFill>
                  <a:srgbClr val="161B26"/>
                </a:solidFill>
                <a:latin typeface="Arial"/>
              </a:rPr>
              <a:t>Confirm the refusal: the annual-leave…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7059168" y="3223260"/>
            <a:ext cx="274320" cy="0"/>
          </a:xfrm>
          <a:prstGeom prst="line">
            <a:avLst/>
          </a:prstGeom>
          <a:ln w="25400">
            <a:solidFill>
              <a:srgbClr val="10B981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Rounded Rectangle 25"/>
          <p:cNvSpPr/>
          <p:nvPr/>
        </p:nvSpPr>
        <p:spPr>
          <a:xfrm>
            <a:off x="7388352" y="2148840"/>
            <a:ext cx="1819656" cy="2148840"/>
          </a:xfrm>
          <a:prstGeom prst="roundRect">
            <a:avLst>
              <a:gd name="adj" fmla="val 10000"/>
            </a:avLst>
          </a:prstGeom>
          <a:solidFill>
            <a:srgbClr val="F5F8FC"/>
          </a:solidFill>
          <a:ln w="1587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7388352" y="2148840"/>
            <a:ext cx="1819656" cy="10058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8014716" y="2459736"/>
            <a:ext cx="566928" cy="56692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014716" y="2459736"/>
            <a:ext cx="566928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516368" y="3118104"/>
            <a:ext cx="1563624" cy="8595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1">
                <a:solidFill>
                  <a:srgbClr val="161B26"/>
                </a:solidFill>
                <a:latin typeface="Arial"/>
              </a:rPr>
              <a:t>Run the retrieval evaluation over the…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479792" y="3822192"/>
            <a:ext cx="1636776" cy="3474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…/evaluate_rag.py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9262872" y="3223260"/>
            <a:ext cx="274320" cy="0"/>
          </a:xfrm>
          <a:prstGeom prst="line">
            <a:avLst/>
          </a:prstGeom>
          <a:ln w="25400">
            <a:solidFill>
              <a:srgbClr val="10B981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Rounded Rectangle 32"/>
          <p:cNvSpPr/>
          <p:nvPr/>
        </p:nvSpPr>
        <p:spPr>
          <a:xfrm>
            <a:off x="9592056" y="2148840"/>
            <a:ext cx="1819656" cy="2148840"/>
          </a:xfrm>
          <a:prstGeom prst="roundRect">
            <a:avLst>
              <a:gd name="adj" fmla="val 10000"/>
            </a:avLst>
          </a:prstGeom>
          <a:solidFill>
            <a:srgbClr val="F5F8FC"/>
          </a:solidFill>
          <a:ln w="1587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9592056" y="2148840"/>
            <a:ext cx="1819656" cy="10058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10218420" y="2459736"/>
            <a:ext cx="566928" cy="56692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0218420" y="2459736"/>
            <a:ext cx="566928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720072" y="3118104"/>
            <a:ext cx="1563624" cy="8595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Change n_results</a:t>
            </a:r>
          </a:p>
        </p:txBody>
      </p:sp>
      <p:sp>
        <p:nvSpPr>
          <p:cNvPr id="38" name="Rectangle 37"/>
          <p:cNvSpPr/>
          <p:nvPr/>
        </p:nvSpPr>
        <p:spPr>
          <a:xfrm>
            <a:off x="777240" y="4608576"/>
            <a:ext cx="10634472" cy="10515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777240" y="4608576"/>
            <a:ext cx="100584" cy="105156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051560" y="4718304"/>
            <a:ext cx="1014984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10B981"/>
                </a:solidFill>
                <a:latin typeface="Arial"/>
              </a:rPr>
              <a:t>THE POINT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51560" y="5029200"/>
            <a:ext cx="1014984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LO2 — engineer grounding rules, then quantify retrieval efficiency.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Develop Multi-Agent AI Applications with AutoGen  ·  TGS-2024045806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83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0" fill="hold">
                      <p:stCondLst>
                        <p:cond delay="indefinite"/>
                      </p:stCondLst>
                      <p:childTnLst>
                        <p:par>
                          <p:cTn id="61" fill="hold">
                            <p:stCondLst>
                              <p:cond delay="0"/>
                            </p:stCondLst>
                            <p:childTnLst>
                              <p:par>
                                <p:cTn id="6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0" fill="hold">
                      <p:stCondLst>
                        <p:cond delay="indefinite"/>
                      </p:stCondLst>
                      <p:childTnLst>
                        <p:par>
                          <p:cTn id="71" fill="hold">
                            <p:stCondLst>
                              <p:cond delay="0"/>
                            </p:stCondLst>
                            <p:childTnLst>
                              <p:par>
                                <p:cTn id="7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0" fill="hold">
                      <p:stCondLst>
                        <p:cond delay="indefinite"/>
                      </p:stCondLst>
                      <p:childTnLst>
                        <p:par>
                          <p:cTn id="81" fill="hold">
                            <p:stCondLst>
                              <p:cond delay="0"/>
                            </p:stCondLst>
                            <p:childTnLst>
                              <p:par>
                                <p:cTn id="8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4" dur="4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0" fill="hold">
                      <p:stCondLst>
                        <p:cond delay="indefinite"/>
                      </p:stCondLst>
                      <p:childTnLst>
                        <p:par>
                          <p:cTn id="91" fill="hold">
                            <p:stCondLst>
                              <p:cond delay="0"/>
                            </p:stCondLst>
                            <p:childTnLst>
                              <p:par>
                                <p:cTn id="9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4" dur="4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  <p:transition spd="fast" advClick="1">
    <p:fade/>
  </p:transition>
</p:sld>
</file>

<file path=ppt/slides/slide8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LAB 5 · PROCEDURE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Build and Evaluate a Grounded RAG Agent — Part 1/2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55648"/>
            <a:ext cx="10634472" cy="102412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55648"/>
            <a:ext cx="82296" cy="102412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69264" y="2084832"/>
            <a:ext cx="365760" cy="36576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69264" y="2084832"/>
            <a:ext cx="3657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81328" y="1755648"/>
            <a:ext cx="9692640" cy="10241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Read the four grounding rules in the rag_agent system message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77240" y="2871216"/>
            <a:ext cx="10634472" cy="102412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77240" y="2871216"/>
            <a:ext cx="82296" cy="102412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969264" y="3200400"/>
            <a:ext cx="365760" cy="36576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69264" y="3200400"/>
            <a:ext cx="3657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481328" y="2944368"/>
            <a:ext cx="96926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Run the RAG agent on one answerable plus one unanswerable question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481328" y="3273552"/>
            <a:ext cx="9601200" cy="530352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627632" y="3273552"/>
            <a:ext cx="932688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>
                <a:solidFill>
                  <a:srgbClr val="9CDCFE"/>
                </a:solidFill>
                <a:latin typeface="Arial"/>
              </a:rPr>
              <a:t>$ uv run python lab-05-rag-agent/rag_agent.py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77240" y="3986784"/>
            <a:ext cx="10634472" cy="102412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777240" y="3986784"/>
            <a:ext cx="82296" cy="102412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969264" y="4315968"/>
            <a:ext cx="365760" cy="36576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69264" y="4315968"/>
            <a:ext cx="3657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481328" y="3986784"/>
            <a:ext cx="9692640" cy="10241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Confirm the refusal: the annual-leave question must NOT be answered from thin air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77240" y="5102352"/>
            <a:ext cx="10634472" cy="102412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777240" y="5102352"/>
            <a:ext cx="82296" cy="102412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969264" y="5431536"/>
            <a:ext cx="365760" cy="36576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69264" y="5431536"/>
            <a:ext cx="3657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481328" y="5175504"/>
            <a:ext cx="96926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Run the retrieval evaluation over the 6-question gold set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481328" y="5504688"/>
            <a:ext cx="9601200" cy="530352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627632" y="5504688"/>
            <a:ext cx="932688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>
                <a:solidFill>
                  <a:srgbClr val="9CDCFE"/>
                </a:solidFill>
                <a:latin typeface="Arial"/>
              </a:rPr>
              <a:t>$ uv run python lab-05-rag-agent/evaluate_rag.py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Develop Multi-Agent AI Applications with AutoGen  ·  TGS-2024045806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84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8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LAB 5 · PROCEDURE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Build and Evaluate a Grounded RAG Agent — Part 2/2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55648"/>
            <a:ext cx="10634472" cy="102412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55648"/>
            <a:ext cx="82296" cy="102412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69264" y="2084832"/>
            <a:ext cx="365760" cy="36576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69264" y="2084832"/>
            <a:ext cx="3657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81328" y="1755648"/>
            <a:ext cx="9692640" cy="10241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Change n_results (top-k) and re-run — record how hit@3 and latency move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Develop Multi-Agent AI Applications with AutoGen  ·  TGS-2024045806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85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8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LAB 5 · VERIFY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Build and Evaluate a Grounded RAG Agent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10634472" cy="1965960"/>
          </a:xfrm>
          <a:prstGeom prst="rect">
            <a:avLst/>
          </a:prstGeom>
          <a:solidFill>
            <a:srgbClr val="E8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100584" cy="1965960"/>
          </a:xfrm>
          <a:prstGeom prst="rect">
            <a:avLst/>
          </a:prstGeom>
          <a:solidFill>
            <a:srgbClr val="127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1938528"/>
            <a:ext cx="10058400" cy="40233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1">
                <a:solidFill>
                  <a:srgbClr val="127A3E"/>
                </a:solidFill>
                <a:latin typeface="Arial"/>
              </a:rPr>
              <a:t>✅  Expected result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2395728"/>
            <a:ext cx="10058400" cy="12344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161B26"/>
                </a:solidFill>
                <a:latin typeface="Arial"/>
              </a:rPr>
              <a:t>The VPN answer carries citations like (POL-001); the annual-leave question is refused; the scoreboard shows hit@1 ≥ 83% with millisecond-level latency.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3950208"/>
            <a:ext cx="10634472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F59E0B"/>
                </a:solidFill>
                <a:latin typeface="Arial"/>
              </a:rPr>
              <a:t>IF IT DOESN'T WORK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77240" y="4297680"/>
            <a:ext cx="3392424" cy="157276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77240" y="4297680"/>
            <a:ext cx="3392424" cy="82296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96696" y="4453128"/>
            <a:ext cx="2980944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Nothing happens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96696" y="4809744"/>
            <a:ext cx="2980944" cy="960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Check the .env file is in the labs folder and the key has no quotes or spaces.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398264" y="4297680"/>
            <a:ext cx="3392424" cy="157276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398264" y="4297680"/>
            <a:ext cx="3392424" cy="82296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617720" y="4453128"/>
            <a:ext cx="2980944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Auth or 401 error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617720" y="4809744"/>
            <a:ext cx="2980944" cy="960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Re-copy the OPENAI_API_KEY into labs/.env — no quotes, no spaces.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019288" y="4297680"/>
            <a:ext cx="3392424" cy="157276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019288" y="4297680"/>
            <a:ext cx="3392424" cy="82296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38744" y="4453128"/>
            <a:ext cx="2980944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ModuleNotFoundError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38744" y="4809744"/>
            <a:ext cx="2980944" cy="960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Run uv sync again, and prefix commands with uv run so the venv is used.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Develop Multi-Agent AI Applications with AutoGen  ·  TGS-2024045806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86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8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TOPIC RECAP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Recap — Retrieval-Augmented Generation (RAG)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783080"/>
            <a:ext cx="1060704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700" b="0">
                <a:solidFill>
                  <a:srgbClr val="161B26"/>
                </a:solidFill>
                <a:latin typeface="Arial"/>
              </a:rPr>
              <a:t>•  You can now: build the retrieval half of RAG and measure similarity directly.</a:t>
            </a:r>
          </a:p>
          <a:p>
            <a:pPr>
              <a:spcAft>
                <a:spcPts val="1000"/>
              </a:spcAft>
            </a:pPr>
            <a:r>
              <a:rPr sz="1700" b="0">
                <a:solidFill>
                  <a:srgbClr val="161B26"/>
                </a:solidFill>
                <a:latin typeface="Arial"/>
              </a:rPr>
              <a:t>•  You can now: engineer grounding rules, then quantify retrieval efficiency.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Develop Multi-Agent AI Applications with AutoGen  ·  TGS-2024045806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87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8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2286000"/>
            <a:ext cx="128016" cy="18288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2331720"/>
            <a:ext cx="10058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TOPIC 03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2743200"/>
            <a:ext cx="1042416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4000" b="1">
                <a:solidFill>
                  <a:srgbClr val="161B26"/>
                </a:solidFill>
                <a:latin typeface="Arial"/>
              </a:rPr>
              <a:t>Implementing a Multi-Agent AI Workflow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61288" y="4160520"/>
            <a:ext cx="100584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0">
                <a:solidFill>
                  <a:srgbClr val="5B6372"/>
                </a:solidFill>
                <a:latin typeface="Arial"/>
              </a:rPr>
              <a:t>ReAct · human-in-the-loop · teams · termination · SelectorGroupChat · feasibility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0" y="640080"/>
            <a:ext cx="256032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7200" b="1">
                <a:solidFill>
                  <a:srgbClr val="E2E8F0"/>
                </a:solidFill>
                <a:latin typeface="Arial"/>
              </a:rPr>
              <a:t>03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Develop Multi-Agent AI Applications with AutoGen  ·  TGS-2024045806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88</a:t>
            </a:r>
          </a:p>
        </p:txBody>
      </p:sp>
    </p:spTree>
  </p:cSld>
  <p:clrMapOvr>
    <a:masterClrMapping/>
  </p:clrMapOvr>
  <p:transition spd="med" advClick="1">
    <p:push dir="l"/>
  </p:transition>
</p:sld>
</file>

<file path=ppt/slides/slide8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TOPIC WEIGHTING 28%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500" b="1">
                <a:solidFill>
                  <a:srgbClr val="161B26"/>
                </a:solidFill>
                <a:latin typeface="Arial"/>
              </a:rPr>
              <a:t>Key Concepts — Implementing a Multi-Agent AI Workflow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10634472" cy="9144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9144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33272" y="1965960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3272" y="196596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4792" y="1874520"/>
            <a:ext cx="9427464" cy="7680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ReAct (Reason + Act) is the loop behind every agent: Thought → Action (tool call) → Observation, repeated until the agent can answer.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77240" y="2935224"/>
            <a:ext cx="10634472" cy="9144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77240" y="2935224"/>
            <a:ext cx="91440" cy="9144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033272" y="3118104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33272" y="3118104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764792" y="3026664"/>
            <a:ext cx="9427464" cy="7680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Multi-agent frameworks — AutoGen, LangGraph, CrewAI — differ in orchestration style: conversation-driven teams, explicit state graphs, and role/task crews respectively.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4087368"/>
            <a:ext cx="10634472" cy="9144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4087368"/>
            <a:ext cx="91440" cy="91440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33272" y="4270248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33272" y="4270248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64792" y="4178808"/>
            <a:ext cx="9427464" cy="7680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A RoundRobinGroupChat team shares one conversation and takes turns in a fixed order — the simplest reliable pattern for writer/reviewer workflows.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77240" y="5239512"/>
            <a:ext cx="10634472" cy="9144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777240" y="5239512"/>
            <a:ext cx="91440" cy="9144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1033272" y="5422392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33272" y="542239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764792" y="5330952"/>
            <a:ext cx="9427464" cy="7680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Termination conditions (TextMentionTermination, MaxMessageTermination, combined with | and &amp;) keep every team run bounded in messages, time and cost.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Develop Multi-Agent AI Applications with AutoGen  ·  TGS-2024045806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89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9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TOPIC WEIGHTING 28%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500" b="1">
                <a:solidFill>
                  <a:srgbClr val="161B26"/>
                </a:solidFill>
                <a:latin typeface="Arial"/>
              </a:rPr>
              <a:t>Key Concepts — Implementing a Multi-Agent AI Workflow (continued)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10634472" cy="9144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9144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33272" y="1965960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3272" y="196596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4792" y="1874520"/>
            <a:ext cx="9427464" cy="7680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Human-in-the-loop: a UserProxyAgent puts a person inside the team as an approval gate — essential where actions have real-world consequences.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77240" y="2935224"/>
            <a:ext cx="10634472" cy="9144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77240" y="2935224"/>
            <a:ext cx="91440" cy="9144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033272" y="3118104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33272" y="3118104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764792" y="3026664"/>
            <a:ext cx="9427464" cy="7680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SelectorGroupChat uses an LLM selector that reads each agent's description to route the next turn dynamically — specialists get chosen, not scheduled.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4087368"/>
            <a:ext cx="10634472" cy="9144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4087368"/>
            <a:ext cx="91440" cy="91440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33272" y="4270248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33272" y="4270248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64792" y="4178808"/>
            <a:ext cx="9427464" cy="7680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Feasibility of a multi-agent application is assessed on evidence: task fit, cost and latency per run, failure modes, guardrails, and readiness checks that pass.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77240" y="5239512"/>
            <a:ext cx="10634472" cy="9144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777240" y="5239512"/>
            <a:ext cx="91440" cy="9144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1033272" y="5422392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33272" y="542239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764792" y="5330952"/>
            <a:ext cx="9427464" cy="7680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AutoGen Studio provides a no-code way to prototype the same teams, then export the configuration to code.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Develop Multi-Agent AI Applications with AutoGen  ·  TGS-2024045806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90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9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7C3AED"/>
                </a:solidFill>
                <a:latin typeface="Arial"/>
              </a:rPr>
              <a:t>TOPIC 03 · REACT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The ReAct Pattern — Reason + Act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77240" y="2148840"/>
            <a:ext cx="1819656" cy="2148840"/>
          </a:xfrm>
          <a:prstGeom prst="roundRect">
            <a:avLst>
              <a:gd name="adj" fmla="val 10000"/>
            </a:avLst>
          </a:prstGeom>
          <a:solidFill>
            <a:srgbClr val="F5F8FC"/>
          </a:solidFill>
          <a:ln w="1587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2148840"/>
            <a:ext cx="1819656" cy="10058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403604" y="2459736"/>
            <a:ext cx="566928" cy="566928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403604" y="2459736"/>
            <a:ext cx="566928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05256" y="3118104"/>
            <a:ext cx="1563624" cy="8595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Thought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" y="3822192"/>
            <a:ext cx="1636776" cy="3474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The model reasons about…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2651760" y="3223260"/>
            <a:ext cx="274320" cy="0"/>
          </a:xfrm>
          <a:prstGeom prst="line">
            <a:avLst/>
          </a:prstGeom>
          <a:ln w="25400">
            <a:solidFill>
              <a:srgbClr val="7C3AED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2980944" y="2148840"/>
            <a:ext cx="1819656" cy="2148840"/>
          </a:xfrm>
          <a:prstGeom prst="roundRect">
            <a:avLst>
              <a:gd name="adj" fmla="val 10000"/>
            </a:avLst>
          </a:prstGeom>
          <a:solidFill>
            <a:srgbClr val="F5F8FC"/>
          </a:solidFill>
          <a:ln w="1587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2980944" y="2148840"/>
            <a:ext cx="1819656" cy="10058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3607308" y="2459736"/>
            <a:ext cx="566928" cy="566928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607308" y="2459736"/>
            <a:ext cx="566928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108960" y="3118104"/>
            <a:ext cx="1563624" cy="8595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Action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072384" y="3822192"/>
            <a:ext cx="1636776" cy="3474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It requests a tool call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4855464" y="3223260"/>
            <a:ext cx="274320" cy="0"/>
          </a:xfrm>
          <a:prstGeom prst="line">
            <a:avLst/>
          </a:prstGeom>
          <a:ln w="25400">
            <a:solidFill>
              <a:srgbClr val="7C3AED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ounded Rectangle 20"/>
          <p:cNvSpPr/>
          <p:nvPr/>
        </p:nvSpPr>
        <p:spPr>
          <a:xfrm>
            <a:off x="5184648" y="2148840"/>
            <a:ext cx="1819656" cy="2148840"/>
          </a:xfrm>
          <a:prstGeom prst="roundRect">
            <a:avLst>
              <a:gd name="adj" fmla="val 10000"/>
            </a:avLst>
          </a:prstGeom>
          <a:solidFill>
            <a:srgbClr val="F5F8FC"/>
          </a:solidFill>
          <a:ln w="1587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184648" y="2148840"/>
            <a:ext cx="1819656" cy="10058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5811012" y="2459736"/>
            <a:ext cx="566928" cy="566928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811012" y="2459736"/>
            <a:ext cx="566928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312664" y="3118104"/>
            <a:ext cx="1563624" cy="8595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Observation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276088" y="3822192"/>
            <a:ext cx="1636776" cy="3474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Your code returns the…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7059168" y="3223260"/>
            <a:ext cx="274320" cy="0"/>
          </a:xfrm>
          <a:prstGeom prst="line">
            <a:avLst/>
          </a:prstGeom>
          <a:ln w="25400">
            <a:solidFill>
              <a:srgbClr val="7C3AED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Rounded Rectangle 27"/>
          <p:cNvSpPr/>
          <p:nvPr/>
        </p:nvSpPr>
        <p:spPr>
          <a:xfrm>
            <a:off x="7388352" y="2148840"/>
            <a:ext cx="1819656" cy="2148840"/>
          </a:xfrm>
          <a:prstGeom prst="roundRect">
            <a:avLst>
              <a:gd name="adj" fmla="val 10000"/>
            </a:avLst>
          </a:prstGeom>
          <a:solidFill>
            <a:srgbClr val="F5F8FC"/>
          </a:solidFill>
          <a:ln w="1587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7388352" y="2148840"/>
            <a:ext cx="1819656" cy="10058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8014716" y="2459736"/>
            <a:ext cx="566928" cy="566928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014716" y="2459736"/>
            <a:ext cx="566928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516368" y="3118104"/>
            <a:ext cx="1563624" cy="8595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Repeat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479792" y="3822192"/>
            <a:ext cx="1636776" cy="3474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Loop until enough is known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9262872" y="3223260"/>
            <a:ext cx="274320" cy="0"/>
          </a:xfrm>
          <a:prstGeom prst="line">
            <a:avLst/>
          </a:prstGeom>
          <a:ln w="25400">
            <a:solidFill>
              <a:srgbClr val="7C3AED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Rounded Rectangle 34"/>
          <p:cNvSpPr/>
          <p:nvPr/>
        </p:nvSpPr>
        <p:spPr>
          <a:xfrm>
            <a:off x="9592056" y="2148840"/>
            <a:ext cx="1819656" cy="2148840"/>
          </a:xfrm>
          <a:prstGeom prst="roundRect">
            <a:avLst>
              <a:gd name="adj" fmla="val 10000"/>
            </a:avLst>
          </a:prstGeom>
          <a:solidFill>
            <a:srgbClr val="F5F8FC"/>
          </a:solidFill>
          <a:ln w="1587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9592056" y="2148840"/>
            <a:ext cx="1819656" cy="10058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10218420" y="2459736"/>
            <a:ext cx="566928" cy="566928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0218420" y="2459736"/>
            <a:ext cx="566928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720072" y="3118104"/>
            <a:ext cx="1563624" cy="8595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Answer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683496" y="3822192"/>
            <a:ext cx="1636776" cy="3474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Final reply with the…</a:t>
            </a:r>
          </a:p>
        </p:txBody>
      </p:sp>
      <p:sp>
        <p:nvSpPr>
          <p:cNvPr id="41" name="Rectangle 40"/>
          <p:cNvSpPr/>
          <p:nvPr/>
        </p:nvSpPr>
        <p:spPr>
          <a:xfrm>
            <a:off x="777240" y="4608576"/>
            <a:ext cx="10634472" cy="10515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777240" y="4608576"/>
            <a:ext cx="100584" cy="105156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1051560" y="4718304"/>
            <a:ext cx="1014984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7C3AED"/>
                </a:solidFill>
                <a:latin typeface="Arial"/>
              </a:rPr>
              <a:t>WHY IT MATTERS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51560" y="5029200"/>
            <a:ext cx="1014984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ReAct is the loop inside AssistantAgent's tool use — Lab 6 builds it from scratch so you can debug it anywhere.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Develop Multi-Agent AI Applications with AutoGen  ·  TGS-2024045806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91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0" fill="hold">
                      <p:stCondLst>
                        <p:cond delay="indefinite"/>
                      </p:stCondLst>
                      <p:childTnLst>
                        <p:par>
                          <p:cTn id="61" fill="hold">
                            <p:stCondLst>
                              <p:cond delay="0"/>
                            </p:stCondLst>
                            <p:childTnLst>
                              <p:par>
                                <p:cTn id="6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0" fill="hold">
                      <p:stCondLst>
                        <p:cond delay="indefinite"/>
                      </p:stCondLst>
                      <p:childTnLst>
                        <p:par>
                          <p:cTn id="71" fill="hold">
                            <p:stCondLst>
                              <p:cond delay="0"/>
                            </p:stCondLst>
                            <p:childTnLst>
                              <p:par>
                                <p:cTn id="7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4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0" fill="hold">
                      <p:stCondLst>
                        <p:cond delay="indefinite"/>
                      </p:stCondLst>
                      <p:childTnLst>
                        <p:par>
                          <p:cTn id="81" fill="hold">
                            <p:stCondLst>
                              <p:cond delay="0"/>
                            </p:stCondLst>
                            <p:childTnLst>
                              <p:par>
                                <p:cTn id="8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4" dur="4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0" fill="hold">
                      <p:stCondLst>
                        <p:cond delay="indefinite"/>
                      </p:stCondLst>
                      <p:childTnLst>
                        <p:par>
                          <p:cTn id="91" fill="hold">
                            <p:stCondLst>
                              <p:cond delay="0"/>
                            </p:stCondLst>
                            <p:childTnLst>
                              <p:par>
                                <p:cTn id="9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4" dur="4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  <p:transition spd="fast" advClick="1">
    <p:fade/>
  </p:transition>
</p:sld>
</file>

<file path=ppt/slides/slide9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7C3AED"/>
                </a:solidFill>
                <a:latin typeface="Arial"/>
              </a:rPr>
              <a:t>TOPIC 03 · PATTERNS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Conversation Patterns for Agent Teams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129844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33272" y="2157984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3272" y="2157984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4792" y="1911096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Two-agent chat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One assistant + one user proxy — the simplest interactive loop.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129844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87668" y="2157984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87668" y="2157984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19188" y="1911096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Round-robin team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Fixed turn order in one shared conversation — writer → reviewer → writer.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3319272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3319272"/>
            <a:ext cx="91440" cy="129844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33272" y="3694176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33272" y="3694176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64792" y="3447288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Selector team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An LLM selector reads agent descriptions and routes each turn dynamically.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3319272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3319272"/>
            <a:ext cx="91440" cy="129844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87668" y="3694176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87668" y="3694176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19188" y="3447288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Swarm / handoff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Agents explicitly hand off control with tool calls — fine-grained delegation.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77240" y="4855464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77240" y="4855464"/>
            <a:ext cx="91440" cy="129844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1033272" y="5230368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33272" y="5230368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764792" y="4983480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Nested / sequential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A team can be a participant inside a bigger workflow.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231636" y="4855464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231636" y="4855464"/>
            <a:ext cx="91440" cy="129844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6487668" y="5230368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87668" y="5230368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219188" y="4983480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Human in the loop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A UserProxyAgent makes a person one of the participants.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Develop Multi-Agent AI Applications with AutoGen  ·  TGS-2024045806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92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9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TOPIC 03 · TERMINATION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Termination Conditions — Keeping Teams Bounded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206654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33272" y="2542032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3272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4792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700" b="1">
                <a:solidFill>
                  <a:srgbClr val="161B26"/>
                </a:solidFill>
                <a:latin typeface="Arial"/>
              </a:rPr>
              <a:t>TextMentionTermination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Stop when a keyword like APPROVE or TERMINATE appears.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206654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87668" y="2542032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87668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19188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700" b="1">
                <a:solidFill>
                  <a:srgbClr val="161B26"/>
                </a:solidFill>
                <a:latin typeface="Arial"/>
              </a:rPr>
              <a:t>MaxMessageTermination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Stop after N messages — the cost/loop safety net every team needs.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4087368"/>
            <a:ext cx="91440" cy="206654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33272" y="4846320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33272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64792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700" b="1">
                <a:solidFill>
                  <a:srgbClr val="161B26"/>
                </a:solidFill>
                <a:latin typeface="Arial"/>
              </a:rPr>
              <a:t>Combine with | and &amp;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OR stops on either; AND requires both — compose policies from parts.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4087368"/>
            <a:ext cx="91440" cy="206654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87668" y="4846320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87668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19188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700" b="1">
                <a:solidFill>
                  <a:srgbClr val="161B26"/>
                </a:solidFill>
                <a:latin typeface="Arial"/>
              </a:rPr>
              <a:t>Why it matters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An unbounded team of eager agents can loop — and bill — forever.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Develop Multi-Agent AI Applications with AutoGen  ·  TGS-2024045806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93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9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F59E0B"/>
                </a:solidFill>
                <a:latin typeface="Arial"/>
              </a:rPr>
              <a:t>TOPIC 03 · TRUST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Human-in-the-Loop — the Approval Gate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947809" y="1718310"/>
            <a:ext cx="6293334" cy="3558540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human_in_lo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66859" y="1737360"/>
            <a:ext cx="6255234" cy="352044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777240" y="5440680"/>
            <a:ext cx="10634472" cy="868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77240" y="5440680"/>
            <a:ext cx="100584" cy="86868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51560" y="5532120"/>
            <a:ext cx="101498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F59E0B"/>
                </a:solidFill>
                <a:latin typeface="Arial"/>
              </a:rPr>
              <a:t>THE IDEA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1560" y="5806440"/>
            <a:ext cx="101498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Where actions have real consequences, a person joins the team: the UserProxyAgent turns your keyboard into an agent, and nothing ships until you type APPROVE.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Develop Multi-Agent AI Applications with AutoGen  ·  TGS-2024045806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94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9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7C3AED"/>
                </a:solidFill>
                <a:latin typeface="Arial"/>
              </a:rPr>
              <a:t>TOPIC 03 · WORKED EXAMPLE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Reading a SelectorGroupChat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737360"/>
            <a:ext cx="10634472" cy="42062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5B6372"/>
                </a:solidFill>
                <a:latin typeface="Arial"/>
              </a:rPr>
              <a:t>Lab 8's capstone team — routing is driven by the description fields.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2286000"/>
            <a:ext cx="5943600" cy="3794760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78408" y="2395728"/>
            <a:ext cx="5541264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100">
                <a:solidFill>
                  <a:srgbClr val="D4D4D4"/>
                </a:solidFill>
                <a:latin typeface="Consolas"/>
              </a:rPr>
              <a:t>team = SelectorGroupChat(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9CDCFE"/>
                </a:solidFill>
                <a:latin typeface="Consolas"/>
              </a:rPr>
              <a:t>    [planner,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9CDCFE"/>
                </a:solidFill>
                <a:latin typeface="Consolas"/>
              </a:rPr>
              <a:t>     ticket_specialist,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9CDCFE"/>
                </a:solidFill>
                <a:latin typeface="Consolas"/>
              </a:rPr>
              <a:t>     policy_specialist],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D4D4D4"/>
                </a:solidFill>
                <a:latin typeface="Consolas"/>
              </a:rPr>
              <a:t>    model_client=client,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D4D4D4"/>
                </a:solidFill>
                <a:latin typeface="Consolas"/>
              </a:rPr>
              <a:t>    termination_condition=(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9CDCFE"/>
                </a:solidFill>
                <a:latin typeface="Consolas"/>
              </a:rPr>
              <a:t>        TextMentionTermination('TERMINATE')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9CDCFE"/>
                </a:solidFill>
                <a:latin typeface="Consolas"/>
              </a:rPr>
              <a:t>        | MaxMessageTermination(15)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9CDCFE"/>
                </a:solidFill>
                <a:latin typeface="Consolas"/>
              </a:rPr>
              <a:t>    ),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D4D4D4"/>
                </a:solidFill>
                <a:latin typeface="Consolas"/>
              </a:rPr>
              <a:t>    allow_repeated_speaker=False,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9CDCFE"/>
                </a:solidFill>
                <a:latin typeface="Consolas"/>
              </a:rPr>
              <a:t>)</a:t>
            </a:r>
          </a:p>
        </p:txBody>
      </p:sp>
      <p:sp>
        <p:nvSpPr>
          <p:cNvPr id="10" name="Rectangle 9"/>
          <p:cNvSpPr/>
          <p:nvPr/>
        </p:nvSpPr>
        <p:spPr>
          <a:xfrm>
            <a:off x="6995160" y="2286000"/>
            <a:ext cx="4416552" cy="9144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995160" y="2286000"/>
            <a:ext cx="82296" cy="9144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232904" y="2377440"/>
            <a:ext cx="400507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participants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232904" y="2670048"/>
            <a:ext cx="4005072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The specialists. Each one's description is its job advert.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995160" y="3246120"/>
            <a:ext cx="4416552" cy="9144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995160" y="3246120"/>
            <a:ext cx="82296" cy="9144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232904" y="3337560"/>
            <a:ext cx="400507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0B981"/>
                </a:solidFill>
                <a:latin typeface="Arial"/>
              </a:rPr>
              <a:t>model_client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232904" y="3630168"/>
            <a:ext cx="4005072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The selector LLM that reads descriptions and picks the next speaker.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995160" y="4206240"/>
            <a:ext cx="4416552" cy="9144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995160" y="4206240"/>
            <a:ext cx="82296" cy="91440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232904" y="4297680"/>
            <a:ext cx="400507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7C3AED"/>
                </a:solidFill>
                <a:latin typeface="Arial"/>
              </a:rPr>
              <a:t>termination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232904" y="4590288"/>
            <a:ext cx="4005072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Keyword OR message cap — bounded by construction.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995160" y="5166360"/>
            <a:ext cx="4416552" cy="9144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995160" y="5166360"/>
            <a:ext cx="82296" cy="9144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232904" y="5257800"/>
            <a:ext cx="400507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F59E0B"/>
                </a:solidFill>
                <a:latin typeface="Arial"/>
              </a:rPr>
              <a:t>allow_repeated_speaker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232904" y="5550408"/>
            <a:ext cx="4005072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Forces variety so one agent cannot monopolise the chat.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Develop Multi-Agent AI Applications with AutoGen  ·  TGS-2024045806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95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9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7C3AED"/>
                </a:solidFill>
                <a:latin typeface="Arial"/>
              </a:rPr>
              <a:t>TOPIC 03 · FEASIBILITY NUMBERS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What a Team Run Costs — Messages per Pattern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777240" y="1783080"/>
          <a:ext cx="10634472" cy="32461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8" name="Rectangle 7"/>
          <p:cNvSpPr/>
          <p:nvPr/>
        </p:nvSpPr>
        <p:spPr>
          <a:xfrm>
            <a:off x="777240" y="5230368"/>
            <a:ext cx="10634472" cy="100584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77240" y="5230368"/>
            <a:ext cx="100584" cy="100584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51560" y="5340096"/>
            <a:ext cx="101498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7C3AED"/>
                </a:solidFill>
                <a:latin typeface="Arial"/>
              </a:rPr>
              <a:t>WHAT THE DATA SHOWS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1560" y="5632704"/>
            <a:ext cx="101498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Indicative counts from the course labs: every extra agent multiplies calls, cost and latency — a multi-agent design must earn its keep, which is exactly what a feasibility assessment checks.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Develop Multi-Agent AI Applications with AutoGen  ·  TGS-2024045806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96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9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TOPIC 03 · LO3 IN PRACTICE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Assessing Feasibility of a Multi-Agent Application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129844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33272" y="2157984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3272" y="2157984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4792" y="1911096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Task fit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Does the job really need multiple specialists, or would one instruction do?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129844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87668" y="2157984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87668" y="2157984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19188" y="1911096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Cost &amp; latency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Messages × model price per run — measured from TaskResult, not guessed.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3319272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3319272"/>
            <a:ext cx="91440" cy="129844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33272" y="3694176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33272" y="3694176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64792" y="3447288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Failure modes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Wrong routing, endless loops, hallucinated tool arguments — and their guardrails.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3319272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3319272"/>
            <a:ext cx="91440" cy="129844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87668" y="3694176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87668" y="3694176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19188" y="3447288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Human oversight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Where must a person approve? UserProxyAgent puts the gate in the flow.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77240" y="4855464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77240" y="4855464"/>
            <a:ext cx="91440" cy="129844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1033272" y="5230368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33272" y="5230368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764792" y="4983480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Readiness checks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Data present, index healthy, retrieval accurate, secrets out of Git (Lab 8).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231636" y="4855464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231636" y="4855464"/>
            <a:ext cx="91440" cy="129844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6487668" y="5230368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87668" y="5230368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219188" y="4983480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Go / no-go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The verdict is evidence-based: checks pass, costs acceptable, risks gated.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Develop Multi-Agent AI Applications with AutoGen  ·  TGS-2024045806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97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9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TOPIC 03 · STUDIO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AutoGen Studio — Teams Without Code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206654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33272" y="2542032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3272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4792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700" b="1">
                <a:solidFill>
                  <a:srgbClr val="161B26"/>
                </a:solidFill>
                <a:latin typeface="Arial"/>
              </a:rPr>
              <a:t>What it is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A local web UI for building and testing agent teams visually.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206654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87668" y="2542032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87668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19188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700" b="1">
                <a:solidFill>
                  <a:srgbClr val="161B26"/>
                </a:solidFill>
                <a:latin typeface="Arial"/>
              </a:rPr>
              <a:t>Launch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uv run --with autogenstudio autogenstudio ui — then open the browser.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4087368"/>
            <a:ext cx="91440" cy="206654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33272" y="4846320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33272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64792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700" b="1">
                <a:solidFill>
                  <a:srgbClr val="161B26"/>
                </a:solidFill>
                <a:latin typeface="Arial"/>
              </a:rPr>
              <a:t>Round-trip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Prototype in Studio, export the JSON config, load it from code.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4087368"/>
            <a:ext cx="91440" cy="206654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87668" y="4846320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87668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19188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700" b="1">
                <a:solidFill>
                  <a:srgbClr val="161B26"/>
                </a:solidFill>
                <a:latin typeface="Arial"/>
              </a:rPr>
              <a:t>When to use it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Demos, quick experiments and non-developer stakeholders.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Develop Multi-Agent AI Applications with AutoGen  ·  TGS-2024045806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98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9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WHAT YOU'LL DO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500" b="1">
                <a:solidFill>
                  <a:srgbClr val="161B26"/>
                </a:solidFill>
                <a:latin typeface="Arial"/>
              </a:rPr>
              <a:t>Hands-On Labs — Implementing a Multi-Agent AI Workflow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333756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3337560" cy="10972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2011680"/>
            <a:ext cx="29260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900" b="1">
                <a:solidFill>
                  <a:srgbClr val="1F6FEB"/>
                </a:solidFill>
                <a:latin typeface="Arial"/>
              </a:rPr>
              <a:t>Lab 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697480"/>
            <a:ext cx="292608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•  Implement a ReAct Agent with Human-in-the-Loop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0" y="1783080"/>
            <a:ext cx="333756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0" y="1783080"/>
            <a:ext cx="3337560" cy="10972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800600" y="2011680"/>
            <a:ext cx="29260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900" b="1">
                <a:solidFill>
                  <a:srgbClr val="10B981"/>
                </a:solidFill>
                <a:latin typeface="Arial"/>
              </a:rPr>
              <a:t>Lab 7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00600" y="2697480"/>
            <a:ext cx="292608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•  Orchestrate a Round-Robin Multi-Agent Team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366760" y="1783080"/>
            <a:ext cx="333756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366760" y="1783080"/>
            <a:ext cx="3337560" cy="10972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595360" y="2011680"/>
            <a:ext cx="29260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900" b="1">
                <a:solidFill>
                  <a:srgbClr val="7C3AED"/>
                </a:solidFill>
                <a:latin typeface="Arial"/>
              </a:rPr>
              <a:t>Lab 8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95360" y="2697480"/>
            <a:ext cx="292608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•  Route Specialists with SelectorGroupChat (Capstone)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Develop Multi-Agent AI Applications with AutoGen  ·  TGS-2024045806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99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0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TOPIC 03 · HANDS-ON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Implement a ReAct Agent with Human-in-the-Loop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19072"/>
            <a:ext cx="1554480" cy="42062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554480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LAB 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487168" y="1719072"/>
            <a:ext cx="8869680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LO3 — expose the ReAct loop, then gate an agent behind human approval.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286000"/>
            <a:ext cx="10634472" cy="1051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0">
                <a:solidFill>
                  <a:srgbClr val="161B26"/>
                </a:solidFill>
                <a:latin typeface="Arial"/>
              </a:rPr>
              <a:t>Hand-roll the Thought → Action → Observation loop so the ReAct pattern is visible, then build an AutoGen team where a UserProxyAgent makes YOU the approval gate before any draft is accepted.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77240" y="3474720"/>
            <a:ext cx="3392424" cy="1874519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77240" y="3474720"/>
            <a:ext cx="3392424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96696" y="3639312"/>
            <a:ext cx="298094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1F6FEB"/>
                </a:solidFill>
                <a:latin typeface="Arial"/>
              </a:rPr>
              <a:t>YOU'LL BUILD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96696" y="3968496"/>
            <a:ext cx="2980944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A from-scratch ReAct agent over the ticket tools, and an approval workflow that stops only on APPROVE.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398264" y="3474720"/>
            <a:ext cx="3392424" cy="1874519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398264" y="3474720"/>
            <a:ext cx="3392424" cy="914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617720" y="3639312"/>
            <a:ext cx="298094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10B981"/>
                </a:solidFill>
                <a:latin typeface="Arial"/>
              </a:rPr>
              <a:t>TOOLCHAIN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17720" y="3968496"/>
            <a:ext cx="2980944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ReAct pattern, UserProxyAgent, input_func, TextMentionTermination, RoundRobinGroupChat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019288" y="3474720"/>
            <a:ext cx="3392424" cy="1874519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019288" y="3474720"/>
            <a:ext cx="3392424" cy="9144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38744" y="3639312"/>
            <a:ext cx="298094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7C3AED"/>
                </a:solidFill>
                <a:latin typeface="Arial"/>
              </a:rPr>
              <a:t>DONE WHEN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38744" y="3968496"/>
            <a:ext cx="2980944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The ReAct agent reports the 15-minute P1 SLA target after two tool actions, and the approval team loops on your feedback and stops only when you type APPROVE.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Develop Multi-Agent AI Applications with AutoGen  ·  TGS-2024045806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100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0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LAB 6 · PROCESS MAP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How Lab 6 Runs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77240" y="2148840"/>
            <a:ext cx="1819656" cy="2148840"/>
          </a:xfrm>
          <a:prstGeom prst="roundRect">
            <a:avLst>
              <a:gd name="adj" fmla="val 10000"/>
            </a:avLst>
          </a:prstGeom>
          <a:solidFill>
            <a:srgbClr val="F5F8FC"/>
          </a:solidFill>
          <a:ln w="1587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2148840"/>
            <a:ext cx="1819656" cy="10058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403604" y="2459736"/>
            <a:ext cx="566928" cy="56692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403604" y="2459736"/>
            <a:ext cx="566928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05256" y="3118104"/>
            <a:ext cx="1563624" cy="8595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1">
                <a:solidFill>
                  <a:srgbClr val="161B26"/>
                </a:solidFill>
                <a:latin typeface="Arial"/>
              </a:rPr>
              <a:t>Run the from-scratch ReAct loop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" y="3822192"/>
            <a:ext cx="1636776" cy="3474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…/react_scratch.py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2651760" y="3223260"/>
            <a:ext cx="274320" cy="0"/>
          </a:xfrm>
          <a:prstGeom prst="line">
            <a:avLst/>
          </a:prstGeom>
          <a:ln w="25400">
            <a:solidFill>
              <a:srgbClr val="10B981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2980944" y="2148840"/>
            <a:ext cx="1819656" cy="2148840"/>
          </a:xfrm>
          <a:prstGeom prst="roundRect">
            <a:avLst>
              <a:gd name="adj" fmla="val 10000"/>
            </a:avLst>
          </a:prstGeom>
          <a:solidFill>
            <a:srgbClr val="F5F8FC"/>
          </a:solidFill>
          <a:ln w="1587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2980944" y="2148840"/>
            <a:ext cx="1819656" cy="10058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3607308" y="2459736"/>
            <a:ext cx="566928" cy="56692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607308" y="2459736"/>
            <a:ext cx="566928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108960" y="3118104"/>
            <a:ext cx="1563624" cy="8595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161B26"/>
                </a:solidFill>
                <a:latin typeface="Arial"/>
              </a:rPr>
              <a:t>Identify in the transcript where the model…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4855464" y="3223260"/>
            <a:ext cx="274320" cy="0"/>
          </a:xfrm>
          <a:prstGeom prst="line">
            <a:avLst/>
          </a:prstGeom>
          <a:ln w="25400">
            <a:solidFill>
              <a:srgbClr val="10B981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5184648" y="2148840"/>
            <a:ext cx="1819656" cy="2148840"/>
          </a:xfrm>
          <a:prstGeom prst="roundRect">
            <a:avLst>
              <a:gd name="adj" fmla="val 10000"/>
            </a:avLst>
          </a:prstGeom>
          <a:solidFill>
            <a:srgbClr val="F5F8FC"/>
          </a:solidFill>
          <a:ln w="1587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184648" y="2148840"/>
            <a:ext cx="1819656" cy="10058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5811012" y="2459736"/>
            <a:ext cx="566928" cy="56692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811012" y="2459736"/>
            <a:ext cx="566928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312664" y="3118104"/>
            <a:ext cx="1563624" cy="8595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161B26"/>
                </a:solidFill>
                <a:latin typeface="Arial"/>
              </a:rPr>
              <a:t>Run the human-in-the-loop team — you are…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76088" y="3822192"/>
            <a:ext cx="1636776" cy="3474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…/human_in_loop.py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7059168" y="3223260"/>
            <a:ext cx="274320" cy="0"/>
          </a:xfrm>
          <a:prstGeom prst="line">
            <a:avLst/>
          </a:prstGeom>
          <a:ln w="25400">
            <a:solidFill>
              <a:srgbClr val="10B981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Rounded Rectangle 26"/>
          <p:cNvSpPr/>
          <p:nvPr/>
        </p:nvSpPr>
        <p:spPr>
          <a:xfrm>
            <a:off x="7388352" y="2148840"/>
            <a:ext cx="1819656" cy="2148840"/>
          </a:xfrm>
          <a:prstGeom prst="roundRect">
            <a:avLst>
              <a:gd name="adj" fmla="val 10000"/>
            </a:avLst>
          </a:prstGeom>
          <a:solidFill>
            <a:srgbClr val="F5F8FC"/>
          </a:solidFill>
          <a:ln w="1587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388352" y="2148840"/>
            <a:ext cx="1819656" cy="10058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8014716" y="2459736"/>
            <a:ext cx="566928" cy="56692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014716" y="2459736"/>
            <a:ext cx="566928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516368" y="3118104"/>
            <a:ext cx="1563624" cy="8595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Request one revision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9262872" y="3223260"/>
            <a:ext cx="274320" cy="0"/>
          </a:xfrm>
          <a:prstGeom prst="line">
            <a:avLst/>
          </a:prstGeom>
          <a:ln w="25400">
            <a:solidFill>
              <a:srgbClr val="10B981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Rounded Rectangle 32"/>
          <p:cNvSpPr/>
          <p:nvPr/>
        </p:nvSpPr>
        <p:spPr>
          <a:xfrm>
            <a:off x="9592056" y="2148840"/>
            <a:ext cx="1819656" cy="2148840"/>
          </a:xfrm>
          <a:prstGeom prst="roundRect">
            <a:avLst>
              <a:gd name="adj" fmla="val 10000"/>
            </a:avLst>
          </a:prstGeom>
          <a:solidFill>
            <a:srgbClr val="F5F8FC"/>
          </a:solidFill>
          <a:ln w="1587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9592056" y="2148840"/>
            <a:ext cx="1819656" cy="10058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10218420" y="2459736"/>
            <a:ext cx="566928" cy="56692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0218420" y="2459736"/>
            <a:ext cx="566928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720072" y="3118104"/>
            <a:ext cx="1563624" cy="8595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161B26"/>
                </a:solidFill>
                <a:latin typeface="Arial"/>
              </a:rPr>
              <a:t>Note the safety net: TextMentionTermination…</a:t>
            </a:r>
          </a:p>
        </p:txBody>
      </p:sp>
      <p:sp>
        <p:nvSpPr>
          <p:cNvPr id="38" name="Rectangle 37"/>
          <p:cNvSpPr/>
          <p:nvPr/>
        </p:nvSpPr>
        <p:spPr>
          <a:xfrm>
            <a:off x="777240" y="4608576"/>
            <a:ext cx="10634472" cy="10515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777240" y="4608576"/>
            <a:ext cx="100584" cy="105156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051560" y="4718304"/>
            <a:ext cx="1014984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10B981"/>
                </a:solidFill>
                <a:latin typeface="Arial"/>
              </a:rPr>
              <a:t>THE POINT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51560" y="5029200"/>
            <a:ext cx="1014984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LO3 — expose the ReAct loop, then gate an agent behind human approval.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Develop Multi-Agent AI Applications with AutoGen  ·  TGS-2024045806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101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0" fill="hold">
                      <p:stCondLst>
                        <p:cond delay="indefinite"/>
                      </p:stCondLst>
                      <p:childTnLst>
                        <p:par>
                          <p:cTn id="61" fill="hold">
                            <p:stCondLst>
                              <p:cond delay="0"/>
                            </p:stCondLst>
                            <p:childTnLst>
                              <p:par>
                                <p:cTn id="6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0" fill="hold">
                      <p:stCondLst>
                        <p:cond delay="indefinite"/>
                      </p:stCondLst>
                      <p:childTnLst>
                        <p:par>
                          <p:cTn id="71" fill="hold">
                            <p:stCondLst>
                              <p:cond delay="0"/>
                            </p:stCondLst>
                            <p:childTnLst>
                              <p:par>
                                <p:cTn id="7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0" fill="hold">
                      <p:stCondLst>
                        <p:cond delay="indefinite"/>
                      </p:stCondLst>
                      <p:childTnLst>
                        <p:par>
                          <p:cTn id="81" fill="hold">
                            <p:stCondLst>
                              <p:cond delay="0"/>
                            </p:stCondLst>
                            <p:childTnLst>
                              <p:par>
                                <p:cTn id="8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4" dur="4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0" fill="hold">
                      <p:stCondLst>
                        <p:cond delay="indefinite"/>
                      </p:stCondLst>
                      <p:childTnLst>
                        <p:par>
                          <p:cTn id="91" fill="hold">
                            <p:stCondLst>
                              <p:cond delay="0"/>
                            </p:stCondLst>
                            <p:childTnLst>
                              <p:par>
                                <p:cTn id="9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4" dur="4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  <p:transition spd="fast" advClick="1">
    <p:fade/>
  </p:transition>
</p:sld>
</file>

<file path=ppt/slides/slide10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LAB 6 · PROCEDURE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500" b="1">
                <a:solidFill>
                  <a:srgbClr val="161B26"/>
                </a:solidFill>
                <a:latin typeface="Arial"/>
              </a:rPr>
              <a:t>Implement a ReAct Agent with Human-in-the-Loop — Part 1/2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55648"/>
            <a:ext cx="10634472" cy="102412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55648"/>
            <a:ext cx="82296" cy="102412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69264" y="2084832"/>
            <a:ext cx="365760" cy="36576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69264" y="2084832"/>
            <a:ext cx="3657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81328" y="1828800"/>
            <a:ext cx="96926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Run the from-scratch ReAct loop and follow each Thought / Action / Observation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481328" y="2157984"/>
            <a:ext cx="9601200" cy="530352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627632" y="2157984"/>
            <a:ext cx="932688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>
                <a:solidFill>
                  <a:srgbClr val="9CDCFE"/>
                </a:solidFill>
                <a:latin typeface="Arial"/>
              </a:rPr>
              <a:t>$ uv run python lab-06-react-human-in-loop/react_scratch.py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2871216"/>
            <a:ext cx="10634472" cy="102412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77240" y="2871216"/>
            <a:ext cx="82296" cy="102412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969264" y="3200400"/>
            <a:ext cx="365760" cy="36576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69264" y="3200400"/>
            <a:ext cx="3657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81328" y="2871216"/>
            <a:ext cx="9692640" cy="10241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Identify in the transcript where the model plans vs where YOUR code acts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77240" y="3986784"/>
            <a:ext cx="10634472" cy="102412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777240" y="3986784"/>
            <a:ext cx="82296" cy="102412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969264" y="4315968"/>
            <a:ext cx="365760" cy="36576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69264" y="4315968"/>
            <a:ext cx="3657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481328" y="4059936"/>
            <a:ext cx="96926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Run the human-in-the-loop team — you are the reviewer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481328" y="4389120"/>
            <a:ext cx="9601200" cy="530352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627632" y="4389120"/>
            <a:ext cx="932688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>
                <a:solidFill>
                  <a:srgbClr val="9CDCFE"/>
                </a:solidFill>
                <a:latin typeface="Arial"/>
              </a:rPr>
              <a:t>$ uv run python lab-06-react-human-in-loop/human_in_loop.py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77240" y="5102352"/>
            <a:ext cx="10634472" cy="102412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777240" y="5102352"/>
            <a:ext cx="82296" cy="102412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969264" y="5431536"/>
            <a:ext cx="365760" cy="36576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69264" y="5431536"/>
            <a:ext cx="3657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481328" y="5102352"/>
            <a:ext cx="9692640" cy="10241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Request one revision ('make it more apologetic'), then approve with APPROVE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Develop Multi-Agent AI Applications with AutoGen  ·  TGS-2024045806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102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0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LAB 6 · PROCEDURE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500" b="1">
                <a:solidFill>
                  <a:srgbClr val="161B26"/>
                </a:solidFill>
                <a:latin typeface="Arial"/>
              </a:rPr>
              <a:t>Implement a ReAct Agent with Human-in-the-Loop — Part 2/2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55648"/>
            <a:ext cx="10634472" cy="102412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55648"/>
            <a:ext cx="82296" cy="102412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69264" y="2084832"/>
            <a:ext cx="365760" cy="36576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69264" y="2084832"/>
            <a:ext cx="3657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81328" y="1755648"/>
            <a:ext cx="9692640" cy="10241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Note the safety net: TextMentionTermination('APPROVE') | MaxMessageTermination(12)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Develop Multi-Agent AI Applications with AutoGen  ·  TGS-2024045806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103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0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LAB 6 · VERIFY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Implement a ReAct Agent with Human-in-the-Loop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10634472" cy="1965960"/>
          </a:xfrm>
          <a:prstGeom prst="rect">
            <a:avLst/>
          </a:prstGeom>
          <a:solidFill>
            <a:srgbClr val="E8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100584" cy="1965960"/>
          </a:xfrm>
          <a:prstGeom prst="rect">
            <a:avLst/>
          </a:prstGeom>
          <a:solidFill>
            <a:srgbClr val="127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1938528"/>
            <a:ext cx="10058400" cy="40233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1">
                <a:solidFill>
                  <a:srgbClr val="127A3E"/>
                </a:solidFill>
                <a:latin typeface="Arial"/>
              </a:rPr>
              <a:t>✅  Expected result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2395728"/>
            <a:ext cx="10058400" cy="12344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161B26"/>
                </a:solidFill>
                <a:latin typeface="Arial"/>
              </a:rPr>
              <a:t>The ReAct agent reports the 15-minute P1 SLA target after two tool actions, and the approval team loops on your feedback and stops only when you type APPROVE.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3950208"/>
            <a:ext cx="10634472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F59E0B"/>
                </a:solidFill>
                <a:latin typeface="Arial"/>
              </a:rPr>
              <a:t>IF IT DOESN'T WORK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77240" y="4297680"/>
            <a:ext cx="3392424" cy="157276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77240" y="4297680"/>
            <a:ext cx="3392424" cy="82296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96696" y="4453128"/>
            <a:ext cx="2980944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Nothing happens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96696" y="4809744"/>
            <a:ext cx="2980944" cy="960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Check the .env file is in the labs folder and the key has no quotes or spaces.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398264" y="4297680"/>
            <a:ext cx="3392424" cy="157276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398264" y="4297680"/>
            <a:ext cx="3392424" cy="82296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617720" y="4453128"/>
            <a:ext cx="2980944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Auth or 401 error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617720" y="4809744"/>
            <a:ext cx="2980944" cy="960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Re-copy the OPENAI_API_KEY into labs/.env — no quotes, no spaces.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019288" y="4297680"/>
            <a:ext cx="3392424" cy="157276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019288" y="4297680"/>
            <a:ext cx="3392424" cy="82296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38744" y="4453128"/>
            <a:ext cx="2980944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ModuleNotFoundError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38744" y="4809744"/>
            <a:ext cx="2980944" cy="960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Run uv sync again, and prefix commands with uv run so the venv is used.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Develop Multi-Agent AI Applications with AutoGen  ·  TGS-2024045806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104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0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TOPIC 03 · HANDS-ON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Orchestrate a Round-Robin Multi-Agent Team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19072"/>
            <a:ext cx="1554480" cy="42062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554480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LAB 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487168" y="1719072"/>
            <a:ext cx="8869680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LO3 — compare manual orchestration with a RoundRobinGroupChat team.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286000"/>
            <a:ext cx="10634472" cy="1051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0">
                <a:solidFill>
                  <a:srgbClr val="161B26"/>
                </a:solidFill>
                <a:latin typeface="Arial"/>
              </a:rPr>
              <a:t>Hand-roll a two-model writer/critic conversation to feel the orchestration cost, then run the same workflow as a RoundRobinGroupChat with proper termination conditions and a readable TaskResult.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77240" y="3474720"/>
            <a:ext cx="3392424" cy="1874519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77240" y="3474720"/>
            <a:ext cx="3392424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96696" y="3639312"/>
            <a:ext cx="298094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1F6FEB"/>
                </a:solidFill>
                <a:latin typeface="Arial"/>
              </a:rPr>
              <a:t>YOU'LL BUILD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96696" y="3968496"/>
            <a:ext cx="2980944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A manual two-model conversation script, and a writer/reviewer team that stops on FINALISED.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398264" y="3474720"/>
            <a:ext cx="3392424" cy="1874519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398264" y="3474720"/>
            <a:ext cx="3392424" cy="914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617720" y="3639312"/>
            <a:ext cx="298094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10B981"/>
                </a:solidFill>
                <a:latin typeface="Arial"/>
              </a:rPr>
              <a:t>TOOLCHAIN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17720" y="3968496"/>
            <a:ext cx="2980944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RoundRobinGroupChat, TextMentionTermination, MaxMessageTermination, TaskResult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019288" y="3474720"/>
            <a:ext cx="3392424" cy="1874519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019288" y="3474720"/>
            <a:ext cx="3392424" cy="9144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38744" y="3639312"/>
            <a:ext cx="298094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7C3AED"/>
                </a:solidFill>
                <a:latin typeface="Arial"/>
              </a:rPr>
              <a:t>DONE WHEN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38744" y="3968496"/>
            <a:ext cx="2980944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The team alternates writer → reviewer and stops on FINALISED (not the message cap), and you can read the stop reason straight from the TaskResult.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Develop Multi-Agent AI Applications with AutoGen  ·  TGS-2024045806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105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0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LAB 7 · PROCESS MAP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How Lab 7 Runs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77240" y="2148840"/>
            <a:ext cx="1819656" cy="2148840"/>
          </a:xfrm>
          <a:prstGeom prst="roundRect">
            <a:avLst>
              <a:gd name="adj" fmla="val 10000"/>
            </a:avLst>
          </a:prstGeom>
          <a:solidFill>
            <a:srgbClr val="F5F8FC"/>
          </a:solidFill>
          <a:ln w="1587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2148840"/>
            <a:ext cx="1819656" cy="10058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403604" y="2459736"/>
            <a:ext cx="566928" cy="56692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403604" y="2459736"/>
            <a:ext cx="566928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05256" y="3118104"/>
            <a:ext cx="1563624" cy="8595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1">
                <a:solidFill>
                  <a:srgbClr val="161B26"/>
                </a:solidFill>
                <a:latin typeface="Arial"/>
              </a:rPr>
              <a:t>Run the manual two-model conversation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" y="3822192"/>
            <a:ext cx="1636776" cy="3474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…/two_model_conversation.p…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2651760" y="3223260"/>
            <a:ext cx="274320" cy="0"/>
          </a:xfrm>
          <a:prstGeom prst="line">
            <a:avLst/>
          </a:prstGeom>
          <a:ln w="25400">
            <a:solidFill>
              <a:srgbClr val="10B981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2980944" y="2148840"/>
            <a:ext cx="1819656" cy="2148840"/>
          </a:xfrm>
          <a:prstGeom prst="roundRect">
            <a:avLst>
              <a:gd name="adj" fmla="val 10000"/>
            </a:avLst>
          </a:prstGeom>
          <a:solidFill>
            <a:srgbClr val="F5F8FC"/>
          </a:solidFill>
          <a:ln w="1587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2980944" y="2148840"/>
            <a:ext cx="1819656" cy="10058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3607308" y="2459736"/>
            <a:ext cx="566928" cy="56692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607308" y="2459736"/>
            <a:ext cx="566928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108960" y="3118104"/>
            <a:ext cx="1563624" cy="8595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Read the writer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4855464" y="3223260"/>
            <a:ext cx="274320" cy="0"/>
          </a:xfrm>
          <a:prstGeom prst="line">
            <a:avLst/>
          </a:prstGeom>
          <a:ln w="25400">
            <a:solidFill>
              <a:srgbClr val="10B981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5184648" y="2148840"/>
            <a:ext cx="1819656" cy="2148840"/>
          </a:xfrm>
          <a:prstGeom prst="roundRect">
            <a:avLst>
              <a:gd name="adj" fmla="val 10000"/>
            </a:avLst>
          </a:prstGeom>
          <a:solidFill>
            <a:srgbClr val="F5F8FC"/>
          </a:solidFill>
          <a:ln w="1587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184648" y="2148840"/>
            <a:ext cx="1819656" cy="10058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5811012" y="2459736"/>
            <a:ext cx="566928" cy="56692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811012" y="2459736"/>
            <a:ext cx="566928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312664" y="3118104"/>
            <a:ext cx="1563624" cy="8595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161B26"/>
                </a:solidFill>
                <a:latin typeface="Arial"/>
              </a:rPr>
              <a:t>Run the AutoGen round-robin team on the VPN…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76088" y="3822192"/>
            <a:ext cx="1636776" cy="3474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…/team_round_robin.py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7059168" y="3223260"/>
            <a:ext cx="274320" cy="0"/>
          </a:xfrm>
          <a:prstGeom prst="line">
            <a:avLst/>
          </a:prstGeom>
          <a:ln w="25400">
            <a:solidFill>
              <a:srgbClr val="10B981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Rounded Rectangle 26"/>
          <p:cNvSpPr/>
          <p:nvPr/>
        </p:nvSpPr>
        <p:spPr>
          <a:xfrm>
            <a:off x="7388352" y="2148840"/>
            <a:ext cx="1819656" cy="2148840"/>
          </a:xfrm>
          <a:prstGeom prst="roundRect">
            <a:avLst>
              <a:gd name="adj" fmla="val 10000"/>
            </a:avLst>
          </a:prstGeom>
          <a:solidFill>
            <a:srgbClr val="F5F8FC"/>
          </a:solidFill>
          <a:ln w="1587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388352" y="2148840"/>
            <a:ext cx="1819656" cy="10058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8014716" y="2459736"/>
            <a:ext cx="566928" cy="56692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014716" y="2459736"/>
            <a:ext cx="566928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516368" y="3118104"/>
            <a:ext cx="1563624" cy="8595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1">
                <a:solidFill>
                  <a:srgbClr val="161B26"/>
                </a:solidFill>
                <a:latin typeface="Arial"/>
              </a:rPr>
              <a:t>Read the TaskResult: speaker sequence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9262872" y="3223260"/>
            <a:ext cx="274320" cy="0"/>
          </a:xfrm>
          <a:prstGeom prst="line">
            <a:avLst/>
          </a:prstGeom>
          <a:ln w="25400">
            <a:solidFill>
              <a:srgbClr val="10B981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Rounded Rectangle 32"/>
          <p:cNvSpPr/>
          <p:nvPr/>
        </p:nvSpPr>
        <p:spPr>
          <a:xfrm>
            <a:off x="9592056" y="2148840"/>
            <a:ext cx="1819656" cy="2148840"/>
          </a:xfrm>
          <a:prstGeom prst="roundRect">
            <a:avLst>
              <a:gd name="adj" fmla="val 10000"/>
            </a:avLst>
          </a:prstGeom>
          <a:solidFill>
            <a:srgbClr val="F5F8FC"/>
          </a:solidFill>
          <a:ln w="1587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9592056" y="2148840"/>
            <a:ext cx="1819656" cy="10058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10218420" y="2459736"/>
            <a:ext cx="566928" cy="56692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0218420" y="2459736"/>
            <a:ext cx="566928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720072" y="3118104"/>
            <a:ext cx="1563624" cy="8595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161B26"/>
                </a:solidFill>
                <a:latin typeface="Arial"/>
              </a:rPr>
              <a:t>Remove MaxMessageTermination in your head…</a:t>
            </a:r>
          </a:p>
        </p:txBody>
      </p:sp>
      <p:sp>
        <p:nvSpPr>
          <p:cNvPr id="38" name="Rectangle 37"/>
          <p:cNvSpPr/>
          <p:nvPr/>
        </p:nvSpPr>
        <p:spPr>
          <a:xfrm>
            <a:off x="777240" y="4608576"/>
            <a:ext cx="10634472" cy="10515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777240" y="4608576"/>
            <a:ext cx="100584" cy="105156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051560" y="4718304"/>
            <a:ext cx="1014984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10B981"/>
                </a:solidFill>
                <a:latin typeface="Arial"/>
              </a:rPr>
              <a:t>THE POINT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51560" y="5029200"/>
            <a:ext cx="1014984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LO3 — compare manual orchestration with a RoundRobinGroupChat team.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Develop Multi-Agent AI Applications with AutoGen  ·  TGS-2024045806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106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0" fill="hold">
                      <p:stCondLst>
                        <p:cond delay="indefinite"/>
                      </p:stCondLst>
                      <p:childTnLst>
                        <p:par>
                          <p:cTn id="61" fill="hold">
                            <p:stCondLst>
                              <p:cond delay="0"/>
                            </p:stCondLst>
                            <p:childTnLst>
                              <p:par>
                                <p:cTn id="6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0" fill="hold">
                      <p:stCondLst>
                        <p:cond delay="indefinite"/>
                      </p:stCondLst>
                      <p:childTnLst>
                        <p:par>
                          <p:cTn id="71" fill="hold">
                            <p:stCondLst>
                              <p:cond delay="0"/>
                            </p:stCondLst>
                            <p:childTnLst>
                              <p:par>
                                <p:cTn id="7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0" fill="hold">
                      <p:stCondLst>
                        <p:cond delay="indefinite"/>
                      </p:stCondLst>
                      <p:childTnLst>
                        <p:par>
                          <p:cTn id="81" fill="hold">
                            <p:stCondLst>
                              <p:cond delay="0"/>
                            </p:stCondLst>
                            <p:childTnLst>
                              <p:par>
                                <p:cTn id="8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4" dur="4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0" fill="hold">
                      <p:stCondLst>
                        <p:cond delay="indefinite"/>
                      </p:stCondLst>
                      <p:childTnLst>
                        <p:par>
                          <p:cTn id="91" fill="hold">
                            <p:stCondLst>
                              <p:cond delay="0"/>
                            </p:stCondLst>
                            <p:childTnLst>
                              <p:par>
                                <p:cTn id="9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4" dur="4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  <p:transition spd="fast" advClick="1">
    <p:fade/>
  </p:transition>
</p:sld>
</file>

<file path=ppt/slides/slide10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LAB 7 · PROCEDURE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500" b="1">
                <a:solidFill>
                  <a:srgbClr val="161B26"/>
                </a:solidFill>
                <a:latin typeface="Arial"/>
              </a:rPr>
              <a:t>Orchestrate a Round-Robin Multi-Agent Team — Part 1/2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55648"/>
            <a:ext cx="10634472" cy="102412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55648"/>
            <a:ext cx="82296" cy="102412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69264" y="2084832"/>
            <a:ext cx="365760" cy="36576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69264" y="2084832"/>
            <a:ext cx="3657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81328" y="1828800"/>
            <a:ext cx="96926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Run the manual two-model conversation and count the plumbing it needs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481328" y="2157984"/>
            <a:ext cx="9601200" cy="530352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627632" y="2157984"/>
            <a:ext cx="932688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>
                <a:solidFill>
                  <a:srgbClr val="9CDCFE"/>
                </a:solidFill>
                <a:latin typeface="Arial"/>
              </a:rPr>
              <a:t>$ uv run python lab-07-round-robin-team/two_model_conversation.py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2871216"/>
            <a:ext cx="10634472" cy="102412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77240" y="2871216"/>
            <a:ext cx="82296" cy="102412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969264" y="3200400"/>
            <a:ext cx="365760" cy="36576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69264" y="3200400"/>
            <a:ext cx="3657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81328" y="2871216"/>
            <a:ext cx="9692640" cy="10241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Read the writer and reviewer system messages — the reviewer holds the checklist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77240" y="3986784"/>
            <a:ext cx="10634472" cy="102412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777240" y="3986784"/>
            <a:ext cx="82296" cy="102412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969264" y="4315968"/>
            <a:ext cx="365760" cy="36576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69264" y="4315968"/>
            <a:ext cx="3657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481328" y="4059936"/>
            <a:ext cx="96926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Run the AutoGen round-robin team on the VPN announcement task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481328" y="4389120"/>
            <a:ext cx="9601200" cy="530352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627632" y="4389120"/>
            <a:ext cx="932688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>
                <a:solidFill>
                  <a:srgbClr val="9CDCFE"/>
                </a:solidFill>
                <a:latin typeface="Arial"/>
              </a:rPr>
              <a:t>$ uv run python lab-07-round-robin-team/team_round_robin.py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77240" y="5102352"/>
            <a:ext cx="10634472" cy="102412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777240" y="5102352"/>
            <a:ext cx="82296" cy="102412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969264" y="5431536"/>
            <a:ext cx="365760" cy="36576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69264" y="5431536"/>
            <a:ext cx="3657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481328" y="5102352"/>
            <a:ext cx="9692640" cy="10241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Read the TaskResult: speaker sequence, message count and stop_reason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Develop Multi-Agent AI Applications with AutoGen  ·  TGS-2024045806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107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0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LAB 7 · PROCEDURE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500" b="1">
                <a:solidFill>
                  <a:srgbClr val="161B26"/>
                </a:solidFill>
                <a:latin typeface="Arial"/>
              </a:rPr>
              <a:t>Orchestrate a Round-Robin Multi-Agent Team — Part 2/2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55648"/>
            <a:ext cx="10634472" cy="102412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55648"/>
            <a:ext cx="82296" cy="102412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69264" y="2084832"/>
            <a:ext cx="365760" cy="36576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69264" y="2084832"/>
            <a:ext cx="3657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81328" y="1755648"/>
            <a:ext cx="9692640" cy="10241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Remove MaxMessageTermination in your head: what could an unbounded team cost?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Develop Multi-Agent AI Applications with AutoGen  ·  TGS-2024045806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108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0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LAB 7 · VERIFY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Orchestrate a Round-Robin Multi-Agent Team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10634472" cy="1965960"/>
          </a:xfrm>
          <a:prstGeom prst="rect">
            <a:avLst/>
          </a:prstGeom>
          <a:solidFill>
            <a:srgbClr val="E8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100584" cy="1965960"/>
          </a:xfrm>
          <a:prstGeom prst="rect">
            <a:avLst/>
          </a:prstGeom>
          <a:solidFill>
            <a:srgbClr val="127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1938528"/>
            <a:ext cx="10058400" cy="40233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1">
                <a:solidFill>
                  <a:srgbClr val="127A3E"/>
                </a:solidFill>
                <a:latin typeface="Arial"/>
              </a:rPr>
              <a:t>✅  Expected result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2395728"/>
            <a:ext cx="10058400" cy="12344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161B26"/>
                </a:solidFill>
                <a:latin typeface="Arial"/>
              </a:rPr>
              <a:t>The team alternates writer → reviewer and stops on FINALISED (not the message cap), and you can read the stop reason straight from the TaskResult.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3950208"/>
            <a:ext cx="10634472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F59E0B"/>
                </a:solidFill>
                <a:latin typeface="Arial"/>
              </a:rPr>
              <a:t>IF IT DOESN'T WORK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77240" y="4297680"/>
            <a:ext cx="3392424" cy="157276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77240" y="4297680"/>
            <a:ext cx="3392424" cy="82296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96696" y="4453128"/>
            <a:ext cx="2980944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Nothing happens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96696" y="4809744"/>
            <a:ext cx="2980944" cy="960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Check the .env file is in the labs folder and the key has no quotes or spaces.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398264" y="4297680"/>
            <a:ext cx="3392424" cy="157276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398264" y="4297680"/>
            <a:ext cx="3392424" cy="82296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617720" y="4453128"/>
            <a:ext cx="2980944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Auth or 401 error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617720" y="4809744"/>
            <a:ext cx="2980944" cy="960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Re-copy the OPENAI_API_KEY into labs/.env — no quotes, no spaces.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019288" y="4297680"/>
            <a:ext cx="3392424" cy="157276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019288" y="4297680"/>
            <a:ext cx="3392424" cy="82296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38744" y="4453128"/>
            <a:ext cx="2980944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ModuleNotFoundError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38744" y="4809744"/>
            <a:ext cx="2980944" cy="960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Run uv sync again, and prefix commands with uv run so the venv is used.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Develop Multi-Agent AI Applications with AutoGen  ·  TGS-2024045806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109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TOPIC 03 · HANDS-ON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Route Specialists with SelectorGroupChat (Capstone)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19072"/>
            <a:ext cx="1554480" cy="42062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554480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LAB 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487168" y="1719072"/>
            <a:ext cx="8869680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LO3 — build the OpsDesk capstone and assess its feasibility with checks.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286000"/>
            <a:ext cx="10634472" cy="1051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0">
                <a:solidFill>
                  <a:srgbClr val="161B26"/>
                </a:solidFill>
                <a:latin typeface="Arial"/>
              </a:rPr>
              <a:t>Assemble the capstone: a planner plus ticket and policy specialists routed dynamically by SelectorGroupChat, combining tools and RAG — then run the no-LLM readiness checks that decide whether the workflow is fit to ship.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77240" y="3474720"/>
            <a:ext cx="3392424" cy="1874519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77240" y="3474720"/>
            <a:ext cx="3392424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96696" y="3639312"/>
            <a:ext cx="298094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1F6FEB"/>
                </a:solidFill>
                <a:latin typeface="Arial"/>
              </a:rPr>
              <a:t>YOU'LL BUILD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96696" y="3968496"/>
            <a:ext cx="2980944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The complete OpsDesk multi-agent workflow, and a readiness report covering data, index health, retrieval accuracy and secrets hygiene.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398264" y="3474720"/>
            <a:ext cx="3392424" cy="1874519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398264" y="3474720"/>
            <a:ext cx="3392424" cy="914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617720" y="3639312"/>
            <a:ext cx="298094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10B981"/>
                </a:solidFill>
                <a:latin typeface="Arial"/>
              </a:rPr>
              <a:t>TOOLCHAIN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17720" y="3968496"/>
            <a:ext cx="2980944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SelectorGroupChat, agent descriptions, FunctionTool + RAG, readiness checks, AutoGen Studio (optional)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019288" y="3474720"/>
            <a:ext cx="3392424" cy="1874519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019288" y="3474720"/>
            <a:ext cx="3392424" cy="9144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38744" y="3639312"/>
            <a:ext cx="298094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7C3AED"/>
                </a:solidFill>
                <a:latin typeface="Arial"/>
              </a:rPr>
              <a:t>DONE WHEN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38744" y="3968496"/>
            <a:ext cx="2980944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The team run ends on TERMINATE with a customer-ready reply citing POL-001, and run_checks.py prints 0 failed — your evidence-based feasibility verdict.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Develop Multi-Agent AI Applications with AutoGen  ·  TGS-2024045806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110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LAB 8 · PROCESS MAP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How Lab 8 Runs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77240" y="2148840"/>
            <a:ext cx="1819656" cy="2148840"/>
          </a:xfrm>
          <a:prstGeom prst="roundRect">
            <a:avLst>
              <a:gd name="adj" fmla="val 10000"/>
            </a:avLst>
          </a:prstGeom>
          <a:solidFill>
            <a:srgbClr val="F5F8FC"/>
          </a:solidFill>
          <a:ln w="1587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2148840"/>
            <a:ext cx="1819656" cy="10058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403604" y="2459736"/>
            <a:ext cx="566928" cy="56692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403604" y="2459736"/>
            <a:ext cx="566928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05256" y="3118104"/>
            <a:ext cx="1563624" cy="8595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161B26"/>
                </a:solidFill>
                <a:latin typeface="Arial"/>
              </a:rPr>
              <a:t>Read the three agent description fields…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651760" y="3223260"/>
            <a:ext cx="274320" cy="0"/>
          </a:xfrm>
          <a:prstGeom prst="line">
            <a:avLst/>
          </a:prstGeom>
          <a:ln w="25400">
            <a:solidFill>
              <a:srgbClr val="10B981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2980944" y="2148840"/>
            <a:ext cx="1819656" cy="2148840"/>
          </a:xfrm>
          <a:prstGeom prst="roundRect">
            <a:avLst>
              <a:gd name="adj" fmla="val 10000"/>
            </a:avLst>
          </a:prstGeom>
          <a:solidFill>
            <a:srgbClr val="F5F8FC"/>
          </a:solidFill>
          <a:ln w="1587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2980944" y="2148840"/>
            <a:ext cx="1819656" cy="10058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3607308" y="2459736"/>
            <a:ext cx="566928" cy="56692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607308" y="2459736"/>
            <a:ext cx="566928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108960" y="3118104"/>
            <a:ext cx="1563624" cy="8595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1">
                <a:solidFill>
                  <a:srgbClr val="161B26"/>
                </a:solidFill>
                <a:latin typeface="Arial"/>
              </a:rPr>
              <a:t>Run the capstone selector team on the…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072384" y="3822192"/>
            <a:ext cx="1636776" cy="3474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…/selector_team.py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4855464" y="3223260"/>
            <a:ext cx="274320" cy="0"/>
          </a:xfrm>
          <a:prstGeom prst="line">
            <a:avLst/>
          </a:prstGeom>
          <a:ln w="25400">
            <a:solidFill>
              <a:srgbClr val="10B981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5184648" y="2148840"/>
            <a:ext cx="1819656" cy="2148840"/>
          </a:xfrm>
          <a:prstGeom prst="roundRect">
            <a:avLst>
              <a:gd name="adj" fmla="val 10000"/>
            </a:avLst>
          </a:prstGeom>
          <a:solidFill>
            <a:srgbClr val="F5F8FC"/>
          </a:solidFill>
          <a:ln w="1587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184648" y="2148840"/>
            <a:ext cx="1819656" cy="10058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5811012" y="2459736"/>
            <a:ext cx="566928" cy="56692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811012" y="2459736"/>
            <a:ext cx="566928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312664" y="3118104"/>
            <a:ext cx="1563624" cy="8595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Trace the route: planner →…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7059168" y="3223260"/>
            <a:ext cx="274320" cy="0"/>
          </a:xfrm>
          <a:prstGeom prst="line">
            <a:avLst/>
          </a:prstGeom>
          <a:ln w="25400">
            <a:solidFill>
              <a:srgbClr val="10B981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Rounded Rectangle 25"/>
          <p:cNvSpPr/>
          <p:nvPr/>
        </p:nvSpPr>
        <p:spPr>
          <a:xfrm>
            <a:off x="7388352" y="2148840"/>
            <a:ext cx="1819656" cy="2148840"/>
          </a:xfrm>
          <a:prstGeom prst="roundRect">
            <a:avLst>
              <a:gd name="adj" fmla="val 10000"/>
            </a:avLst>
          </a:prstGeom>
          <a:solidFill>
            <a:srgbClr val="F5F8FC"/>
          </a:solidFill>
          <a:ln w="1587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7388352" y="2148840"/>
            <a:ext cx="1819656" cy="10058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8014716" y="2459736"/>
            <a:ext cx="566928" cy="56692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014716" y="2459736"/>
            <a:ext cx="566928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516368" y="3118104"/>
            <a:ext cx="1563624" cy="8595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1">
                <a:solidFill>
                  <a:srgbClr val="161B26"/>
                </a:solidFill>
                <a:latin typeface="Arial"/>
              </a:rPr>
              <a:t>Run the feasibility/readiness checks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479792" y="3822192"/>
            <a:ext cx="1636776" cy="3474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…/run_checks.py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9262872" y="3223260"/>
            <a:ext cx="274320" cy="0"/>
          </a:xfrm>
          <a:prstGeom prst="line">
            <a:avLst/>
          </a:prstGeom>
          <a:ln w="25400">
            <a:solidFill>
              <a:srgbClr val="10B981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Rounded Rectangle 32"/>
          <p:cNvSpPr/>
          <p:nvPr/>
        </p:nvSpPr>
        <p:spPr>
          <a:xfrm>
            <a:off x="9592056" y="2148840"/>
            <a:ext cx="1819656" cy="2148840"/>
          </a:xfrm>
          <a:prstGeom prst="roundRect">
            <a:avLst>
              <a:gd name="adj" fmla="val 10000"/>
            </a:avLst>
          </a:prstGeom>
          <a:solidFill>
            <a:srgbClr val="F5F8FC"/>
          </a:solidFill>
          <a:ln w="1587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9592056" y="2148840"/>
            <a:ext cx="1819656" cy="10058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10218420" y="2459736"/>
            <a:ext cx="566928" cy="56692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0218420" y="2459736"/>
            <a:ext cx="566928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720072" y="3118104"/>
            <a:ext cx="1563624" cy="8595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Fix any FAIL</a:t>
            </a:r>
          </a:p>
        </p:txBody>
      </p:sp>
      <p:sp>
        <p:nvSpPr>
          <p:cNvPr id="38" name="Rectangle 37"/>
          <p:cNvSpPr/>
          <p:nvPr/>
        </p:nvSpPr>
        <p:spPr>
          <a:xfrm>
            <a:off x="777240" y="4608576"/>
            <a:ext cx="10634472" cy="10515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777240" y="4608576"/>
            <a:ext cx="100584" cy="105156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051560" y="4718304"/>
            <a:ext cx="1014984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10B981"/>
                </a:solidFill>
                <a:latin typeface="Arial"/>
              </a:rPr>
              <a:t>THE POINT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51560" y="5029200"/>
            <a:ext cx="1014984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LO3 — build the OpsDesk capstone and assess its feasibility with checks.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Develop Multi-Agent AI Applications with AutoGen  ·  TGS-2024045806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111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0" fill="hold">
                      <p:stCondLst>
                        <p:cond delay="indefinite"/>
                      </p:stCondLst>
                      <p:childTnLst>
                        <p:par>
                          <p:cTn id="61" fill="hold">
                            <p:stCondLst>
                              <p:cond delay="0"/>
                            </p:stCondLst>
                            <p:childTnLst>
                              <p:par>
                                <p:cTn id="6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0" fill="hold">
                      <p:stCondLst>
                        <p:cond delay="indefinite"/>
                      </p:stCondLst>
                      <p:childTnLst>
                        <p:par>
                          <p:cTn id="71" fill="hold">
                            <p:stCondLst>
                              <p:cond delay="0"/>
                            </p:stCondLst>
                            <p:childTnLst>
                              <p:par>
                                <p:cTn id="7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0" fill="hold">
                      <p:stCondLst>
                        <p:cond delay="indefinite"/>
                      </p:stCondLst>
                      <p:childTnLst>
                        <p:par>
                          <p:cTn id="81" fill="hold">
                            <p:stCondLst>
                              <p:cond delay="0"/>
                            </p:stCondLst>
                            <p:childTnLst>
                              <p:par>
                                <p:cTn id="8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4" dur="4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0" fill="hold">
                      <p:stCondLst>
                        <p:cond delay="indefinite"/>
                      </p:stCondLst>
                      <p:childTnLst>
                        <p:par>
                          <p:cTn id="91" fill="hold">
                            <p:stCondLst>
                              <p:cond delay="0"/>
                            </p:stCondLst>
                            <p:childTnLst>
                              <p:par>
                                <p:cTn id="9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4" dur="4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  <p:transition spd="fast" advClick="1">
    <p:fade/>
  </p:transition>
</p:sld>
</file>

<file path=ppt/slides/slide1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LAB 8 · PROCEDURE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500" b="1">
                <a:solidFill>
                  <a:srgbClr val="161B26"/>
                </a:solidFill>
                <a:latin typeface="Arial"/>
              </a:rPr>
              <a:t>Route Specialists with SelectorGroupChat (Capstone) — Part 1/2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55648"/>
            <a:ext cx="10634472" cy="102412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55648"/>
            <a:ext cx="82296" cy="102412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69264" y="2084832"/>
            <a:ext cx="365760" cy="36576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69264" y="2084832"/>
            <a:ext cx="3657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81328" y="1755648"/>
            <a:ext cx="9692640" cy="10241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Read the three agent description fields — the selector routes by reading them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77240" y="2871216"/>
            <a:ext cx="10634472" cy="102412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77240" y="2871216"/>
            <a:ext cx="82296" cy="102412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969264" y="3200400"/>
            <a:ext cx="365760" cy="36576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69264" y="3200400"/>
            <a:ext cx="3657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481328" y="2944368"/>
            <a:ext cx="96926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Run the capstone selector team on the TT-1002 VPN request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481328" y="3273552"/>
            <a:ext cx="9601200" cy="530352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627632" y="3273552"/>
            <a:ext cx="932688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>
                <a:solidFill>
                  <a:srgbClr val="9CDCFE"/>
                </a:solidFill>
                <a:latin typeface="Arial"/>
              </a:rPr>
              <a:t>$ uv run python lab-08-selector-workflow-capstone/selector_team.py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77240" y="3986784"/>
            <a:ext cx="10634472" cy="102412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777240" y="3986784"/>
            <a:ext cx="82296" cy="102412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969264" y="4315968"/>
            <a:ext cx="365760" cy="36576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69264" y="4315968"/>
            <a:ext cx="3657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481328" y="3986784"/>
            <a:ext cx="9692640" cy="10241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Trace the route: planner → ticket_specialist → policy_specialist → final reply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77240" y="5102352"/>
            <a:ext cx="10634472" cy="102412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777240" y="5102352"/>
            <a:ext cx="82296" cy="102412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969264" y="5431536"/>
            <a:ext cx="365760" cy="36576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69264" y="5431536"/>
            <a:ext cx="3657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481328" y="5175504"/>
            <a:ext cx="96926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Run the feasibility/readiness checks (no LLM needed)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481328" y="5504688"/>
            <a:ext cx="9601200" cy="530352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627632" y="5504688"/>
            <a:ext cx="932688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>
                <a:solidFill>
                  <a:srgbClr val="9CDCFE"/>
                </a:solidFill>
                <a:latin typeface="Arial"/>
              </a:rPr>
              <a:t>$ uv run python lab-08-selector-workflow-capstone/run_checks.py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Develop Multi-Agent AI Applications with AutoGen  ·  TGS-2024045806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112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LAB 8 · PROCEDURE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500" b="1">
                <a:solidFill>
                  <a:srgbClr val="161B26"/>
                </a:solidFill>
                <a:latin typeface="Arial"/>
              </a:rPr>
              <a:t>Route Specialists with SelectorGroupChat (Capstone) — Part 2/2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55648"/>
            <a:ext cx="10634472" cy="102412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55648"/>
            <a:ext cx="82296" cy="102412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69264" y="2084832"/>
            <a:ext cx="365760" cy="36576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69264" y="2084832"/>
            <a:ext cx="3657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81328" y="1755648"/>
            <a:ext cx="9692640" cy="10241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Fix any FAIL (e.g. rebuild the Lab 4 index) and re-run until clean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77240" y="2871216"/>
            <a:ext cx="10634472" cy="102412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77240" y="2871216"/>
            <a:ext cx="82296" cy="102412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969264" y="3200400"/>
            <a:ext cx="365760" cy="36576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69264" y="3200400"/>
            <a:ext cx="3657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481328" y="2944368"/>
            <a:ext cx="96926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Optional: rebuild the team visually in AutoGen Studio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481328" y="3273552"/>
            <a:ext cx="9601200" cy="530352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627632" y="3273552"/>
            <a:ext cx="932688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>
                <a:solidFill>
                  <a:srgbClr val="9CDCFE"/>
                </a:solidFill>
                <a:latin typeface="Arial"/>
              </a:rPr>
              <a:t>$ uv run --with autogenstudio autogenstudio ui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Develop Multi-Agent AI Applications with AutoGen  ·  TGS-2024045806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113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LAB 8 · VERIFY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Route Specialists with SelectorGroupChat (Capstone)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10634472" cy="1965960"/>
          </a:xfrm>
          <a:prstGeom prst="rect">
            <a:avLst/>
          </a:prstGeom>
          <a:solidFill>
            <a:srgbClr val="E8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100584" cy="1965960"/>
          </a:xfrm>
          <a:prstGeom prst="rect">
            <a:avLst/>
          </a:prstGeom>
          <a:solidFill>
            <a:srgbClr val="127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1938528"/>
            <a:ext cx="10058400" cy="40233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1">
                <a:solidFill>
                  <a:srgbClr val="127A3E"/>
                </a:solidFill>
                <a:latin typeface="Arial"/>
              </a:rPr>
              <a:t>✅  Expected result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2395728"/>
            <a:ext cx="10058400" cy="12344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161B26"/>
                </a:solidFill>
                <a:latin typeface="Arial"/>
              </a:rPr>
              <a:t>The team run ends on TERMINATE with a customer-ready reply citing POL-001, and run_checks.py prints 0 failed — your evidence-based feasibility verdict.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3950208"/>
            <a:ext cx="10634472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F59E0B"/>
                </a:solidFill>
                <a:latin typeface="Arial"/>
              </a:rPr>
              <a:t>IF IT DOESN'T WORK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77240" y="4297680"/>
            <a:ext cx="3392424" cy="157276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77240" y="4297680"/>
            <a:ext cx="3392424" cy="82296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96696" y="4453128"/>
            <a:ext cx="2980944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Nothing happens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96696" y="4809744"/>
            <a:ext cx="2980944" cy="960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Check the .env file is in the labs folder and the key has no quotes or spaces.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398264" y="4297680"/>
            <a:ext cx="3392424" cy="157276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398264" y="4297680"/>
            <a:ext cx="3392424" cy="82296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617720" y="4453128"/>
            <a:ext cx="2980944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Auth or 401 error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617720" y="4809744"/>
            <a:ext cx="2980944" cy="960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Re-copy the OPENAI_API_KEY into labs/.env — no quotes, no spaces.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019288" y="4297680"/>
            <a:ext cx="3392424" cy="157276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019288" y="4297680"/>
            <a:ext cx="3392424" cy="82296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38744" y="4453128"/>
            <a:ext cx="2980944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ModuleNotFoundError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38744" y="4809744"/>
            <a:ext cx="2980944" cy="960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Run uv sync again, and prefix commands with uv run so the venv is used.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Develop Multi-Agent AI Applications with AutoGen  ·  TGS-2024045806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114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TOPIC RECAP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Recap — Implementing a Multi-Agent AI Workflow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783080"/>
            <a:ext cx="1060704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700" b="0">
                <a:solidFill>
                  <a:srgbClr val="161B26"/>
                </a:solidFill>
                <a:latin typeface="Arial"/>
              </a:rPr>
              <a:t>•  You can now: expose the ReAct loop, then gate an agent behind human approval.</a:t>
            </a:r>
          </a:p>
          <a:p>
            <a:pPr>
              <a:spcAft>
                <a:spcPts val="1000"/>
              </a:spcAft>
            </a:pPr>
            <a:r>
              <a:rPr sz="1700" b="0">
                <a:solidFill>
                  <a:srgbClr val="161B26"/>
                </a:solidFill>
                <a:latin typeface="Arial"/>
              </a:rPr>
              <a:t>•  You can now: compare manual orchestration with a RoundRobinGroupChat team.</a:t>
            </a:r>
          </a:p>
          <a:p>
            <a:pPr>
              <a:spcAft>
                <a:spcPts val="1000"/>
              </a:spcAft>
            </a:pPr>
            <a:r>
              <a:rPr sz="1700" b="0">
                <a:solidFill>
                  <a:srgbClr val="161B26"/>
                </a:solidFill>
                <a:latin typeface="Arial"/>
              </a:rPr>
              <a:t>•  You can now: build the OpsDesk capstone and assess its feasibility with checks.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Develop Multi-Agent AI Applications with AutoGen  ·  TGS-2024045806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115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2286000"/>
            <a:ext cx="128016" cy="18288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2331720"/>
            <a:ext cx="10058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WRAP-UP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2743200"/>
            <a:ext cx="1042416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4000" b="1">
                <a:solidFill>
                  <a:srgbClr val="161B26"/>
                </a:solidFill>
                <a:latin typeface="Arial"/>
              </a:rPr>
              <a:t>Course Summary &amp; Next Steps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0" y="640080"/>
            <a:ext cx="256032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7200" b="1">
                <a:solidFill>
                  <a:srgbClr val="E2E8F0"/>
                </a:solidFill>
                <a:latin typeface="Arial"/>
              </a:rPr>
              <a:t/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Develop Multi-Agent AI Applications with AutoGen  ·  TGS-2024045806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116</a:t>
            </a:r>
          </a:p>
        </p:txBody>
      </p:sp>
    </p:spTree>
  </p:cSld>
  <p:clrMapOvr>
    <a:masterClrMapping/>
  </p:clrMapOvr>
  <p:transition spd="med" advClick="1">
    <p:push dir="l"/>
  </p:transition>
</p:sld>
</file>

<file path=ppt/slides/slide1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LEARNING OUTCOMES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What You Achieved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10634472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129844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33272" y="2157984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3272" y="2157984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4792" y="1911096"/>
            <a:ext cx="9427464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LO1 · Evaluated LLM AI models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Ran models directly and as agents, compared cloud vs local on quality, latency, cost and privacy, and identified strengths and limitations with evidence.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77240" y="3319272"/>
            <a:ext cx="10634472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77240" y="3319272"/>
            <a:ext cx="91440" cy="129844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033272" y="3694176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33272" y="3694176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764792" y="3447288"/>
            <a:ext cx="9427464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LO2 · Analyzed RAG algorithms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Built an embedding index, tuned chunking and top-k, grounded an agent with citations and refusal, and measured hit@k and latency to improve efficiency.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4855464"/>
            <a:ext cx="10634472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4855464"/>
            <a:ext cx="91440" cy="129844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33272" y="5230368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33272" y="5230368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64792" y="4983480"/>
            <a:ext cx="9427464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LO3 · Assessed multi-agent feasibility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Built ReAct, human-in-the-loop, round-robin and selector workflows, bounded them with termination conditions, and judged feasibility with readiness checks.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Develop Multi-Agent AI Applications with AutoGen  ·  TGS-2024045806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117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NEXT STEPS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Continue Your Learning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129844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33272" y="2157984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3272" y="2157984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4792" y="1911096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AutoGen documentation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https://microsoft.github.io/autogen/ — the reference for AgentChat, Extensions and Core.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129844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87668" y="2157984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87668" y="2157984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19188" y="1911096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AI Agents for Beginners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Microsoft's free 10-lesson course on agent design patterns — github.com/microsoft/ai-agents-for-beginners.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3319272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3319272"/>
            <a:ext cx="91440" cy="129844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33272" y="3694176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33272" y="3694176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64792" y="3447288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Rebuild the labs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Redo each lab from a blank file until the agent patterns are automatic.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3319272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3319272"/>
            <a:ext cx="91440" cy="129844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87668" y="3694176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87668" y="3694176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19188" y="3447288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Extend the capstone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Add a new specialist, a guardrail and a Studio prototype to your OpsDesk workflow.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77240" y="4855464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77240" y="4855464"/>
            <a:ext cx="91440" cy="129844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1033272" y="5230368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33272" y="5230368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764792" y="4983480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Practice exams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https://exams.tertiaryinfotech.com/practice-exams — free practice exams from Tertiary Infotech.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231636" y="4855464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231636" y="4855464"/>
            <a:ext cx="91440" cy="129844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6487668" y="5230368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87668" y="5230368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219188" y="4983480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Share your work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Publish your agents to GitHub and gather feedback from real users.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Develop Multi-Agent AI Applications with AutoGen  ·  TGS-2024045806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118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CONTINUE WITH TERTIARY INFOTECH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Recommended Courses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10634472" cy="683971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683971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33272" y="1850745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3272" y="1850745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4792" y="1911096"/>
            <a:ext cx="9427464" cy="501091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700" b="1">
                <a:solidFill>
                  <a:srgbClr val="161B26"/>
                </a:solidFill>
                <a:latin typeface="Arial"/>
              </a:rPr>
              <a:t>WSQ - Building Agentic AI Workflows to Automate Business Processes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/>
            </a:r>
          </a:p>
        </p:txBody>
      </p:sp>
      <p:sp>
        <p:nvSpPr>
          <p:cNvPr id="12" name="Rectangle 11"/>
          <p:cNvSpPr/>
          <p:nvPr/>
        </p:nvSpPr>
        <p:spPr>
          <a:xfrm>
            <a:off x="777240" y="2704795"/>
            <a:ext cx="10634472" cy="683971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77240" y="2704795"/>
            <a:ext cx="91440" cy="683971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033272" y="2772460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33272" y="277246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764792" y="2832811"/>
            <a:ext cx="9427464" cy="501091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700" b="1">
                <a:solidFill>
                  <a:srgbClr val="161B26"/>
                </a:solidFill>
                <a:latin typeface="Arial"/>
              </a:rPr>
              <a:t>WSQ - Agentic AI Automation with n8n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/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3626510"/>
            <a:ext cx="10634472" cy="683971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3626510"/>
            <a:ext cx="91440" cy="683971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33272" y="3694175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33272" y="3694175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64792" y="3754526"/>
            <a:ext cx="9427464" cy="501091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700" b="1">
                <a:solidFill>
                  <a:srgbClr val="161B26"/>
                </a:solidFill>
                <a:latin typeface="Arial"/>
              </a:rPr>
              <a:t>WSQ - Create Copilot Chatbots and Agents with Microsoft Copilot Studio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/>
            </a:r>
          </a:p>
        </p:txBody>
      </p:sp>
      <p:sp>
        <p:nvSpPr>
          <p:cNvPr id="22" name="Rectangle 21"/>
          <p:cNvSpPr/>
          <p:nvPr/>
        </p:nvSpPr>
        <p:spPr>
          <a:xfrm>
            <a:off x="777240" y="4548225"/>
            <a:ext cx="10634472" cy="683971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777240" y="4548225"/>
            <a:ext cx="91440" cy="683971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1033272" y="4615890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33272" y="461589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764792" y="4676241"/>
            <a:ext cx="9427464" cy="501091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700" b="1">
                <a:solidFill>
                  <a:srgbClr val="161B26"/>
                </a:solidFill>
                <a:latin typeface="Arial"/>
              </a:rPr>
              <a:t>WSQ - Develop Multi AI Agent Applications with Gemini Agent ADK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/>
            </a:r>
          </a:p>
        </p:txBody>
      </p:sp>
      <p:sp>
        <p:nvSpPr>
          <p:cNvPr id="27" name="Rectangle 26"/>
          <p:cNvSpPr/>
          <p:nvPr/>
        </p:nvSpPr>
        <p:spPr>
          <a:xfrm>
            <a:off x="777240" y="5469940"/>
            <a:ext cx="10634472" cy="683971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77240" y="5469940"/>
            <a:ext cx="91440" cy="683971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1033272" y="5537605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33272" y="5537605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764792" y="5597956"/>
            <a:ext cx="9427464" cy="501091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700" b="1">
                <a:solidFill>
                  <a:srgbClr val="161B26"/>
                </a:solidFill>
                <a:latin typeface="Arial"/>
              </a:rPr>
              <a:t>WSQ - LLM Application Development with LangChain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/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Develop Multi-Agent AI Applications with AutoGen  ·  TGS-2024045806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119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WE'RE HERE TO HELP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Support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783080"/>
            <a:ext cx="1060704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000" b="0">
                <a:solidFill>
                  <a:srgbClr val="161B26"/>
                </a:solidFill>
                <a:latin typeface="Arial"/>
              </a:rPr>
              <a:t>•  If you have any enquiries during or after the class, you can contact us below.</a:t>
            </a:r>
          </a:p>
          <a:p>
            <a:pPr>
              <a:spcAft>
                <a:spcPts val="1000"/>
              </a:spcAft>
            </a:pPr>
            <a:r>
              <a:rPr sz="2000" b="0">
                <a:solidFill>
                  <a:srgbClr val="161B26"/>
                </a:solidFill>
                <a:latin typeface="Arial"/>
              </a:rPr>
              <a:t>•  Email: enquiry@tertiaryinfotech.com</a:t>
            </a:r>
          </a:p>
          <a:p>
            <a:pPr>
              <a:spcAft>
                <a:spcPts val="1000"/>
              </a:spcAft>
            </a:pPr>
            <a:r>
              <a:rPr sz="2000" b="0">
                <a:solidFill>
                  <a:srgbClr val="161B26"/>
                </a:solidFill>
                <a:latin typeface="Arial"/>
              </a:rPr>
              <a:t>•  Tel: +65 6100 0613</a:t>
            </a:r>
          </a:p>
          <a:p>
            <a:pPr>
              <a:spcAft>
                <a:spcPts val="1000"/>
              </a:spcAft>
            </a:pPr>
            <a:r>
              <a:rPr sz="2000" b="0">
                <a:solidFill>
                  <a:srgbClr val="161B26"/>
                </a:solidFill>
                <a:latin typeface="Arial"/>
              </a:rPr>
              <a:t>•  Website: www.tertiarycourses.com.sg</a:t>
            </a:r>
          </a:p>
          <a:p>
            <a:pPr>
              <a:spcAft>
                <a:spcPts val="1000"/>
              </a:spcAft>
            </a:pPr>
            <a:r>
              <a:rPr sz="2000" b="0">
                <a:solidFill>
                  <a:srgbClr val="161B26"/>
                </a:solidFill>
                <a:latin typeface="Arial"/>
              </a:rPr>
              <a:t>•  LMS / TMS: https://lms-tms.tertiaryinfotech.com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Develop Multi-Agent AI Applications with AutoGen  ·  TGS-2024045806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120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ASSESSMENT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Final Assessment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206654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33272" y="2542032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3272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4792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700" b="1">
                <a:solidFill>
                  <a:srgbClr val="161B26"/>
                </a:solidFill>
                <a:latin typeface="Arial"/>
              </a:rPr>
              <a:t>Written Assessment (SAQ)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1 hour · open book · short-answer knowledge questions.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206654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87668" y="2542032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87668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19188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700" b="1">
                <a:solidFill>
                  <a:srgbClr val="161B26"/>
                </a:solidFill>
                <a:latin typeface="Arial"/>
              </a:rPr>
              <a:t>Practical Performance (PP)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1 hour · open book · hands-on AutoGen build tasks.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4087368"/>
            <a:ext cx="91440" cy="206654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33272" y="4846320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33272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64792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700" b="1">
                <a:solidFill>
                  <a:srgbClr val="161B26"/>
                </a:solidFill>
                <a:latin typeface="Arial"/>
              </a:rPr>
              <a:t>Digital attendance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Take the Assessment digital attendance before you start.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4087368"/>
            <a:ext cx="91440" cy="206654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87668" y="4846320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87668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19188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700" b="1">
                <a:solidFill>
                  <a:srgbClr val="161B26"/>
                </a:solidFill>
                <a:latin typeface="Arial"/>
              </a:rPr>
              <a:t>Submit on the LMS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Upload your completed answers at https://lms-tms.tertiaryinfotech.com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Develop Multi-Agent AI Applications with AutoGen  ·  TGS-2024045806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121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ON ASSESSMENT DAY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Assessment Flow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77240" y="2148840"/>
            <a:ext cx="1819656" cy="2148840"/>
          </a:xfrm>
          <a:prstGeom prst="roundRect">
            <a:avLst>
              <a:gd name="adj" fmla="val 10000"/>
            </a:avLst>
          </a:prstGeom>
          <a:solidFill>
            <a:srgbClr val="F5F8FC"/>
          </a:solidFill>
          <a:ln w="1587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2148840"/>
            <a:ext cx="1819656" cy="10058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403604" y="2459736"/>
            <a:ext cx="566928" cy="56692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403604" y="2459736"/>
            <a:ext cx="566928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05256" y="3118104"/>
            <a:ext cx="1563624" cy="8595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TRAQOM survey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" y="3822192"/>
            <a:ext cx="1636776" cy="3474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Scan the QR code on the…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2651760" y="3223260"/>
            <a:ext cx="274320" cy="0"/>
          </a:xfrm>
          <a:prstGeom prst="line">
            <a:avLst/>
          </a:prstGeom>
          <a:ln w="25400">
            <a:solidFill>
              <a:srgbClr val="1F6FE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2980944" y="2148840"/>
            <a:ext cx="1819656" cy="2148840"/>
          </a:xfrm>
          <a:prstGeom prst="roundRect">
            <a:avLst>
              <a:gd name="adj" fmla="val 10000"/>
            </a:avLst>
          </a:prstGeom>
          <a:solidFill>
            <a:srgbClr val="F5F8FC"/>
          </a:solidFill>
          <a:ln w="1587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2980944" y="2148840"/>
            <a:ext cx="1819656" cy="10058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3607308" y="2459736"/>
            <a:ext cx="566928" cy="56692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607308" y="2459736"/>
            <a:ext cx="566928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108960" y="3118104"/>
            <a:ext cx="1563624" cy="8595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Digital attendance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072384" y="3822192"/>
            <a:ext cx="1636776" cy="3474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Scan the SSG assessment QR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4855464" y="3223260"/>
            <a:ext cx="274320" cy="0"/>
          </a:xfrm>
          <a:prstGeom prst="line">
            <a:avLst/>
          </a:prstGeom>
          <a:ln w="25400">
            <a:solidFill>
              <a:srgbClr val="1F6FE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ounded Rectangle 20"/>
          <p:cNvSpPr/>
          <p:nvPr/>
        </p:nvSpPr>
        <p:spPr>
          <a:xfrm>
            <a:off x="5184648" y="2148840"/>
            <a:ext cx="1819656" cy="2148840"/>
          </a:xfrm>
          <a:prstGeom prst="roundRect">
            <a:avLst>
              <a:gd name="adj" fmla="val 10000"/>
            </a:avLst>
          </a:prstGeom>
          <a:solidFill>
            <a:srgbClr val="F5F8FC"/>
          </a:solidFill>
          <a:ln w="1587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184648" y="2148840"/>
            <a:ext cx="1819656" cy="10058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5811012" y="2459736"/>
            <a:ext cx="566928" cy="56692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811012" y="2459736"/>
            <a:ext cx="566928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312664" y="3118104"/>
            <a:ext cx="1563624" cy="8595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Sit WA then PP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276088" y="3822192"/>
            <a:ext cx="1636776" cy="3474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Open book · 1 hour each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7059168" y="3223260"/>
            <a:ext cx="274320" cy="0"/>
          </a:xfrm>
          <a:prstGeom prst="line">
            <a:avLst/>
          </a:prstGeom>
          <a:ln w="25400">
            <a:solidFill>
              <a:srgbClr val="1F6FE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Rounded Rectangle 27"/>
          <p:cNvSpPr/>
          <p:nvPr/>
        </p:nvSpPr>
        <p:spPr>
          <a:xfrm>
            <a:off x="7388352" y="2148840"/>
            <a:ext cx="1819656" cy="2148840"/>
          </a:xfrm>
          <a:prstGeom prst="roundRect">
            <a:avLst>
              <a:gd name="adj" fmla="val 10000"/>
            </a:avLst>
          </a:prstGeom>
          <a:solidFill>
            <a:srgbClr val="F5F8FC"/>
          </a:solidFill>
          <a:ln w="1587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7388352" y="2148840"/>
            <a:ext cx="1819656" cy="10058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8014716" y="2459736"/>
            <a:ext cx="566928" cy="56692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014716" y="2459736"/>
            <a:ext cx="566928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516368" y="3118104"/>
            <a:ext cx="1563624" cy="8595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Submit on the LMS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479792" y="3822192"/>
            <a:ext cx="1636776" cy="3474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Upload your completed…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9262872" y="3223260"/>
            <a:ext cx="274320" cy="0"/>
          </a:xfrm>
          <a:prstGeom prst="line">
            <a:avLst/>
          </a:prstGeom>
          <a:ln w="25400">
            <a:solidFill>
              <a:srgbClr val="1F6FE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Rounded Rectangle 34"/>
          <p:cNvSpPr/>
          <p:nvPr/>
        </p:nvSpPr>
        <p:spPr>
          <a:xfrm>
            <a:off x="9592056" y="2148840"/>
            <a:ext cx="1819656" cy="2148840"/>
          </a:xfrm>
          <a:prstGeom prst="roundRect">
            <a:avLst>
              <a:gd name="adj" fmla="val 10000"/>
            </a:avLst>
          </a:prstGeom>
          <a:solidFill>
            <a:srgbClr val="F5F8FC"/>
          </a:solidFill>
          <a:ln w="1587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9592056" y="2148840"/>
            <a:ext cx="1819656" cy="10058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10218420" y="2459736"/>
            <a:ext cx="566928" cy="56692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0218420" y="2459736"/>
            <a:ext cx="566928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720072" y="3118104"/>
            <a:ext cx="1563624" cy="8595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Sign the record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683496" y="3822192"/>
            <a:ext cx="1636776" cy="3474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Sign the Assessment…</a:t>
            </a:r>
          </a:p>
        </p:txBody>
      </p:sp>
      <p:sp>
        <p:nvSpPr>
          <p:cNvPr id="41" name="Rectangle 40"/>
          <p:cNvSpPr/>
          <p:nvPr/>
        </p:nvSpPr>
        <p:spPr>
          <a:xfrm>
            <a:off x="777240" y="4608576"/>
            <a:ext cx="10634472" cy="10515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777240" y="4608576"/>
            <a:ext cx="100584" cy="105156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1051560" y="4718304"/>
            <a:ext cx="1014984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1F6FEB"/>
                </a:solidFill>
                <a:latin typeface="Arial"/>
              </a:rPr>
              <a:t>REMEMBER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51560" y="5029200"/>
            <a:ext cx="1014984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All five steps are mandatory for WSQ funding — missing the digital attendance or the TRAQOM survey can invalidate your claim.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Develop Multi-Agent AI Applications with AutoGen  ·  TGS-2024045806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122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0" fill="hold">
                      <p:stCondLst>
                        <p:cond delay="indefinite"/>
                      </p:stCondLst>
                      <p:childTnLst>
                        <p:par>
                          <p:cTn id="61" fill="hold">
                            <p:stCondLst>
                              <p:cond delay="0"/>
                            </p:stCondLst>
                            <p:childTnLst>
                              <p:par>
                                <p:cTn id="6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0" fill="hold">
                      <p:stCondLst>
                        <p:cond delay="indefinite"/>
                      </p:stCondLst>
                      <p:childTnLst>
                        <p:par>
                          <p:cTn id="71" fill="hold">
                            <p:stCondLst>
                              <p:cond delay="0"/>
                            </p:stCondLst>
                            <p:childTnLst>
                              <p:par>
                                <p:cTn id="7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4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0" fill="hold">
                      <p:stCondLst>
                        <p:cond delay="indefinite"/>
                      </p:stCondLst>
                      <p:childTnLst>
                        <p:par>
                          <p:cTn id="81" fill="hold">
                            <p:stCondLst>
                              <p:cond delay="0"/>
                            </p:stCondLst>
                            <p:childTnLst>
                              <p:par>
                                <p:cTn id="8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4" dur="4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0" fill="hold">
                      <p:stCondLst>
                        <p:cond delay="indefinite"/>
                      </p:stCondLst>
                      <p:childTnLst>
                        <p:par>
                          <p:cTn id="91" fill="hold">
                            <p:stCondLst>
                              <p:cond delay="0"/>
                            </p:stCondLst>
                            <p:childTnLst>
                              <p:par>
                                <p:cTn id="9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4" dur="4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  <p:transition spd="fast" advClick="1">
    <p:fade/>
  </p:transition>
</p:sld>
</file>

<file path=ppt/slides/slide1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TRAQOM · SSG DIGITAL ATTENDANCE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Digital Attendance &amp; TRAQOM (Mandatory)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206654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33272" y="2542032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3272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4792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700" b="1">
                <a:solidFill>
                  <a:srgbClr val="161B26"/>
                </a:solidFill>
                <a:latin typeface="Arial"/>
              </a:rPr>
              <a:t>Three times a day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Take the AM, PM and Assessment digital attendance — mandatory for every WSQ-funded course.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206654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87668" y="2542032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87668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19188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700" b="1">
                <a:solidFill>
                  <a:srgbClr val="161B26"/>
                </a:solidFill>
                <a:latin typeface="Arial"/>
              </a:rPr>
              <a:t>Trainer shows the QR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The trainer or administrator displays the digital attendance QR code from the SSG portal.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4087368"/>
            <a:ext cx="91440" cy="206654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33272" y="4846320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33272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64792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700" b="1">
                <a:solidFill>
                  <a:srgbClr val="161B26"/>
                </a:solidFill>
                <a:latin typeface="Arial"/>
              </a:rPr>
              <a:t>Scan and submit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Scan the QR code with your mobile phone camera and submit your attendance.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4087368"/>
            <a:ext cx="91440" cy="206654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87668" y="4846320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87668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19188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700" b="1">
                <a:solidFill>
                  <a:srgbClr val="161B26"/>
                </a:solidFill>
                <a:latin typeface="Arial"/>
              </a:rPr>
              <a:t>Cert &amp; TRAQOM survey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Complete the TRAQOM survey on the LMS to receive your certificate.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Develop Multi-Agent AI Applications with AutoGen  ·  TGS-2024045806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123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2011680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0B981"/>
                </a:solidFill>
                <a:latin typeface="Arial"/>
              </a:rPr>
              <a:t>HAPPY BUILDING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2560320"/>
            <a:ext cx="10332720" cy="2194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3800" b="1">
                <a:solidFill>
                  <a:srgbClr val="161B26"/>
                </a:solidFill>
                <a:latin typeface="Arial"/>
              </a:rPr>
              <a:t>Thank You!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24128" y="4480560"/>
            <a:ext cx="100584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0">
                <a:solidFill>
                  <a:srgbClr val="5B6372"/>
                </a:solidFill>
                <a:latin typeface="Arial"/>
              </a:rPr>
              <a:t>You can now design, build and evaluate multi-agent AI applications with AutoGen.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Develop Multi-Agent AI Applications with AutoGen  ·  TGS-2024045806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124</a:t>
            </a:r>
          </a:p>
        </p:txBody>
      </p:sp>
    </p:spTree>
  </p:cSld>
  <p:clrMapOvr>
    <a:masterClrMapping/>
  </p:clrMapOvr>
  <p:transition spd="fast" advClick="1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