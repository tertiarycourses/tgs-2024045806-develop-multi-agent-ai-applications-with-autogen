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80" r:id="rId131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GPT-4o-mini (cloud)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Answer quality</c:v>
                </c:pt>
                <c:pt idx="1">
                  <c:v>Speed (tok/s)</c:v>
                </c:pt>
                <c:pt idx="2">
                  <c:v>Cost per 1M tokens</c:v>
                </c:pt>
                <c:pt idx="3">
                  <c:v>Data privacy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Llama 3.2 3B (local)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Answer quality</c:v>
                </c:pt>
                <c:pt idx="1">
                  <c:v>Speed (tok/s)</c:v>
                </c:pt>
                <c:pt idx="2">
                  <c:v>Cost per 1M tokens</c:v>
                </c:pt>
                <c:pt idx="3">
                  <c:v>Data privacy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6</c:v>
                </c:pt>
                <c:pt idx="1">
                  <c:v>6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course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Topic 1 — LLM AI Orchestration</c:v>
                </c:pt>
                <c:pt idx="1">
                  <c:v>Topic 2 — Retrieval-Augmented Generation (RAG)</c:v>
                </c:pt>
                <c:pt idx="2">
                  <c:v>Topic 3 — Multi-Agent AI Workflow</c:v>
                </c:pt>
              </c:strCache>
            </c:strRef>
          </c:cat>
          <c:val>
            <c:numRef>
              <c:f>Sheet1!$B$2:$B$4</c:f>
              <c:numCache>
                <c:formatCode>0"%"</c:formatCode>
                <c:ptCount val="3"/>
                <c:pt idx="0">
                  <c:v>36</c:v>
                </c:pt>
                <c:pt idx="1">
                  <c:v>36</c:v>
                </c:pt>
                <c:pt idx="2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Gold answer retrieved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k=1</c:v>
                </c:pt>
                <c:pt idx="1">
                  <c:v>k=3</c:v>
                </c:pt>
                <c:pt idx="2">
                  <c:v>k=5</c:v>
                </c:pt>
                <c:pt idx="3">
                  <c:v>k=10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83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 tokens used (%)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k=1</c:v>
                </c:pt>
                <c:pt idx="1">
                  <c:v>k=3</c:v>
                </c:pt>
                <c:pt idx="2">
                  <c:v>k=5</c:v>
                </c:pt>
                <c:pt idx="3">
                  <c:v>k=10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Typical messages per task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Two-agent chat</c:v>
                </c:pt>
                <c:pt idx="2">
                  <c:v>Round-robin (2)</c:v>
                </c:pt>
                <c:pt idx="3">
                  <c:v>Selector (3)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calls per task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Two-agent chat</c:v>
                </c:pt>
                <c:pt idx="2">
                  <c:v>Round-robin (2)</c:v>
                </c:pt>
                <c:pt idx="3">
                  <c:v>Selector (3)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autogen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1783080" cy="1783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Develop Multi-Agent AI Applications with AutoGen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TGS-2024045806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v9  ·  28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Founder,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AI, Large Language Models, multi-agent AI systems and applied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 agents, LLM application development, RAG, data science and automation.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APIs and Generative AI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One workflow you would like a team of AI agents to automate for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SKILLS FRAMEWORK  · 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AER-TEM-4026-1.1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A1 / 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algorithms in AI applications; correlate algorithm design with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A3 / A4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strengths and limitations of AI applications; evaluate various AI applications.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A5 / A6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feasibility of AI applications and the improvements they bring to processes.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K1–K6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AI application ranges, performance analysis, algorithm design and implementation concepts.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 per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LLM Orchestration &amp; RAG with AutoGen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Introductions · Learning Outcomes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Introduction to LLM AI Orchestration (Labs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Retrieval-Augmented Generation (Labs 4–5)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Day 1 recap and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Multi-Agent Workflows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Day 1 recap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Implementing a Multi-Agent AI Workflow (Labs 6–8)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Revision · Course Feedback and TRAQOM Survey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(Assessment) · Final Assessment (WA + 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Evaluate LLM AI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Identify the strengths and limitations of LLM AI models by running, measuring and comparing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Analyze RAG algorithms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Analyze Retrieval-Augmented Generation algorithms — embeddings, chunking, similarity search — to improve efficiency.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Assess multi-agent feasibility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 the feasibility of implementing multi-agent AI applications with evidence: cost, latency, guardrails and readiness checks.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TOPICS  ·  8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— Introduction to LLM AI Orchestration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LLM strengths &amp; limitations · AI agents · AutoGen setup · model clients · function-calling tools · Labs 1–3.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— Retrieval-Augmented Generation (RAG)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Embeddings · chunking · vector databases · similarity search · grounded RAG agents · evaluation · Labs 4–5.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— Implementing a Multi-Agent AI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ReAct · human-in-the-loop · round-robin teams · SelectorGroupChat routing · feasibility · Labs 6–8.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Clear your desk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discussion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individually — 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may be used.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Stop on 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· 4:30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Short-Answer Questions (SAQ) · 1 hour · open book. Tests the underpinning knowledge in these 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Hands-on AutoGen build tasks · 1 hour · open book. Tests the ability you built in the labs.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 course slides, the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are assessed as Competent (C) or Not Yet Competent (NYC) on each instrument.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you wish to contest an assessment outcome.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QR code on the…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completed…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Assessment…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missing the digital attendance or the TRAQOM survey can invalidate your claim.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both assessment components and be assessed as 'Competent'.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QR code for AM, PM and Assessment on every training 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mandatory TRAQOM course feedback survey on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PRACTICE EXAM  ·  exams.tertiaryinfotech.com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Exams — Sharpen Your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Practice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https://exams.tertiaryinfotech.com/practice-exams — free Tertiary Infotech practice exams.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practise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Timed question practice builds the recall you need for the open-book WA (SAQ).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How to use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free account, pick an AI/agents practice exam, and review every explanation.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Best preparation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the 8 labs from a blank file — the PP mirrors what you built in class.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  ·  labs/lab-00-prelab-uv-setup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Before We Start (Pre-Lab)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 uv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curl -LsSf https://astral.sh/uv/install.sh | sh  (or the PowerShell one-liner on Windows).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Clone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git clone the course repository from GitHub — the link is on your LMS course page.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Sync the 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cd labs &amp;&amp; uv sync — installs Python, AutoGen AgentChat, Extensions and ChromaDB.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Set your API key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cp .env.example .env and paste the OPENAI_API_KEY the trainer provides.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uv run python -c "import autogen_agentchat" prints no error.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VS Code or any editor you are comfortable with.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Large Language Models to Multi-Agent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Large Language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model of language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LLM such as GPT-4o, Claude or Gemini is trained to understand and generate human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'large'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in training data and parameters — hundreds of billions of learned weights.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Autoregressive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predicts the next token, one token at a time, conditioned on everything written so far.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Trained then inferred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Training builds the model from a huge corpus; inference is the prompt-and-response you use every 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AUTOREGRESSIVE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an LLM Produces an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prompt is broken into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attends over the full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 predicts the most likely next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token is appended and the loop repeats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Generation stops at a stop token or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Engine of Every Agent — the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7809" y="1718310"/>
            <a:ext cx="6293334" cy="3558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lm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59" y="1737360"/>
            <a:ext cx="6255234" cy="3520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5440680"/>
            <a:ext cx="10634472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440680"/>
            <a:ext cx="100584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532120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0644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Everything in this course sits on top of one capability: a model that turns context into the most plausible next token. Orchestration is the discipline of making that capability reliable.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EVALUATING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 Strengths vs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LLMs do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you must 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Strengths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Fluent generation, summarisation and translation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Broad general knowledge from pre-training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In-context learning from a few examples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Function calling for structured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Limitations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Hallucination — confident but wrong output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Knowledge cut-off — no events after training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Stateless — no memory between calls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Non-deterministic at temperature &gt; 0 · context limits ·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MEASURABLE AXES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to Evaluate an LLM for Your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Axis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you measure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to measure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Seen in lab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Task accuracy, groundedness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Gold questions, human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Labs 1,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Latency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Seconds per response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Timing wrapper around the 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Tokens in + out per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response.usage token counts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Repeatability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Same input → same output?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twice at temperature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Where does data go?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Cloud API vs local Ollama model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Model choice is an engineering decision made with numbers — not a brand preference.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INDICATIVE 1–10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vs Local Model — the Trade-off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Indicative teaching scores, not benchmarks: the cloud model wins on quality; the local model wins on cost and privacy. Lab 2 measures this trade-off on your own machine.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LLM answers. An agent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An AI agent wraps the model with a role, memory and tools — so it can complete tasks, not just produce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SIX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Makes a System 'Agentic'?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plans a sequence of steps instead of answering in one 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calls functions and APIs to fetch live data or take real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Conversation context lets it carry state across many turns.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decides which tool to call — or which specialist agent should act next.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Multiple specialised agents divide the work and hand off between themselves.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System messages, termination conditions and human approval constrain what it may 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PATTERN BEHIND EVERY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Agentic Loop — Reason, Act, Observe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Perceive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 the request and…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Plan which step or tool…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Call a tool, or hand off…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 the tool result back…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Answer, or loop again if…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loop is what separates an agent from a chatbot: it can take several actions before answering, and it decides how many.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Systems — Specialists That Collaborate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7809" y="1718310"/>
            <a:ext cx="6293334" cy="3558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gents_col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59" y="1737360"/>
            <a:ext cx="6255234" cy="3520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5440680"/>
            <a:ext cx="10634472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440680"/>
            <a:ext cx="100584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532120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0644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agent with twenty jobs fails quietly; several agents with one job each can be tested, routed and trusted. Dividing work across specialists is the core idea of this course.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CHOOSING THE RIGHT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 vs Single Agent vs Multi-Agent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Plain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Single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Multi-Agent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Generates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Completes a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Divides work across specialists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 — stateless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Conversation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Shared team conversation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Its own tool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Each agent has its own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Drafting, summarising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well-defined job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Broad domains, varied requests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Main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Hallucination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Overloaded instruction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Wrong routing / endless loops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Add agents only when one instruction can no longer describe the job clearly — complexity you don't need is complexity you must still debug.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RPA to Agentic Process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Yesterday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RPA — Robotic Process Automation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Scripted clicks and keystrokes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Breaks when the screen changes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 understanding of content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Good for stable, repetitive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APA — Agentic Process Automation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Agents reason about goals, not scripts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Adapts: reads content, decides, calls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Handles exceptions and hands off to humans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Good for knowledge work with variation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WHERE IT PAYS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Use Cases of Multi-Agent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Customer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L1 triage agent classifies tickets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Knowledge agent drafts grounded replies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Escalation agent routes to humans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24/7 first response, faster resolution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Finance &amp;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Research + analysis agent pairs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Report writer with reviewer agent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Compliance checks with citations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Human approval before anything 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Software &amp;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Coder + tester agent loops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Data-pipeline monitoring agents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Documentation writers with critics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Feasibility checks before rollout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KNOW YOUR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Frameworks — the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Orchestration style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Strengths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AutoGen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Conversation-driven 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Teams, tools, human-in-loop, Studio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This course — flexible agent teams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LangGraph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Explicit state graph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Deterministic flows, persistence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Regulated, auditable pipelines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CrewAI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Role/task crews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role-based prototyping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Content and research crews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Semantic Kernel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Skills + planners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.NET/enterprise integration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Microsoft-stack enterprises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concepts transfer: agents, tools, memory and termination exist in every framework — AutoGen is our vehicle for learning them.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AutoGen?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Microsoft open source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framework for building multi-agent AI applications, maintained by Microsoft Research.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Conversation-first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Agents collaborate by exchanging messages in shared team conversations.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Batteries included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Model clients, tools, teams, termination conditions and human-in-the-loop out of the box.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Production path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same concepts scale from a script to AutoGen Studio to the event-driven Core runtime.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FOUR LAYERS, ONE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AutoGen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autogen-core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Event-driven agent runtime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autogen-agentchat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Agents, teams, termination…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autogen-ext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Model clients &amp; tools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AutoGen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No-code team builder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WHERE WE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This course lives in agentchat + ext — the task-driven layer most applications use. Studio gives the same power without code.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an AutoGen Agent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Every agent in this course is built from these same fields — learn to read them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from autogen_agentchat.agents import AssistantAgent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from autogen_ext.models.openai import 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OpenAIChatCompletionClient,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client = OpenAIChatCompletionClient(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model='gpt-4o-mini',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agent = AssistantAgent(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name='ops_assistant',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model_client=client,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system_message='You are ...',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tools=[lookup_ticket],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model_client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LLM runs the agent — swap OpenAI for Azure, Gemini or Ollama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identifier used in team conversations and routing.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system_message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role, rules and refusals. Most behaviour lives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Typed Python functions the agent may call — its hands.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Which Agent Pattern Should You 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one clear
instruction describe
the whole job?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— use a single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Give it the tools it needs. Simpler to build, cheaper to run and far easier to debug. Most business tasks stop here.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— use a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Split by specialism. RoundRobinGroupChat when the order is fixed; SelectorGroupChat when an LLM should route dynamically.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common mistake is starting multi-agent. Start single, and split only when the instruction starts listing unrelated responsibilities.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 · TIME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Course Time Goes — Topic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Topics 1 and 2 build the orchestration and RAG foundations; Topic 3 assembles them into multi-agent workflows — the skill the practical assessment weighs most.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LLM AI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LLM strengths &amp; limitations · AI agents · AutoGen setup · model clients ·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Introduction to LLM AI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LLM generates text token by token from a prompt; it is stateless, has a knowledge cut-off, and can hallucinate — the limitations that orchestration exists to manage.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Strengths and limitations are evaluated on measurable axes: quality, latency, cost per call, context length, privacy and repeatability (temperature).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AI agent wraps an LLM with a role (system message), memory of the conversation, and tools — so it can act, not just answer.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AutoGen is Microsoft's open-source multi-agent framework: Core (event-driven runtime), AgentChat (task-driven agents &amp; teams), Extensions (model clients, tools) and Studio (no-code UI).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Introduction to LLM AI Orchestration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client (OpenAIChatCompletionClient) abstracts the provider — the same agent code runs on OpenAI, Azure, Gemini, or a local Ollama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Function calling turns typed Python functions into tools the model can request; AutoGen's FunctionTool generates the JSON schema from the signature and docstring.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Structured output (output_content_type with a Pydantic model) converts free text into validated fields that downstream code can branch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Async execution (asyncio, run/run_stream, the Console UI) is how AgentChat streams events and scales beyond one blocking call.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 AI Orchestration — What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Coordinating models, prompts, tools, data and control flow into one dependable application.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Beyond one prompt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Real apps chain calls, branch on results, retry failures and log everything.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orchestrator's job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Decide what runs, in what order, with what context — and when to stop.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Frameworks help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AutoGen supplies the loop, message types, tool plumbing and termination logic.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LOCAL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Running a Local LLM with Ollama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local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Privacy (data never leaves the machine), zero per-call cost, offline capability.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 &amp; pull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ollama pull llama3.2 downloads a quantised open model to your laptop.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OpenAI-compatible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Ollama serves http://localhost:11434/v1 — the SAME client code works against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catch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Smaller local models trade answer quality and speed for privacy and cost — measure it in Lab 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Building a Minimal LLM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Lab 1's llm_app.py — the irreducible core of every LLM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from openai import OpenAI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client = OpenAI(api_key=KEY)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resp = client.chat.completions.create(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model='gpt-4o-mini',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temperature=0.7,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messages=[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{'role':'system','content':'...'},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{'role':'user','content':'...'},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],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print(resp.choices[0].message.content)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print(resp.usage.total_tokens)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whole conversation is sent every call — the model itself is stateless.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temperature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 = repeatable, higher = varied. Your first debugging lever.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Token counts are your cost meter — log them from day 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choices[0]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reply. Everything else in this course wraps this call.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01 ·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an LLM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 the full prompt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Most 'model bugs' are prompt bugs — print exactly what was sent.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Fix the temperature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temperature=0 while debugging so runs are comparable.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Watch the tokens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Truncated answers usually mean a max-token or context limit was hit.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Isolate the layer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the raw API call first (Lab 1), then the agent wrapper — never both at once.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 the events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AutoGen streams every message and tool call — the Console UI is your trace.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Reproduce cheaply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a failing prompt as a test case you can re-run after every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Function Calling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Declare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Tool schema sent with the…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Model returns a tool_call…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YOUR code runs the…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Result goes back to the…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Model writes the final…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KEY INSIGHT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model never executes anything — it only asks. Your code stays in control of every action, which is where safety lives.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TOOL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Kinds of Tools in AutoGen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Custom FunctionTool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Any typed Python function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Schema generated from the signature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Docstring becomes the description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3–5, 8 use these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Built-in / Extensions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autogen-ext ships ready-made tools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HTTP requests, code execution, MCP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Install-and-go integrations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Explore: autogen_ext.tools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Third-party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Wrap any REST API in a function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Weather, search (Tavily), arXiv…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Keep keys in .env, never in code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Same FunctionTool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Introduction to LLM AI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AutoGen and Run Your First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Configure Model Clients and Structured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Equip an Agent with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AutoGen and Run Your First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— evaluate an LLM by running it directly, then as an AutoGen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Verify the uv lab environment from the Pre-Lab, call an LLM directly with the OpenAI SDK, then wrap the same model in an AutoGen AssistantAgent and stream its reply with the Console UI.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working AutoGen environment plus two runnable scripts: a plain LLM app and your first agent.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uv, Python 3.10+, OpenAI SDK, AutoGen AgentChat, Console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Both scripts print a model reply with no traceback, and you can state one strength (fluent answers) and one limitation (stateless, non-repeatable at temperature 0.7) you just observed.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Complete the Pre-Lab: install uv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uv sync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Create your .env with the course API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cp .env.example .env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Verify AutoGen imports cleanly in the…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-c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plain-Python LLM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…/llm_app.py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same model as an AutoGen…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…/first_agent.py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— evaluate an LLM by running it directly, then as an AutoGen agent.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AutoGen and Run Your First Agent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Complete the Pre-Lab: install uv, then sync the lab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your .env with the course API key (never commit 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cp .env.example .env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 AutoGen imports cleanly in the environment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-c "import autogen_agentchat; print('OK')"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plain-Python LLM app and note the reply and token 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lab-01-first-autogen-agent/llm_app.py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AutoGen and Run Your First Agent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same model as an AutoGen AssistantAgent with streaming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lab-01-first-autogen-agent/first_agent.py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Set temperature to 0 in llm_app.py and re-run twice to compare repeatability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AutoGen and Run Your First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Both scripts print a model reply with no traceback, and you can state one strength (fluent answers) and one limitation (stateless, non-repeatable at temperature 0.7) you just observed.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OPENAI_API_KEY into labs/.env — no quotes, no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Model Clients and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— compare cloud vs local models and constrain output to a schema.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the same prompt against OpenAI's cloud API and a local Ollama model to compare quality, latency and cost, then force an AutoGen agent to reply in a validated Pydantic TicketTriage schema instead of free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model-comparison script with timings, and a triage agent that returns validated JSON fields.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OpenAIChatCompletionClient, Ollama (optional), Pydantic, output_content_type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triage agent returns a valid TicketTriage object with priority P1 for the outage ticket; you can name the trade-offs (latency, cost, privacy, quality) between the cloud and local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model-client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…/model_clients.py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Optional: install Ollama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ollama pull llama3.2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 the TicketTriage Pydantic schema — the…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 the structured-output triage agent on…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…/structured_agent.py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Change the ticket text to a P4 request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— compare cloud vs local models and constrain output to a schema.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Configure Model Clients and Structured Output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model-client comparison (OpenAI cloud, with timing)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lab-02-model-clients-structured-output/model_clients.py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Optional: install Ollama and pull a local model, then re-run to compare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ollama pull llama3.2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the TicketTriage Pydantic schema — the contract the agent must obey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structured-output triage agent on the outage ticket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lab-02-model-clients-structured-output/structured_agent.py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Configure Model Clients and Structured Output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Change the ticket text to a P4 request and re-run — watch the fields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Model Clients and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triage agent returns a valid TicketTriage object with priority P1 for the outage ticket; you can name the trade-offs (latency, cost, privacy, quality) between the cloud and local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OPENAI_API_KEY into labs/.env — no quotes, no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 an Agent with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— extend an LLM's limits with function calling and FunctionTool.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Do raw OpenAI function calling by hand against the synthetic ticket dataset, then let AutoGen's FunctionTool generate the schema, execute the calls and reflect on the results with two read-only ticket tools.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hand-rolled function-calling round trip, and a help-desk agent with lookup_ticket and count_open_tickets tools.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OpenAI function calling, FunctionTool, reflect_on_tool_use, tickets.json mock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reports the real subject of TT-1005 and the correct count of open P2 tickets — every fact traceable to a tool result, none invented.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Inspect the synthetic ticket data the tools…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data/tickets.json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raw function calling: schema →…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…/function_calling.py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tool_agent.py — one typed Python…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AutoGen tool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…/tool_agent.py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Ask a question needing BOTH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— extend an LLM's limits with function calling and FunctionTool.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 an Agent with Tools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synthetic ticket data the tools will 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data/tickets.json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raw function calling: schema → tool_call → execute → final 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lab-03-agent-tools/function_calling.py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tool_agent.py — one typed Python function becomes one FunctionTool 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AutoGen tool agent and watch ToolCallRequestEvent / ToolCallExecutionEvent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lab-03-agent-tools/tool_agent.py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 an Agent with Tools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Ask a question needing BOTH tools and confirm two tool calls are made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 an Agent with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agent reports the real subject of TT-1005 and the correct count of open P2 tickets — every fact traceable to a tool result, none invented.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OPENAI_API_KEY into labs/.env — no quotes, no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Introduction to LLM AI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evaluate an LLM by running it directly, then as an AutoGen agent.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compare cloud vs local models and constrain output to a schema.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extend an LLM's limits with function calling and FunctionTool.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Embeddings · chunking · vector database · similarity search · grounded agents ·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Retrieval-Augmented Generation (RAG)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RAG lets an LLM answer from knowledge outside its training data by retrieving relevant text and stuffing it into the prompt — fresher answers, fewer hallucinations, source citations.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text embedding maps text to a vector; semantically similar texts land close together, so meaning becomes measurable as cosine similarity.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Chunking decides what one retrievable unit is; chunk boundaries (by section, paragraph or tokens, with overlap) directly change retrieval quality.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vector database (ChromaDB) stores embeddings and answers approximate nearest-neighbour queries in milliseconds.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Retrieval-Augmented Generation (RAG)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RAG pipeline: load → chunk → embed → store at indexing time; embed query → similarity search → augment prompt → generate at answer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10712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agentic RAG agent calls retrieval as a tool, cites source ids, and refuses when evidence is missing — and treats retrieved text as data, never as instructions (prompt-injection defence).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46904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RAG efficiency is analysed with numbers: hit@k retrieval accuracy on a gold question set, retrieval latency, chunk count and top-k — change one lever, re-measure.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Retrieval-Augmented Generation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7809" y="1718310"/>
            <a:ext cx="6293334" cy="3558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59" y="1737360"/>
            <a:ext cx="6255234" cy="3520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5440680"/>
            <a:ext cx="10634472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440680"/>
            <a:ext cx="100584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532120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0644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Your documents are chunked and embedded into a vector database; at question time the most similar chunks are retrieved and given to the model as evidence — answers become current, grounded and citable.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RAG?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Fresh 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Answers come from YOUR documents, not the model's training cut-off.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Fewer hallucinations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quotes retrieved evidence instead of inventing facts.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Citations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answer can name its source id — auditable and trustworthy.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Cheaper than fine-tuning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Update the index, not the model — new policy PDF, same LLM.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Retrieval can respect who is allowed to see which document.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Smaller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the relevant chunks travel — not the whole handbook.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Embeddings — Meaning as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embedding model maps text to a vector of hundreds of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Property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Semantically similar texts land close together in that vector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Similarity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Closeness is measured with cosine similarity (or distance = 1 − similarity).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 our labs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ChromaDB embeds locally with all-MiniLM-L6-v2 — no API key, no data leaving your laptop.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Chunking Strategies — the First RAG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it splits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By section header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policy / heading per chunk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Coherent, self-contained units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Sections can be long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Fixed tokens + overlap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e.g. 500 tokens, 50 overlap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Uniform size, simple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Cuts mid-thought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By paragraph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Every paragraph separate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Fine-grained retrieval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Loses surrounding context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Semantic chunking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Split where topic shifts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Best coherence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Extra compute to build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Lab 4 chunks the handbook by '## ' headers so each chunk is one complete policy — re-chunk and re-measure to see why boundaries matter.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VECTOR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Vector Databases and Similarity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Store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vector DB (ChromaDB, FAISS, Pinecone, pgvector) persists embeddings with ids and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Search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query is embedded and the nearest neighbours are returned in milliseconds.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Top-k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 choose how many chunks come back — more recall vs more noise and tokens.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Metadata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Source ids (POL-001) ride along with each chunk — that's what citations are made of.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THE EFFICIENCY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Retrieval Quality vs Top-k — Measured, Not Guessed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Illustrative numbers in the shape you will measure in Lab 5: recall saturates quickly while token cost keeps climbing — the efficient k is the smallest one that still hits your accuracy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02 · AGENTIC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Agentic RAG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Classic RAG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pipeline always retrieves once, then answers — fixed behaviour.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Agentic RAG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decides when to retrieve, with what query, and whether to retry with a better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Grounding rules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Always retrieve first · cite source ids · refuse when evidence is missing.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Injection defence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Retrieved text is DATA — an agent must never obey instructions found inside documents.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LO2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Evaluating RAG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hit@k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gold source appear in the top-k results? Measured over a stable question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Milliseconds per retrieval — the index must be faster than the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Groundedness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every claim in the answer supported by a retrieved chunk?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method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ONE lever (chunking, top-k, embedder) → re-run the gold set → compare numbers.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Retrieval-Augmented Generation (RAG)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Knowledge Index with Embeddings and a Vector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and Evaluate a Grounded RAG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Knowledge Index with Embeddings and a Vector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— build the retrieval half of RAG and measure similarity directly.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Chunk the synthetic TechTrend IT handbook into one-policy chunks, embed each chunk locally, store the vectors in ChromaDB, then run similarity searches and inspect which sources return and at what cosine distance.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persistent 10-chunk ChromaDB index of the handbook, a similarity-search console, and a first index-backed agent.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ChromaDB, local embeddings (all-MiniLM-L6-v2), opsdesk_handbook.md mock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build_index.py reports 10 stored chunks; the VPN question returns POL-001 and the P1 question returns PROC-101 as top-1, each with the smallest distance.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mock handbook — note the…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data/opsdesk_handbook…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Build the index: load → chunk on '## '…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…/build_index.py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similarity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…/similarity_search.py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Wrap the index as a FunctionTool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…/index_agent.py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 a question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 — build the retrieval half of RAG and measure similarity directly.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Build a Knowledge Index with Embeddings and a Vector Database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mock handbook — note the POL-/PROC-/SLA-/SEC- source 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data/opsdesk_handbook.md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Build the index: load → chunk on '## ' headers → embed → 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lab-04-knowledge-index/build_index.py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similarity search and study the top-3 sources and distances per question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lab-04-knowledge-index/similarity_search.py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Wrap the index as a FunctionTool and let an agent search 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lab-04-knowledge-index/index_agent.py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Build a Knowledge Index with Embeddings and a Vector Database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Change a question and predict the top-1 source before running — check yourself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Knowledge Index with Embeddings and a Vector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build_index.py reports 10 stored chunks; the VPN question returns POL-001 and the P1 question returns PROC-101 as top-1, each with the smallest distance.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OPENAI_API_KEY into labs/.env — no quotes, no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Evaluate a Grounded RAG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— engineer grounding rules, then quantify retrieval efficiency.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Turn the index into a production-shaped RAG agent — mandatory retrieval, source citations, refusal when evidence is missing, prompt-injection defence — then measure hit@1, hit@3 and latency over a gold question 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grounded rag_agent with a retrieve() tool, plus an evaluation scoreboard for retrieval accuracy and latency.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AssistantAgent, FunctionTool retrieve(), reflect_on_tool_use, gold question 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VPN answer carries citations like (POL-001); the annual-leave question is refused; the scoreboard shows hit@1 ≥ 83% with millisecond-level latency.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four grounding rules in the…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 the RAG agent on one answerable plus…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lab-05-rag-agent/rag_agent…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Confirm the refusal: the annual-leave…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retrieval evaluation over the…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…/evaluate_rag.py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 n_results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 — engineer grounding rules, then quantify retrieval efficiency.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Evaluate a Grounded RAG Agent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the four grounding rules in the rag_agent system 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RAG agent on one answerable plus one unanswerable question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lab-05-rag-agent/rag_agent.py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refusal: the annual-leave question must NOT be answered from thin 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retrieval evaluation over the 6-question gold 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lab-05-rag-agent/evaluate_rag.py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Evaluate a Grounded RAG Agent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Change n_results (top-k) and re-run — record how hit@3 and latency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Evaluate a Grounded RAG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VPN answer carries citations like (POL-001); the annual-leave question is refused; the scoreboard shows hit@1 ≥ 83% with millisecond-level latency.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OPENAI_API_KEY into labs/.env — no quotes, no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Retrieval-Augmented Generation (RAG)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build the retrieval half of RAG and measure similarity directly.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engineer grounding rules, then quantify retrieval efficiency.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Implementing a Multi-Agent AI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ReAct · human-in-the-loop · teams · termination · SelectorGroupChat ·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Implementing a Multi-Agent AI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ReAct (Reason + Act) is the loop behind every agent: Thought → Action (tool call) → Observation, repeated until the agent can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Multi-agent frameworks — AutoGen, LangGraph, CrewAI — differ in orchestration style: conversation-driven teams, explicit state graphs, and role/task crews respectively.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RoundRobinGroupChat team shares one conversation and takes turns in a fixed order — the simplest reliable pattern for writer/reviewer workflows.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Termination conditions (TextMentionTermination, MaxMessageTermination, combined with | and &amp;) keep every team run bounded in messages, time and cost.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Implementing a Multi-Agent AI Workflow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Human-in-the-loop: a UserProxyAgent puts a person inside the team as an approval gate — essential where actions have real-world consequences.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SelectorGroupChat uses an LLM selector that reads each agent's description to route the next turn dynamically — specialists get chosen, not scheduled.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Feasibility of a multi-agent application is assessed on evidence: task fit, cost and latency per run, failure modes, guardrails, and readiness checks that pass.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AutoGen Studio provides a no-code way to prototype the same teams, then export the configuration to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 ·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ReAct Pattern — Reason + 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model reasons about…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 requests a tool 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Your code returns the…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Loop until enough is known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Final reply with the…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ReAct is the loop inside AssistantAgent's tool use — Lab 6 builds it from scratch so you can debug it anywhere.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 ·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Conversation Patterns for Agent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Two-agent chat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assistant + one user proxy — the simplest interactive loop.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Round-robin team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Fixed turn order in one shared conversation — writer → reviewer → writer.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Selector team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LLM selector reads agent descriptions and routes each turn dynamically.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Swarm / handoff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Agents explicitly hand off control with tool calls — fine-grained delegation.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Nested / sequential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team can be a participant inside a bigger workflow.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in the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UserProxyAgent makes a person one of the participants.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Termination Conditions — Keeping Teams Bounded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TextMentionTermination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Stop when a keyword like APPROVE or TERMINATE appears.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MaxMessageTermination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Stop after N messages — the cost/loop safety net every team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Combine with | and &amp;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OR stops on either; AND requires both — compose policies from parts.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unbounded team of eager agents can loop — and bill — forever.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03 ·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Human-in-the-Loop — the Approval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7809" y="1718310"/>
            <a:ext cx="6293334" cy="3558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uman_in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59" y="1737360"/>
            <a:ext cx="6255234" cy="3520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5440680"/>
            <a:ext cx="10634472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440680"/>
            <a:ext cx="100584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532120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0644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Where actions have real consequences, a person joins the team: the UserProxyAgent turns your keyboard into an agent, and nothing ships until you type APPROVE.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 SelectorGroupChat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Lab 8's capstone team — routing is driven by the description fields.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team = SelectorGroupChat(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[planner,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ticket_specialist,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policy_specialist],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model_client=client,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termination_condition=(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TextMentionTermination('TERMINATE')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| MaxMessageTermination(15)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allow_repeated_speaker=False,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specialists. Each one's description is its job advert.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model_client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selector LLM that reads descriptions and picks the next speaker.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termination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Keyword OR message cap — bounded by construction.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allow_repeated_speaker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Forces variety so one agent cannot monopolise the chat.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 · FEASIBILITY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 Team Run Costs — Messages per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Indicative counts from the course labs: every extra agent multiplies calls, cost and latency — a multi-agent design must earn its keep, which is exactly what a feasibility assessment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LO3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Assessing Feasibility of a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Task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job really need multiple specialists, or would one instruction do?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Cost &amp; latency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Messages × model price per run — measured from TaskResult, not guessed.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Failure modes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routing, endless loops, hallucinated tool arguments — and their guardrails.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oversight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Where must a person approve? UserProxyAgent puts the gate in the flow.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Readiness checks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present, index healthy, retrieval accurate, secrets out of Git (Lab 8).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 / no-go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verdict is evidence-based: checks pass, costs acceptable, risks gated.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AutoGen Studio — Teams Without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What it 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local web UI for building and testing agent teams visually.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Launch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uv run --with autogenstudio autogenstudio ui — then open the browser.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Round-trip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Prototype in Studio, export the JSON config, load it from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When to use 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Demos, quick experiments and non-developer stakeholders.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Implementing a Multi-Agent AI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a ReAct Agent with Human-in-the-Loop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Orchestrate a Round-Robin Multi-Agent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Route Specialists with SelectorGroupChat (Capstone)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 ReAct Agent with Human-in-the-Loop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expose the ReAct loop, then gate an agent behind human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Hand-roll the Thought → Action → Observation loop so the ReAct pattern is visible, then build an AutoGen team where a UserProxyAgent makes YOU the approval gate before any draft is accepted.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from-scratch ReAct agent over the ticket tools, and an approval workflow that stops only on APPROVE.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ReAct pattern, UserProxyAgent, input_func, TextMentionTermination, RoundRobinGroupChat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ReAct agent reports the 15-minute P1 SLA target after two tool actions, and the approval team loops on your feedback and stops only when you type APPROVE.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from-scratch ReAct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…/react_scratch.py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Identify in the transcript where the model…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 the human-in-the-loop team — you are…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…/human_in_loop.py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 one revision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Note the safety net: TextMentionTermination…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expose the ReAct loop, then gate an agent behind human approval.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Implement a ReAct Agent with Human-in-the-Loop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from-scratch ReAct loop and follow each Thought / Action / Observation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lab-06-react-human-in-loop/react_scratch.py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in the transcript where the model plans vs where YOUR code acts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human-in-the-loop team — you are the reviewer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lab-06-react-human-in-loop/human_in_loop.py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Request one revision ('make it more apologetic'), then approve with APPROVE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Implement a ReAct Agent with Human-in-the-Loop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safety net: TextMentionTermination('APPROVE') | MaxMessageTermination(12)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 ReAct Agent with Human-in-the-Loop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ReAct agent reports the 15-minute P1 SLA target after two tool actions, and the approval team loops on your feedback and stops only when you type APPROVE.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OPENAI_API_KEY into labs/.env — no quotes, no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Orchestrate a Round-Robin Multi-Agent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compare manual orchestration with a RoundRobinGroupChat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Hand-roll a two-model writer/critic conversation to feel the orchestration cost, then run the same workflow as a RoundRobinGroupChat with proper termination conditions and a readable TaskResult.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manual two-model conversation script, and a writer/reviewer team that stops on FINALISED.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RoundRobinGroupChat, TextMentionTermination, MaxMessageTermination, TaskResult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team alternates writer → reviewer and stops on FINALISED (not the message cap), and you can read the stop reason straight from the TaskResult.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manual two-model conversation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…/two_model_conversation.p…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writer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 the AutoGen round-robin team on the VPN…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…/team_round_robin.py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TaskResult: speaker sequence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Remove MaxMessageTermination in your head…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compare manual orchestration with a RoundRobinGroupChat team.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Orchestrate a Round-Robin Multi-Agent Team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manual two-model conversation and count the plumbing it needs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lab-07-round-robin-team/two_model_conversation.py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the writer and reviewer system messages — the reviewer holds the checklist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AutoGen round-robin team on the VPN announcement task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lab-07-round-robin-team/team_round_robin.py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the TaskResult: speaker sequence, message count and stop_reason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Orchestrate a Round-Robin Multi-Agent Team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Remove MaxMessageTermination in your head: what could an unbounded team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Orchestrate a Round-Robin Multi-Agent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team alternates writer → reviewer and stops on FINALISED (not the message cap), and you can read the stop reason straight from the TaskResult.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OPENAI_API_KEY into labs/.env — no quotes, no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Specialists with SelectorGroupChat (Capstone)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build the OpsDesk capstone and assess its feasibility with checks.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Assemble the capstone: a planner plus ticket and policy specialists routed dynamically by SelectorGroupChat, combining tools and RAG — then run the no-LLM readiness checks that decide whether the workflow is fit to 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complete OpsDesk multi-agent workflow, and a readiness report covering data, index health, retrieval accuracy and secrets hygiene.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SelectorGroupChat, agent descriptions, FunctionTool + RAG, readiness checks, AutoGen Studio (optional)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team run ends on TERMINATE with a customer-ready reply citing POL-001, and run_checks.py prints 0 failed — your evidence-based feasibility verdict.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 the three agent description fields…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capstone selector team on the…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…/selector_team.py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 the route: planner →…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feasibility/readiness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…/run_checks.py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 any FAIL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build the OpsDesk capstone and assess its feasibility with checks.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 Specialists with SelectorGroupChat (Capstone)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the three agent description fields — the selector routes by reading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capstone selector team on the TT-1002 VPN 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lab-08-selector-workflow-capstone/selector_team.py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Trace the route: planner → ticket_specialist → policy_specialist → final reply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feasibility/readiness checks (no LLM needed)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lab-08-selector-workflow-capstone/run_checks.py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 Specialists with SelectorGroupChat (Capstone)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Fix any FAIL (e.g. rebuild the Lab 4 index) and re-run until clean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Optional: rebuild the team visually in AutoGen Studio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--with autogenstudio autogenstudio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Specialists with SelectorGroupChat (Capstone)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team run ends on TERMINATE with a customer-ready reply citing POL-001, and run_checks.py prints 0 failed — your evidence-based feasibility verdict.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OPENAI_API_KEY into labs/.env — no quotes, no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Implementing a Multi-Agent AI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expose the ReAct loop, then gate an agent behind human approval.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compare manual orchestration with a RoundRobinGroupChat team.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build the OpsDesk capstone and assess its feasibility with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Evaluated LLM AI models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 models directly and as agents, compared cloud vs local on quality, latency, cost and privacy, and identified strengths and limitations with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Analyzed RAG algorithms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 embedding index, tuned chunking and top-k, grounded an agent with citations and refusal, and measured hit@k and latency to improve efficiency.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Assessed multi-agent feasibility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ReAct, human-in-the-loop, round-robin and selector workflows, bounded them with termination conditions, and judged feasibility with readiness checks.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AutoGen documentation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https://microsoft.github.io/autogen/ — the reference for AgentChat, Extensions and 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Agents for Beginners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Microsoft's free 10-lesson course on agent design patterns — github.com/microsoft/ai-agents-for-beginners.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each lab from a blank file until the agent patterns are automatic.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Extend the capstone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a new specialist, a guardrail and a Studio prototype to your OpsDesk workflow.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Practice exams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https://exams.tertiaryinfotech.com/practice-exams — free practice exams from Tertiary Infotech.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 your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your agents to GitHub and gather feedback from real users.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Building Agentic AI Workflows to Automate Business Processes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Agentic AI Automation with n8n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Create Copilot Chatbots and Agents with Microsoft Copilot Studio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Develop Multi AI Agent Applications with Gemini Agent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LLM Application Development with LangChain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or after the class, you can contact us below.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LMS / 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short-answer knowledge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hands-on AutoGen build tasks.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Assessment digital attendance before you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Upload your completed answers at https://lms-tms.tertiaryinfotech.com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QR code on the…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completed…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Assessment…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missing the digital attendance or the TRAQOM survey can invalidate your claim.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&amp; TRAQOM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Cert &amp; TRAQOM survey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TRAQOM survey on the LMS to receive your certificate.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evaluate multi-agent AI applications with AutoGen.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Multi-Agent AI Applications with AutoGen  ·  TGS-2024045806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pic>
        <p:nvPicPr>
          <p:cNvPr id="37" name="Picture 36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345" y="1723644"/>
            <a:ext cx="8225005" cy="40919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